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9" r:id="rId54"/>
    <p:sldId id="310" r:id="rId55"/>
    <p:sldId id="311" r:id="rId56"/>
    <p:sldId id="312" r:id="rId57"/>
    <p:sldId id="313" r:id="rId58"/>
    <p:sldId id="314" r:id="rId59"/>
    <p:sldId id="315" r:id="rId60"/>
    <p:sldId id="316" r:id="rId61"/>
    <p:sldId id="317" r:id="rId62"/>
    <p:sldId id="318" r:id="rId63"/>
    <p:sldId id="319" r:id="rId64"/>
    <p:sldId id="321" r:id="rId65"/>
    <p:sldId id="322" r:id="rId66"/>
    <p:sldId id="323" r:id="rId67"/>
    <p:sldId id="324" r:id="rId68"/>
    <p:sldId id="325" r:id="rId69"/>
    <p:sldId id="326" r:id="rId70"/>
    <p:sldId id="327" r:id="rId71"/>
    <p:sldId id="328" r:id="rId72"/>
    <p:sldId id="329" r:id="rId73"/>
    <p:sldId id="330" r:id="rId74"/>
    <p:sldId id="331" r:id="rId75"/>
  </p:sldIdLst>
  <p:sldSz cx="9118600" cy="68326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16">
          <p15:clr>
            <a:srgbClr val="A4A3A4"/>
          </p15:clr>
        </p15:guide>
        <p15:guide id="2" pos="23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p:cViewPr varScale="1">
        <p:scale>
          <a:sx n="121" d="100"/>
          <a:sy n="121" d="100"/>
        </p:scale>
        <p:origin x="1912" y="184"/>
      </p:cViewPr>
      <p:guideLst>
        <p:guide orient="horz" pos="3016"/>
        <p:guide pos="232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ink/ink1.xml><?xml version="1.0" encoding="utf-8"?>
<inkml:ink xmlns:inkml="http://www.w3.org/2003/InkML">
  <inkml:definitions>
    <inkml:context xml:id="ctx0">
      <inkml:inkSource xml:id="inkSrc0">
        <inkml:traceFormat>
          <inkml:channel name="X" type="integer" max="4095" units="cm"/>
          <inkml:channel name="Y" type="integer" max="4095" units="cm"/>
        </inkml:traceFormat>
        <inkml:channelProperties>
          <inkml:channelProperty channel="X" name="resolution" value="119.94727" units="1/cm"/>
          <inkml:channelProperty channel="Y" name="resolution" value="212.17616" units="1/cm"/>
        </inkml:channelProperties>
      </inkml:inkSource>
      <inkml:timestamp xml:id="ts0" timeString="2018-09-26T20:16:20.202"/>
    </inkml:context>
    <inkml:brush xml:id="br0">
      <inkml:brushProperty name="width" value="0.05292" units="cm"/>
      <inkml:brushProperty name="height" value="0.05292" units="cm"/>
      <inkml:brushProperty name="color" value="#FF0000"/>
    </inkml:brush>
  </inkml:definitions>
  <inkml:trace contextRef="#ctx0" brushRef="#br0">9562 3564,'0'0,"0"0,0 0,0 0,0 0,0 0,0 0,0 0,0 0,0 0,0 0,0 0,0 0,0 0,0 0,0 0,-74-42,17 52,-9-20,9 29,-34 0,34-1,-9-13,1-5,40 14,-24-5,0-9,-1-9,26-1,15 6,-7-1,16 5,0 0,16 5,-16-5,0 0,0 0,0 0</inkml:trace>
  <inkml:trace contextRef="#ctx0" brushRef="#br0" timeOffset="991.19">9414 3736,'0'0,"0"0,0 0,0 0,74 41,-25 1,1 18,-9-9,8-4,-16-6,-33-17,24 54,1 6,0-33,-50-14,25 9,0-9,-33 0,33 19,-41-33,17-4,-1 18,-8-14,8 14,9-14,-9-4,25-15,0-4,0 0,0 0,0 0,0 0,0 0,0 0,0 0,17-14,-17-13,8-1,8-5,-7-4,15 14,-7 0,-9-14,-8-14,0 9,0-4,0-28,16 23,-32 14,-9-33,25 70,0 0,0 0,0 0</inkml:trace>
  <inkml:trace contextRef="#ctx0" brushRef="#br0" timeOffset="2510.92">6082 3740,'0'0,"0"0,0 0,0 0,0 0,0 0,0 0,0 0,0 0,0 0,0 0,0 0,0 28,0 5,0 8,0-4,17 0,-17-4,8-5,-8 9,0 4,16 1,-7 4,-9 5,16-9,-8-5,33 130,-41-167,0 0,0 0,0 0</inkml:trace>
  <inkml:trace contextRef="#ctx0" brushRef="#br0" timeOffset="2906.16">5705 3532,'0'0,"0"0,0 0,0 0,0 0,0 0,0 0,0 0,0 0,0 0,0 0</inkml:trace>
  <inkml:trace contextRef="#ctx0" brushRef="#br0" timeOffset="4567.25">9841 0,'0'0,"0"0,0 0,0 0,0 0,0 0,0 0,0 0,0 0,0 134,0-8,8-38,-8-28,0 5,0 0,17 0,-17-1,0-3,8 22,-8-4,8-28,-8-5,0 24,0-10,17 19,-1-14,-8-24,-8 15,8-10,9 10,-17-24,8-18,-8 0,0-14,0 0,0 0,0 0</inkml:trace>
  <inkml:trace contextRef="#ctx0" brushRef="#br0" timeOffset="5201.96">9587 663,'0'0,"0"0,0 0,74 18,-50-13,42 37,16-42,8 9,-8 0,58-9,-42 0,-24 0,0 5,0 9,0-14,-25-14,-24 9,73 5,-40 0,-1-14,-32 28,-1-14,-7 19,-9-5,-8-10,0-4,0 0,0 10,0-10,0 0,0 0,0 0,0 0,0 0,41 0,-8 0,8 0,-8-14,-9 0,50-33,-74 47,0 0,0 0,0 0</inkml:trace>
  <inkml:trace contextRef="#ctx0" brushRef="#br0" timeOffset="5833.59">10432 746,'0'0,"0"0,0 0,0 0,0 0,33-116,-9 38,18 13,7 23,0 5,33-14,-8-14,-17 19,-32-1,8-4,-9 33,1 4,-25 5,41-15,-8 11,-8-1,-25 9,0-9,0 14,0 0,0 0,0 0</inkml:trace>
  <inkml:trace contextRef="#ctx0" brushRef="#br0" timeOffset="6668.87">12755 1390,'0'0,"0"0,-41-74,0 23,24 47,9-10,-17 14,9 0,-9 0,1-10,24 6,-50-1,-7-18,-42 14,-48 9,40 0,33-14,17 14,32 0,9 0,-9-19,25 5,0 5,0 9,0-4,0 4,0 0,0 0,0 0</inkml:trace>
  <inkml:trace contextRef="#ctx0" brushRef="#br0" timeOffset="6927.88">12804 607,'0'0,"0"0,0 0,0 0,-90-4,-17 22,0 10,9-10,7 19,-48 5,-9-23,50 60,-1-1,99-78,0 0,0 0,0 0</inkml:trace>
  <inkml:trace contextRef="#ctx0" brushRef="#br0" timeOffset="9783.83">13239 783,'0'0,"0"0,0 0,0 0,0 0,0 0,0 0,0 0,0 0,49-4,25-29,0 15,32-6,26 1,-34-18,-24 31,-8-17,-33 31,-9 5,1-18,-9 9,-7 0,-9 0,0 0,0 23,0 10,0-10,0 37,0-4,0 9,-9 9,9 9,-16 10,8-10,8 10,-17 4,17 10,17-5,-9-5,41-41,0-33,-16 14,16-14,9-23,-9 5,-8-28,-16 9,32-28,9-4,16-5,-8 5,-50-5,-7 9,-17 42,0 0,0 0,0 0</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19-09-26T09:56:51.524"/>
    </inkml:context>
    <inkml:brush xml:id="br0">
      <inkml:brushProperty name="width" value="0.05292" units="cm"/>
      <inkml:brushProperty name="height" value="0.05292" units="cm"/>
      <inkml:brushProperty name="color" value="#FF0000"/>
    </inkml:brush>
  </inkml:definitions>
  <inkml:trace contextRef="#ctx0" brushRef="#br0">13616 6055,'0'-25,"-74"0,24 1,1-1,-25-25,49 26,-24 24,-1-25,26 0,-26 25,-98-24,123-1,-24 25,-50-25,-74-24,-25 24,-49-24,49-1,1 25,-26 1,100-1,49 0,49 25,0 0,1 0,-1 0,-25 0,1 0,0 0,-26 50,1-1,0-24,25 0,-100 49,100-50,-74 51,73-26,-24 0,74-24,-49 0,24 0,25-1,0 1,0 0,-25 24,25 0,0-24,0 25,0 24,0-25,0 1,0 48,0-48,0-1,99 100,-74-75,24-25,75 50,-26 0,-23 24,23-73,26 24,-50 0,74 25,-49 0,-49-50,49 1,74-1,49 1,-24-1,49 0,-25 1,25-1,0-24,1-25,-26 0,0 0,-24 0,-25 0,-25 0,-74 0,25 0,-74 0,24 0,26-25,-26 1,0-1,25 25,-24 0,-25-25,49 0,-50 25,1-24,25-1,-1-24,-24 24,-25-49,0 0,0 24,0-24,0 0,-25 0,-49 24,24-24,-24 25,25-1,-75-73,50 49,0 49,0-25,-50 1,-24-25,25 49,24-24,0-1,74 26,-24 24,-1-25,26 25,-1-25,-25 25</inkml:trace>
  <inkml:trace contextRef="#ctx0" brushRef="#br0" timeOffset="4815.6">8204 7710,'-25'0,"-24"0,24-24,25-1,-49 25,-1 0,-98 0,-124 0,-49 0,0 0,-50 74,25-24,99-26,0 26,74 24,0 0,50-25,98-24,0 25,-49 24,-25 74,50-49,24-75,-49 51,24-26,1-24,24 24,-49-24,74 0,-49-1,24 26,25-26,-25 26,1 49,-1-50,25 25,0 25,0-25,0 0,49 99,75 50,74 24,49-49,49-25,25-74,100 24,246 50,99-99,74 0,50-24,-100-50,-48 0,-174-50,-172 1,-149-25,-74 24,-124 50,50-24,-74-26,98 1,-98-1,0-24,24 25,0-25,-24 49,0-49,-25 0,0 0,0-1,0 26,0-25,0-25,0-25,-25 50,-24-74,-50 0,0-1,-25 1,1 0,-50 0,0-25,0 49,25 1,-1 24,26 0,24 25,25 49,49 0,-24 1,-1-26,26 50,-26 0,-73 0,-50 0,-50 0,-24 0,0 0,-25 50,-24-26,49 1,74 0,49-25,99 0,1 0</inkml:trace>
  <inkml:trace contextRef="#ctx0" brushRef="#br0" timeOffset="5807.49">18114 8353,'0'0,"-25"0,-49 0,49 0,-24 0,-1 0,25 0</inkml:trace>
  <inkml:trace contextRef="#ctx0" brushRef="#br0" timeOffset="7119.13">19423 7883,'-24'0,"-1"0,-49 0,0 0,-1 0,-73 0,-99 0,-99 0,0 0,-25 0,-24 0,0 0,-25 0,123 0,1 0,73 0,25 0,100 0,-1 0,0 0,49 0,-24 0,50 0,-1 0,-25 0,1 25,24-25,1 0,-26 25,25 0,1-1,-1 26,0-50,1 123,-50-73,24 98,-49 0,50-24,-50-1,50-73,-1 73,1-73,24 98,-24-24,49 24,0-25,0-48,0 23,74 26,25 24,24 1,75-26,-1 25,51-49,98 25,49-50,-49-25,123-24,125-25,23 0,-147 0,-1 0,-24 0,-74-74,-99 25,-75-26,26 1,-26-49,51-1,-1 1,0-26,-49 26,24-26,-24 26,-1 24,-24-74,0 49,-24 26,-26-1,-73 74,-50-49,24 24,1 1,-25 0,0 24,0 0,0-24,0 24,0-24,-25 24,1 0,-1 25,0-25,25 1,-25-1,1 25,-1 0,0-25</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39.7093" units="1/cm"/>
          <inkml:channelProperty channel="Y" name="resolution" value="39.79275" units="1/cm"/>
        </inkml:channelProperties>
      </inkml:inkSource>
      <inkml:timestamp xml:id="ts0" timeString="2019-09-26T09:58:21.515"/>
    </inkml:context>
    <inkml:brush xml:id="br0">
      <inkml:brushProperty name="width" value="0.05292" units="cm"/>
      <inkml:brushProperty name="height" value="0.05292" units="cm"/>
      <inkml:brushProperty name="color" value="#FF0000"/>
    </inkml:brush>
  </inkml:definitions>
  <inkml:trace contextRef="#ctx0" brushRef="#br0">10749 7018,'50'0,"-25"0,24 0,25 0,25 0,0 0,0 0,49-24,-99 24,50 0,99 0,24 0,75 0,49 0,-50 0,-24 0,0 0,0 0,-74 0,-50 0,0 0,-24 0,-25 0,49 0,25 0,-50 0,1 0,24 0,-49 0,0 0,-25 0,0-25,-24 25,24 0,0-25,49 25,1-24,24-1,25 25,-49-25,24 25,-24 0,-1 0,25 0,25 0,-24 0,48 0,50 0,1 0,122 0,26 0,271 0,74 0,75 0,-26 0,150 0,23 25,-24 24,25 1,0 24,49-25,-123 1,-25-50,-594 0</inkml:trace>
  <inkml:trace contextRef="#ctx0" brushRef="#br0" timeOffset="4800.61">6400 9440,'74'0,"1"0,-1 0,0 0,0-24,-49 24,24 0,0 0,1 0,49 0,0 0,49-25,-49 25,-50 0,50 0,49 0,-24-25,24 0,0 1,-74 24,-24 0,-25 0,24 0,-24 0,-1 0,1 0,74 0,-50 0,26 0,-51 0,26 0,-26 0,1 0,49 0,-49 0,74 0,-25 0,25 0,-25 0,25 0,-74 0,-1 0,26 0,-1 0,0 0,1 0,24 0,-25 0,26 0,-26 0,-24 0,-1 0,51 0,23 24,-48-24,-1 0,1 0,-26 0,75 0,-49 0,24 0,49 0,26 0,-51 0,125 0,49 0,-25 0,25 0,-50 0,25 0,-24 25,-1-25,0 25,-24-25,-74 0,49 0,-25 0,25 0,25 0,24 0,50 0,0 0,24 25,25-1,-24 1,0-25,-26 25,-48-25,-1 0,25 0,-123 0,-25 0,0 0,24 0,-49 0,0 0,-24 0,-1 0,25 0,25 0,-25 0,0 0,25 0,25 0,24 0,0 0,25 0,25 0,0 0,74 0,-50 0,-24 0,24 0,-49 0,0 0,-49 0,-100 0,1 0,74 0,-74 0,24 0,25 0,0 0,75 0,-100 0,50 0,24 0,50 0,-74 0,25 0,-25 0,-50 0,-24 0,-1 0,1 0,0 0,0 0,-1 0,1 0,0 0,-1 0,1 0,25 0,48 0,1 0,0 0,-74 0,0 0,-1 0,1 0,24 0,1 0,73 0,-73 0,-1 0,1 0,-26 0,1 0,0 0,24 0,1 0,-26 0,1 0,24 0,-24 0,0 0,0 0,24 24,0-24,-24 0,49 0,-49 0,0 0,-1 0,1 0,25 0,-26 0,1 0,0 0,24 0,-24 0,24 0,-24 0,24 0,1 0,24 0,-25 0,50 0,25 0,-25 0,-1 0,-73 0,0 0</inkml:trace>
  <inkml:trace contextRef="#ctx0" brushRef="#br0" timeOffset="9992.97">4374 12208,'25'0,"-25"-25,24 25,1 0,0 0,24-24,25-26,0 50,-49 0,49-24,-24 24,49-25,-1 0,-48 25,-1 0,50-25,-25 25,50 0,73 0,26-24,-100-1,26 0,-125 25,1-24,0 24,24 0,1 0,-1 0,1-25,-26 25,1-25,0 25,-1 0,26 0,-1 0,-24 0,49-25,0 25,25-24,-74 24,74-25,24 0,-49 25,0 0,1-24,-51 24,1 0,49 0,-49 0,0 0,-1 0,26 0,-26 0,1 0,25 0,24 0,-50 0,1 0,49 0,0 0,75 0,-75 24,25 26,24-50,-49 24,0-24,50 0,-50 25,74 0,-73-25,23 25,-48-1,-1-24,1 0,-1 0,25 25,-49-25,24 0,25 0,-24 0,24 0,0 0,-24 0,48 0,-48 0,-1 25,25-25,1 0,23 24,-48-24,73 0,-48 0,23 0,-23 0,23 0,-24 0,-24 0,24 0,25 0,0 0,-25 0,-25 0,25 0,25 25,0-25,49 0,-49 0,25 25,-75-25,50 0,-74 0,-1 25,26-25,-1 0,1 0,49 24,-50-24,25 0,25 0,49 25,-74-25,-24 0,-25 0,-1 0,26 0,-26 0,26 0,-25 0,49 0,-25 0,25 0,-24 0,24 0,-49 0,24 0,0 0,1 0,-26 0,1 0,25 0,-1 0,25 0,25 0,-50 0,50 0,-74 0,24 0,26 0,-51 0,1 0,49 0,-49 0,24 0,75 0,-50 0,0 0,50 0,24 0,0 0,0 0,-24 0,-50 0,0 0,0 0,25 0,0 0,0 0,0 0,49 0,-24 0,24 25,-49-25,-25 0,-49 0,73 0,-48 0,49 0,-50 0,50 0,-25 0,50 0,-1 0,1 24,24-24,-49 0,0 0,0 0,-25 0,-50 0,26 0,-1 0,-24 0,24 0,26 0,-51 0,1 0,0 0,-1 0,1 0,0 0,0 0,24 0,-24 0,-1 0,1 0,0 0,0 0,73 0,-23 0,23 0,-48 0,49 0,74 0,0 0,0 0,-25 0,25 0,-50 0,-48 0,73 0,-25 0,75 0,24 0,26 0,48 0,-24 0,0 0,0 0,24 0,-49 0,25 0,25 25,24 0,25 0,-25-25,0 0,1 0,24 0,-25 0,-74 0,25 0,-75 0,-172 0,0 0,0 0,73 0,-48 0,49 0,148 0,74 0,25 0,-49 0,-1 0,-24 0,-25 0,0 0,-99 0,-98 0,-25 0,24 0,-24 0</inkml:trace>
  <inkml:trace contextRef="#ctx0" brushRef="#br0" timeOffset="11671.98">4349 16459,'0'0,"0"-25,25 0,0 25,73-49,26-1,-75 50,75-24,49 24,0 0,-49 0,73 0,-24 0,25 0,0 0,-1 0,26 0,48 0,51 0,48 0,174 0,49 0,149 0,-1 0,-123 0,-25 0,-50 0,75 0,124 0,122 0,75 0,75 0,48 0,1 0,-50 0,0 24,-395-24,-148 0,-100 0,-73 0,-100 0,26 0,-1 0,25 0,0 0,25 25,0 0,-74-25,-25 25,-25-25,25 0,-74 0,-74 0,-1 0,26 0,24 0,-25 0,100 0,48 0,-24 0,-49 0,24 24</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52450" y="2974705"/>
            <a:ext cx="6261100" cy="2052590"/>
          </a:xfrm>
        </p:spPr>
        <p:txBody>
          <a:bodyPr/>
          <a:lstStyle/>
          <a:p>
            <a:r>
              <a:rPr lang="en-US"/>
              <a:t>Click to edit Master title style</a:t>
            </a:r>
            <a:endParaRPr lang="en-CA"/>
          </a:p>
        </p:txBody>
      </p:sp>
      <p:sp>
        <p:nvSpPr>
          <p:cNvPr id="3" name="Subtitle 2"/>
          <p:cNvSpPr>
            <a:spLocks noGrp="1"/>
          </p:cNvSpPr>
          <p:nvPr>
            <p:ph type="subTitle" idx="1"/>
          </p:nvPr>
        </p:nvSpPr>
        <p:spPr>
          <a:xfrm>
            <a:off x="1104900" y="5426288"/>
            <a:ext cx="5156200" cy="244714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CA"/>
          </a:p>
        </p:txBody>
      </p:sp>
      <p:sp>
        <p:nvSpPr>
          <p:cNvPr id="4" name="Date Placeholder 3"/>
          <p:cNvSpPr>
            <a:spLocks noGrp="1"/>
          </p:cNvSpPr>
          <p:nvPr>
            <p:ph type="dt" sz="half" idx="10"/>
          </p:nvPr>
        </p:nvSpPr>
        <p:spPr/>
        <p:txBody>
          <a:bodyPr/>
          <a:lstStyle/>
          <a:p>
            <a:fld id="{5988523B-E035-4CAE-A96A-58211FC229D1}" type="datetimeFigureOut">
              <a:rPr lang="en-US" smtClean="0"/>
              <a:pPr/>
              <a:t>11/25/21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C7DFF54-6BA4-4515-87CA-28703F844993}" type="slidenum">
              <a:rPr lang="en-CA" smtClean="0"/>
              <a:pPr/>
              <a:t>‹#›</a:t>
            </a:fld>
            <a:endParaRPr lang="en-C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5988523B-E035-4CAE-A96A-58211FC229D1}" type="datetimeFigureOut">
              <a:rPr lang="en-US" smtClean="0"/>
              <a:pPr/>
              <a:t>11/25/21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C7DFF54-6BA4-4515-87CA-28703F844993}" type="slidenum">
              <a:rPr lang="en-CA" smtClean="0"/>
              <a:pPr/>
              <a:t>‹#›</a:t>
            </a:fld>
            <a:endParaRPr lang="en-C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81863" y="6153339"/>
            <a:ext cx="6261100" cy="1901860"/>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581863" y="4058633"/>
            <a:ext cx="6261100" cy="209470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988523B-E035-4CAE-A96A-58211FC229D1}" type="datetimeFigureOut">
              <a:rPr lang="en-US" smtClean="0"/>
              <a:pPr/>
              <a:t>11/25/21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C7DFF54-6BA4-4515-87CA-28703F844993}" type="slidenum">
              <a:rPr lang="en-CA" smtClean="0"/>
              <a:pPr/>
              <a:t>‹#›</a:t>
            </a:fld>
            <a:endParaRPr lang="en-C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368300" y="2234355"/>
            <a:ext cx="3253317" cy="631958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3744383" y="2234355"/>
            <a:ext cx="3253317" cy="631958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p:cNvSpPr>
            <a:spLocks noGrp="1"/>
          </p:cNvSpPr>
          <p:nvPr>
            <p:ph type="dt" sz="half" idx="10"/>
          </p:nvPr>
        </p:nvSpPr>
        <p:spPr/>
        <p:txBody>
          <a:bodyPr/>
          <a:lstStyle/>
          <a:p>
            <a:fld id="{5988523B-E035-4CAE-A96A-58211FC229D1}" type="datetimeFigureOut">
              <a:rPr lang="en-US" smtClean="0"/>
              <a:pPr/>
              <a:t>11/25/21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2C7DFF54-6BA4-4515-87CA-28703F844993}" type="slidenum">
              <a:rPr lang="en-CA" smtClean="0"/>
              <a:pPr/>
              <a:t>‹#›</a:t>
            </a:fld>
            <a:endParaRPr lang="en-C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368300" y="2143474"/>
            <a:ext cx="3254596" cy="89329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300" y="3036771"/>
            <a:ext cx="3254596" cy="551716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3741827" y="2143474"/>
            <a:ext cx="3255874" cy="89329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741827" y="3036771"/>
            <a:ext cx="3255874" cy="5517169"/>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p:cNvSpPr>
            <a:spLocks noGrp="1"/>
          </p:cNvSpPr>
          <p:nvPr>
            <p:ph type="dt" sz="half" idx="10"/>
          </p:nvPr>
        </p:nvSpPr>
        <p:spPr/>
        <p:txBody>
          <a:bodyPr/>
          <a:lstStyle/>
          <a:p>
            <a:fld id="{5988523B-E035-4CAE-A96A-58211FC229D1}" type="datetimeFigureOut">
              <a:rPr lang="en-US" smtClean="0"/>
              <a:pPr/>
              <a:t>11/25/21</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2C7DFF54-6BA4-4515-87CA-28703F844993}" type="slidenum">
              <a:rPr lang="en-CA" smtClean="0"/>
              <a:pPr/>
              <a:t>‹#›</a:t>
            </a:fld>
            <a:endParaRPr lang="en-C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2"/>
          <p:cNvSpPr>
            <a:spLocks noGrp="1"/>
          </p:cNvSpPr>
          <p:nvPr>
            <p:ph type="dt" sz="half" idx="10"/>
          </p:nvPr>
        </p:nvSpPr>
        <p:spPr/>
        <p:txBody>
          <a:bodyPr/>
          <a:lstStyle/>
          <a:p>
            <a:fld id="{5988523B-E035-4CAE-A96A-58211FC229D1}" type="datetimeFigureOut">
              <a:rPr lang="en-US" smtClean="0"/>
              <a:pPr/>
              <a:t>11/25/21</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2C7DFF54-6BA4-4515-87CA-28703F844993}" type="slidenum">
              <a:rPr lang="en-CA" smtClean="0"/>
              <a:pPr/>
              <a:t>‹#›</a:t>
            </a:fld>
            <a:endParaRPr lang="en-C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88523B-E035-4CAE-A96A-58211FC229D1}" type="datetimeFigureOut">
              <a:rPr lang="en-US" smtClean="0"/>
              <a:pPr/>
              <a:t>11/25/21</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2C7DFF54-6BA4-4515-87CA-28703F844993}" type="slidenum">
              <a:rPr lang="en-CA" smtClean="0"/>
              <a:pPr/>
              <a:t>‹#›</a:t>
            </a:fld>
            <a:endParaRPr lang="en-C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68301" y="381259"/>
            <a:ext cx="2423363" cy="1622566"/>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2879901" y="381259"/>
            <a:ext cx="4117799" cy="81726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368301" y="2003825"/>
            <a:ext cx="2423363" cy="655011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88523B-E035-4CAE-A96A-58211FC229D1}" type="datetimeFigureOut">
              <a:rPr lang="en-US" smtClean="0"/>
              <a:pPr/>
              <a:t>11/25/21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2C7DFF54-6BA4-4515-87CA-28703F844993}" type="slidenum">
              <a:rPr lang="en-CA" smtClean="0"/>
              <a:pPr/>
              <a:t>‹#›</a:t>
            </a:fld>
            <a:endParaRPr lang="en-C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3788" y="6703060"/>
            <a:ext cx="4419600" cy="791334"/>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443788" y="855615"/>
            <a:ext cx="4419600" cy="574548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1443788" y="7494394"/>
            <a:ext cx="4419600" cy="112382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988523B-E035-4CAE-A96A-58211FC229D1}" type="datetimeFigureOut">
              <a:rPr lang="en-US" smtClean="0"/>
              <a:pPr/>
              <a:t>11/25/21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2C7DFF54-6BA4-4515-87CA-28703F844993}" type="slidenum">
              <a:rPr lang="en-CA" smtClean="0"/>
              <a:pPr/>
              <a:t>‹#›</a:t>
            </a:fld>
            <a:endParaRPr lang="en-C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5988523B-E035-4CAE-A96A-58211FC229D1}" type="datetimeFigureOut">
              <a:rPr lang="en-US" smtClean="0"/>
              <a:pPr/>
              <a:t>11/25/21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C7DFF54-6BA4-4515-87CA-28703F844993}" type="slidenum">
              <a:rPr lang="en-CA" smtClean="0"/>
              <a:pPr/>
              <a:t>‹#›</a:t>
            </a:fld>
            <a:endParaRPr lang="en-C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340350" y="536423"/>
            <a:ext cx="1657350" cy="11406728"/>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368300" y="536423"/>
            <a:ext cx="4849283" cy="114067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p>
            <a:fld id="{5988523B-E035-4CAE-A96A-58211FC229D1}" type="datetimeFigureOut">
              <a:rPr lang="en-US" smtClean="0"/>
              <a:pPr/>
              <a:t>11/25/21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C7DFF54-6BA4-4515-87CA-28703F844993}" type="slidenum">
              <a:rPr lang="en-CA" smtClean="0"/>
              <a:pPr/>
              <a:t>‹#›</a:t>
            </a:fld>
            <a:endParaRPr lang="en-C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8300" y="383477"/>
            <a:ext cx="6629400" cy="1595967"/>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p:cNvSpPr>
            <a:spLocks noGrp="1"/>
          </p:cNvSpPr>
          <p:nvPr>
            <p:ph type="body" idx="1"/>
          </p:nvPr>
        </p:nvSpPr>
        <p:spPr>
          <a:xfrm>
            <a:off x="368300" y="2234355"/>
            <a:ext cx="6629400" cy="63195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2"/>
          </p:nvPr>
        </p:nvSpPr>
        <p:spPr>
          <a:xfrm>
            <a:off x="368300" y="8875350"/>
            <a:ext cx="1718733" cy="509823"/>
          </a:xfrm>
          <a:prstGeom prst="rect">
            <a:avLst/>
          </a:prstGeom>
        </p:spPr>
        <p:txBody>
          <a:bodyPr vert="horz" lIns="91440" tIns="45720" rIns="91440" bIns="45720" rtlCol="0" anchor="ctr"/>
          <a:lstStyle>
            <a:lvl1pPr algn="l">
              <a:defRPr sz="1200">
                <a:solidFill>
                  <a:schemeClr val="tx1">
                    <a:tint val="75000"/>
                  </a:schemeClr>
                </a:solidFill>
              </a:defRPr>
            </a:lvl1pPr>
          </a:lstStyle>
          <a:p>
            <a:fld id="{5988523B-E035-4CAE-A96A-58211FC229D1}" type="datetimeFigureOut">
              <a:rPr lang="en-US" smtClean="0"/>
              <a:pPr/>
              <a:t>11/25/21</a:t>
            </a:fld>
            <a:endParaRPr lang="en-CA"/>
          </a:p>
        </p:txBody>
      </p:sp>
      <p:sp>
        <p:nvSpPr>
          <p:cNvPr id="5" name="Footer Placeholder 4"/>
          <p:cNvSpPr>
            <a:spLocks noGrp="1"/>
          </p:cNvSpPr>
          <p:nvPr>
            <p:ph type="ftr" sz="quarter" idx="3"/>
          </p:nvPr>
        </p:nvSpPr>
        <p:spPr>
          <a:xfrm>
            <a:off x="2516717" y="8875350"/>
            <a:ext cx="2332567" cy="50982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5278967" y="8875350"/>
            <a:ext cx="1718733" cy="509823"/>
          </a:xfrm>
          <a:prstGeom prst="rect">
            <a:avLst/>
          </a:prstGeom>
        </p:spPr>
        <p:txBody>
          <a:bodyPr vert="horz" lIns="91440" tIns="45720" rIns="91440" bIns="45720" rtlCol="0" anchor="ctr"/>
          <a:lstStyle>
            <a:lvl1pPr algn="r">
              <a:defRPr sz="1200">
                <a:solidFill>
                  <a:schemeClr val="tx1">
                    <a:tint val="75000"/>
                  </a:schemeClr>
                </a:solidFill>
              </a:defRPr>
            </a:lvl1pPr>
          </a:lstStyle>
          <a:p>
            <a:fld id="{2C7DFF54-6BA4-4515-87CA-28703F844993}" type="slidenum">
              <a:rPr lang="en-CA" smtClean="0"/>
              <a:pPr/>
              <a:t>‹#›</a:t>
            </a:fld>
            <a:endParaRPr lang="en-C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jpeg"/><Relationship Id="rId1" Type="http://schemas.openxmlformats.org/officeDocument/2006/relationships/slideLayout" Target="../slideLayouts/slideLayout7.xml"/><Relationship Id="rId4" Type="http://schemas.openxmlformats.org/officeDocument/2006/relationships/image" Target="../media/image5.emf"/></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25.jpeg"/><Relationship Id="rId1" Type="http://schemas.openxmlformats.org/officeDocument/2006/relationships/slideLayout" Target="../slideLayouts/slideLayout7.xml"/><Relationship Id="rId4" Type="http://schemas.openxmlformats.org/officeDocument/2006/relationships/image" Target="../media/image26.emf"/></Relationships>
</file>

<file path=ppt/slides/_rels/slide4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28.jpeg"/><Relationship Id="rId1" Type="http://schemas.openxmlformats.org/officeDocument/2006/relationships/slideLayout" Target="../slideLayouts/slideLayout7.xml"/><Relationship Id="rId4" Type="http://schemas.openxmlformats.org/officeDocument/2006/relationships/image" Target="../media/image30.emf"/></Relationships>
</file>

<file path=ppt/slides/_rels/slide47.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2732" y="0"/>
            <a:ext cx="9118600" cy="6832600"/>
          </a:xfrm>
          <a:prstGeom prst="rect">
            <a:avLst/>
          </a:prstGeom>
        </p:spPr>
      </p:pic>
      <p:sp>
        <p:nvSpPr>
          <p:cNvPr id="12" name="TextBox 2"/>
          <p:cNvSpPr txBox="1"/>
          <p:nvPr/>
        </p:nvSpPr>
        <p:spPr>
          <a:xfrm>
            <a:off x="1447800" y="279400"/>
            <a:ext cx="7670800" cy="838200"/>
          </a:xfrm>
          <a:prstGeom prst="rect">
            <a:avLst/>
          </a:prstGeom>
          <a:noFill/>
        </p:spPr>
        <p:txBody>
          <a:bodyPr vert="horz" wrap="none" lIns="0" tIns="0" rIns="0" bIns="0" rtlCol="0">
            <a:spAutoFit/>
          </a:bodyPr>
          <a:lstStyle/>
          <a:p>
            <a:pPr>
              <a:lnSpc>
                <a:spcPts val="3960"/>
              </a:lnSpc>
            </a:pPr>
            <a:r>
              <a:rPr lang="en-CA" sz="4402" dirty="0">
                <a:solidFill>
                  <a:srgbClr val="000000"/>
                </a:solidFill>
                <a:latin typeface="Times New Roman Bold Italic"/>
                <a:cs typeface="Times New Roman Bold Italic"/>
              </a:rPr>
              <a:t>Introduction to Algorithms</a:t>
            </a:r>
          </a:p>
          <a:p>
            <a:pPr>
              <a:lnSpc>
                <a:spcPts val="3960"/>
              </a:lnSpc>
            </a:pPr>
            <a:endParaRPr lang="en-CA" sz="4402" dirty="0">
              <a:solidFill>
                <a:srgbClr val="000000"/>
              </a:solidFill>
            </a:endParaRPr>
          </a:p>
        </p:txBody>
      </p:sp>
      <p:sp>
        <p:nvSpPr>
          <p:cNvPr id="3" name="TextBox 3"/>
          <p:cNvSpPr txBox="1"/>
          <p:nvPr/>
        </p:nvSpPr>
        <p:spPr>
          <a:xfrm>
            <a:off x="-441360" y="701656"/>
            <a:ext cx="9715568" cy="585288"/>
          </a:xfrm>
          <a:prstGeom prst="rect">
            <a:avLst/>
          </a:prstGeom>
          <a:noFill/>
        </p:spPr>
        <p:txBody>
          <a:bodyPr vert="horz" wrap="square" lIns="0" tIns="0" rIns="0" bIns="0" rtlCol="0">
            <a:spAutoFit/>
          </a:bodyPr>
          <a:lstStyle/>
          <a:p>
            <a:pPr algn="ctr">
              <a:lnSpc>
                <a:spcPts val="5060"/>
              </a:lnSpc>
            </a:pPr>
            <a:endParaRPr lang="en-CA" sz="2800" dirty="0">
              <a:solidFill>
                <a:srgbClr val="000000"/>
              </a:solidFill>
            </a:endParaRPr>
          </a:p>
        </p:txBody>
      </p:sp>
      <p:sp>
        <p:nvSpPr>
          <p:cNvPr id="4" name="TextBox 4"/>
          <p:cNvSpPr txBox="1"/>
          <p:nvPr/>
        </p:nvSpPr>
        <p:spPr>
          <a:xfrm>
            <a:off x="3962400" y="1727200"/>
            <a:ext cx="5156200" cy="685800"/>
          </a:xfrm>
          <a:prstGeom prst="rect">
            <a:avLst/>
          </a:prstGeom>
          <a:noFill/>
        </p:spPr>
        <p:txBody>
          <a:bodyPr vert="horz" wrap="none" lIns="0" tIns="0" rIns="0" bIns="0" rtlCol="0">
            <a:spAutoFit/>
          </a:bodyPr>
          <a:lstStyle/>
          <a:p>
            <a:pPr>
              <a:lnSpc>
                <a:spcPts val="4140"/>
              </a:lnSpc>
            </a:pPr>
            <a:r>
              <a:rPr lang="en-CA" sz="3613" b="1" dirty="0">
                <a:solidFill>
                  <a:srgbClr val="CC0000"/>
                </a:solidFill>
                <a:latin typeface="Times New Roman Bold"/>
                <a:cs typeface="Times New Roman Bold"/>
              </a:rPr>
              <a:t>L</a:t>
            </a:r>
            <a:r>
              <a:rPr lang="en-CA" sz="2814" b="1" dirty="0">
                <a:solidFill>
                  <a:srgbClr val="CC0000"/>
                </a:solidFill>
                <a:latin typeface="Times New Roman Bold"/>
                <a:cs typeface="Times New Roman Bold"/>
              </a:rPr>
              <a:t>ECTURE</a:t>
            </a:r>
            <a:r>
              <a:rPr lang="en-CA" sz="3613" b="1" dirty="0">
                <a:solidFill>
                  <a:srgbClr val="CC0000"/>
                </a:solidFill>
                <a:latin typeface="Times New Roman Bold"/>
                <a:cs typeface="Times New Roman Bold"/>
              </a:rPr>
              <a:t> 1</a:t>
            </a:r>
          </a:p>
          <a:p>
            <a:pPr>
              <a:lnSpc>
                <a:spcPts val="4140"/>
              </a:lnSpc>
            </a:pPr>
            <a:endParaRPr lang="en-CA" sz="3070" dirty="0">
              <a:solidFill>
                <a:srgbClr val="000000"/>
              </a:solidFill>
            </a:endParaRPr>
          </a:p>
        </p:txBody>
      </p:sp>
      <p:sp>
        <p:nvSpPr>
          <p:cNvPr id="5" name="TextBox 5"/>
          <p:cNvSpPr txBox="1"/>
          <p:nvPr/>
        </p:nvSpPr>
        <p:spPr>
          <a:xfrm>
            <a:off x="3962400" y="2260600"/>
            <a:ext cx="5156200" cy="609600"/>
          </a:xfrm>
          <a:prstGeom prst="rect">
            <a:avLst/>
          </a:prstGeom>
          <a:noFill/>
        </p:spPr>
        <p:txBody>
          <a:bodyPr vert="horz" wrap="none" lIns="0" tIns="0" rIns="0" bIns="0" rtlCol="0">
            <a:spAutoFit/>
          </a:bodyPr>
          <a:lstStyle/>
          <a:p>
            <a:pPr>
              <a:lnSpc>
                <a:spcPts val="3680"/>
              </a:lnSpc>
            </a:pPr>
            <a:r>
              <a:rPr lang="en-CA" sz="3211" b="1">
                <a:solidFill>
                  <a:srgbClr val="000000"/>
                </a:solidFill>
                <a:latin typeface="Times New Roman Bold"/>
                <a:cs typeface="Times New Roman Bold"/>
              </a:rPr>
              <a:t>Analysis of Algorithms</a:t>
            </a:r>
          </a:p>
          <a:p>
            <a:pPr>
              <a:lnSpc>
                <a:spcPts val="3680"/>
              </a:lnSpc>
            </a:pPr>
            <a:endParaRPr lang="en-CA" sz="3201">
              <a:solidFill>
                <a:srgbClr val="000000"/>
              </a:solidFill>
            </a:endParaRPr>
          </a:p>
        </p:txBody>
      </p:sp>
      <p:sp>
        <p:nvSpPr>
          <p:cNvPr id="6" name="TextBox 6"/>
          <p:cNvSpPr txBox="1"/>
          <p:nvPr/>
        </p:nvSpPr>
        <p:spPr>
          <a:xfrm>
            <a:off x="3962400" y="2730500"/>
            <a:ext cx="51562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Insertion sort</a:t>
            </a:r>
          </a:p>
          <a:p>
            <a:pPr>
              <a:lnSpc>
                <a:spcPts val="3680"/>
              </a:lnSpc>
            </a:pPr>
            <a:endParaRPr lang="en-CA" sz="3201">
              <a:solidFill>
                <a:srgbClr val="000000"/>
              </a:solidFill>
            </a:endParaRPr>
          </a:p>
        </p:txBody>
      </p:sp>
      <p:sp>
        <p:nvSpPr>
          <p:cNvPr id="7" name="TextBox 7"/>
          <p:cNvSpPr txBox="1"/>
          <p:nvPr/>
        </p:nvSpPr>
        <p:spPr>
          <a:xfrm>
            <a:off x="3962400" y="3225800"/>
            <a:ext cx="5156200" cy="609600"/>
          </a:xfrm>
          <a:prstGeom prst="rect">
            <a:avLst/>
          </a:prstGeom>
          <a:noFill/>
        </p:spPr>
        <p:txBody>
          <a:bodyPr vert="horz" wrap="none" lIns="0" tIns="0" rIns="0" bIns="0" rtlCol="0">
            <a:spAutoFit/>
          </a:bodyPr>
          <a:lstStyle/>
          <a:p>
            <a:pPr>
              <a:lnSpc>
                <a:spcPts val="368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Asymptotic analysis</a:t>
            </a:r>
          </a:p>
          <a:p>
            <a:pPr>
              <a:lnSpc>
                <a:spcPts val="3680"/>
              </a:lnSpc>
            </a:pPr>
            <a:endParaRPr lang="en-CA" sz="3201" dirty="0">
              <a:solidFill>
                <a:srgbClr val="000000"/>
              </a:solidFill>
            </a:endParaRPr>
          </a:p>
        </p:txBody>
      </p:sp>
      <p:sp>
        <p:nvSpPr>
          <p:cNvPr id="8" name="TextBox 8"/>
          <p:cNvSpPr txBox="1"/>
          <p:nvPr/>
        </p:nvSpPr>
        <p:spPr>
          <a:xfrm>
            <a:off x="3962400" y="3708400"/>
            <a:ext cx="51562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Merge sort</a:t>
            </a:r>
          </a:p>
          <a:p>
            <a:pPr>
              <a:lnSpc>
                <a:spcPts val="3680"/>
              </a:lnSpc>
            </a:pPr>
            <a:endParaRPr lang="en-CA" sz="3201">
              <a:solidFill>
                <a:srgbClr val="000000"/>
              </a:solidFill>
            </a:endParaRPr>
          </a:p>
        </p:txBody>
      </p:sp>
      <p:sp>
        <p:nvSpPr>
          <p:cNvPr id="9" name="TextBox 9"/>
          <p:cNvSpPr txBox="1"/>
          <p:nvPr/>
        </p:nvSpPr>
        <p:spPr>
          <a:xfrm>
            <a:off x="3962400" y="4203700"/>
            <a:ext cx="51562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Recurrences</a:t>
            </a:r>
          </a:p>
          <a:p>
            <a:pPr>
              <a:lnSpc>
                <a:spcPts val="3680"/>
              </a:lnSpc>
            </a:pPr>
            <a:endParaRPr lang="en-CA" sz="3201">
              <a:solidFill>
                <a:srgbClr val="000000"/>
              </a:solidFill>
            </a:endParaRPr>
          </a:p>
        </p:txBody>
      </p:sp>
      <p:sp>
        <p:nvSpPr>
          <p:cNvPr id="11" name="TextBox 11"/>
          <p:cNvSpPr txBox="1"/>
          <p:nvPr/>
        </p:nvSpPr>
        <p:spPr>
          <a:xfrm>
            <a:off x="2552700" y="65405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20" name="TextBox 2"/>
          <p:cNvSpPr txBox="1"/>
          <p:nvPr/>
        </p:nvSpPr>
        <p:spPr>
          <a:xfrm>
            <a:off x="1676400" y="533400"/>
            <a:ext cx="74422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Course information</a:t>
            </a:r>
          </a:p>
          <a:p>
            <a:pPr>
              <a:lnSpc>
                <a:spcPts val="5060"/>
              </a:lnSpc>
            </a:pPr>
            <a:endParaRPr lang="en-CA" sz="4402">
              <a:solidFill>
                <a:srgbClr val="000000"/>
              </a:solidFill>
            </a:endParaRPr>
          </a:p>
        </p:txBody>
      </p:sp>
      <p:sp>
        <p:nvSpPr>
          <p:cNvPr id="3" name="TextBox 3"/>
          <p:cNvSpPr txBox="1"/>
          <p:nvPr/>
        </p:nvSpPr>
        <p:spPr>
          <a:xfrm>
            <a:off x="630210" y="1558913"/>
            <a:ext cx="7929618" cy="1231106"/>
          </a:xfrm>
          <a:prstGeom prst="rect">
            <a:avLst/>
          </a:prstGeom>
          <a:noFill/>
        </p:spPr>
        <p:txBody>
          <a:bodyPr vert="horz" wrap="square" lIns="0" tIns="0" rIns="0" bIns="0" rtlCol="0">
            <a:spAutoFit/>
          </a:bodyPr>
          <a:lstStyle/>
          <a:p>
            <a:pPr marL="514350" indent="-514350">
              <a:lnSpc>
                <a:spcPts val="3200"/>
              </a:lnSpc>
              <a:buAutoNum type="arabicPeriod"/>
            </a:pPr>
            <a:r>
              <a:rPr lang="en-CA" sz="2814" b="1" dirty="0">
                <a:solidFill>
                  <a:srgbClr val="000000"/>
                </a:solidFill>
                <a:latin typeface="Times New Roman Bold"/>
                <a:cs typeface="Times New Roman Bold"/>
              </a:rPr>
              <a:t>Staff </a:t>
            </a:r>
          </a:p>
          <a:p>
            <a:pPr marL="514350" indent="-514350">
              <a:lnSpc>
                <a:spcPts val="3200"/>
              </a:lnSpc>
            </a:pPr>
            <a:r>
              <a:rPr lang="en-CA" sz="2814" b="1" dirty="0">
                <a:solidFill>
                  <a:srgbClr val="000000"/>
                </a:solidFill>
                <a:latin typeface="Times New Roman Bold"/>
                <a:cs typeface="Times New Roman Bold"/>
              </a:rPr>
              <a:t>	</a:t>
            </a:r>
            <a:r>
              <a:rPr lang="en-CA" sz="2814" dirty="0">
                <a:solidFill>
                  <a:srgbClr val="000000"/>
                </a:solidFill>
                <a:latin typeface="Times New Roman Bold"/>
                <a:cs typeface="Times New Roman Bold"/>
              </a:rPr>
              <a:t>Dr </a:t>
            </a:r>
            <a:r>
              <a:rPr lang="en-CA" sz="2814" dirty="0" err="1">
                <a:solidFill>
                  <a:srgbClr val="000000"/>
                </a:solidFill>
                <a:latin typeface="Times New Roman Bold"/>
                <a:cs typeface="Times New Roman Bold"/>
              </a:rPr>
              <a:t>basheer</a:t>
            </a:r>
            <a:r>
              <a:rPr lang="en-CA" sz="2814" dirty="0">
                <a:solidFill>
                  <a:srgbClr val="000000"/>
                </a:solidFill>
                <a:latin typeface="Times New Roman Bold"/>
                <a:cs typeface="Times New Roman Bold"/>
              </a:rPr>
              <a:t> Youssef </a:t>
            </a:r>
          </a:p>
          <a:p>
            <a:pPr marL="514350" indent="-514350">
              <a:lnSpc>
                <a:spcPts val="3200"/>
              </a:lnSpc>
            </a:pPr>
            <a:endParaRPr lang="en-CA" sz="2804" dirty="0">
              <a:solidFill>
                <a:srgbClr val="000000"/>
              </a:solidFill>
            </a:endParaRPr>
          </a:p>
        </p:txBody>
      </p:sp>
      <p:sp>
        <p:nvSpPr>
          <p:cNvPr id="6" name="TextBox 6"/>
          <p:cNvSpPr txBox="1"/>
          <p:nvPr/>
        </p:nvSpPr>
        <p:spPr>
          <a:xfrm>
            <a:off x="558772" y="2844796"/>
            <a:ext cx="8143932" cy="820738"/>
          </a:xfrm>
          <a:prstGeom prst="rect">
            <a:avLst/>
          </a:prstGeom>
          <a:noFill/>
        </p:spPr>
        <p:txBody>
          <a:bodyPr vert="horz" wrap="square" lIns="0" tIns="0" rIns="0" bIns="0" rtlCol="0">
            <a:spAutoFit/>
          </a:bodyPr>
          <a:lstStyle/>
          <a:p>
            <a:pPr>
              <a:lnSpc>
                <a:spcPts val="3200"/>
              </a:lnSpc>
            </a:pPr>
            <a:r>
              <a:rPr lang="en-CA" sz="2814" b="1" dirty="0">
                <a:latin typeface="Times New Roman Bold"/>
                <a:cs typeface="Times New Roman Bold"/>
              </a:rPr>
              <a:t>2. </a:t>
            </a:r>
            <a:r>
              <a:rPr lang="en-CA" sz="2814" b="1" dirty="0">
                <a:solidFill>
                  <a:srgbClr val="000000"/>
                </a:solidFill>
                <a:latin typeface="Times New Roman Bold"/>
                <a:cs typeface="Times New Roman Bold"/>
              </a:rPr>
              <a:t>Lectures 	</a:t>
            </a:r>
            <a:r>
              <a:rPr lang="en-CA" sz="2814" dirty="0">
                <a:solidFill>
                  <a:srgbClr val="000000"/>
                </a:solidFill>
                <a:latin typeface="Times New Roman Bold"/>
                <a:cs typeface="Times New Roman Bold"/>
              </a:rPr>
              <a:t>two </a:t>
            </a:r>
            <a:r>
              <a:rPr lang="en-CA" sz="2814" dirty="0" err="1">
                <a:solidFill>
                  <a:srgbClr val="000000"/>
                </a:solidFill>
                <a:latin typeface="Times New Roman Bold"/>
                <a:cs typeface="Times New Roman Bold"/>
              </a:rPr>
              <a:t>lec</a:t>
            </a:r>
            <a:r>
              <a:rPr lang="en-CA" sz="2814" dirty="0">
                <a:solidFill>
                  <a:srgbClr val="000000"/>
                </a:solidFill>
                <a:latin typeface="Times New Roman Bold"/>
                <a:cs typeface="Times New Roman Bold"/>
              </a:rPr>
              <a:t> per week + one lab </a:t>
            </a:r>
          </a:p>
          <a:p>
            <a:pPr>
              <a:lnSpc>
                <a:spcPts val="3220"/>
              </a:lnSpc>
            </a:pPr>
            <a:endParaRPr lang="en-CA" sz="2804" dirty="0">
              <a:solidFill>
                <a:srgbClr val="000000"/>
              </a:solidFill>
            </a:endParaRPr>
          </a:p>
        </p:txBody>
      </p:sp>
      <p:sp>
        <p:nvSpPr>
          <p:cNvPr id="9" name="TextBox 9"/>
          <p:cNvSpPr txBox="1"/>
          <p:nvPr/>
        </p:nvSpPr>
        <p:spPr>
          <a:xfrm>
            <a:off x="487334" y="3344293"/>
            <a:ext cx="8631266" cy="1641475"/>
          </a:xfrm>
          <a:prstGeom prst="rect">
            <a:avLst/>
          </a:prstGeom>
          <a:noFill/>
        </p:spPr>
        <p:txBody>
          <a:bodyPr vert="horz" wrap="square" lIns="0" tIns="0" rIns="0" bIns="0" rtlCol="0">
            <a:spAutoFit/>
          </a:bodyPr>
          <a:lstStyle/>
          <a:p>
            <a:pPr>
              <a:lnSpc>
                <a:spcPts val="3200"/>
              </a:lnSpc>
            </a:pPr>
            <a:r>
              <a:rPr lang="en-CA" sz="2814" b="1" dirty="0">
                <a:latin typeface="Times New Roman Bold"/>
                <a:cs typeface="Times New Roman Bold"/>
              </a:rPr>
              <a:t>3. </a:t>
            </a:r>
            <a:r>
              <a:rPr lang="en-CA" sz="2814" b="1" dirty="0">
                <a:solidFill>
                  <a:srgbClr val="000000"/>
                </a:solidFill>
                <a:latin typeface="Times New Roman Bold"/>
                <a:cs typeface="Times New Roman Bold"/>
              </a:rPr>
              <a:t>Textbook </a:t>
            </a:r>
          </a:p>
          <a:p>
            <a:pPr>
              <a:lnSpc>
                <a:spcPts val="3200"/>
              </a:lnSpc>
            </a:pPr>
            <a:r>
              <a:rPr lang="en-CA" sz="3200" dirty="0">
                <a:solidFill>
                  <a:srgbClr val="000000"/>
                </a:solidFill>
                <a:latin typeface="Times New Roman Italic"/>
                <a:cs typeface="Times New Roman Italic"/>
              </a:rPr>
              <a:t>	Introduction to Algorithms second  edition . 	Thomas </a:t>
            </a:r>
            <a:r>
              <a:rPr lang="en-CA" sz="3200" dirty="0" err="1">
                <a:solidFill>
                  <a:srgbClr val="000000"/>
                </a:solidFill>
                <a:latin typeface="Times New Roman Italic"/>
                <a:cs typeface="Times New Roman Italic"/>
              </a:rPr>
              <a:t>H.Cormen</a:t>
            </a:r>
            <a:r>
              <a:rPr lang="en-CA" sz="3200" dirty="0">
                <a:solidFill>
                  <a:srgbClr val="000000"/>
                </a:solidFill>
                <a:latin typeface="Times New Roman Italic"/>
                <a:cs typeface="Times New Roman Italic"/>
              </a:rPr>
              <a:t> </a:t>
            </a:r>
          </a:p>
          <a:p>
            <a:pPr>
              <a:lnSpc>
                <a:spcPts val="3200"/>
              </a:lnSpc>
            </a:pPr>
            <a:r>
              <a:rPr lang="en-CA" sz="3200" dirty="0">
                <a:solidFill>
                  <a:srgbClr val="000000"/>
                </a:solidFill>
                <a:latin typeface="Times New Roman Italic"/>
                <a:cs typeface="Times New Roman Italic"/>
              </a:rPr>
              <a:t>+ </a:t>
            </a:r>
            <a:r>
              <a:rPr lang="en-US" sz="3200" dirty="0"/>
              <a:t>Foundations of Algorithms Using C++ </a:t>
            </a:r>
            <a:r>
              <a:rPr lang="en-US" sz="3200" dirty="0" err="1"/>
              <a:t>Pseudocode</a:t>
            </a:r>
            <a:endParaRPr lang="en-CA" sz="2814" b="1" dirty="0">
              <a:solidFill>
                <a:srgbClr val="000000"/>
              </a:solidFill>
              <a:latin typeface="Times New Roman Bold"/>
              <a:cs typeface="Times New Roman Bold"/>
            </a:endParaRPr>
          </a:p>
        </p:txBody>
      </p:sp>
      <p:sp>
        <p:nvSpPr>
          <p:cNvPr id="15" name="TextBox 15"/>
          <p:cNvSpPr txBox="1"/>
          <p:nvPr/>
        </p:nvSpPr>
        <p:spPr>
          <a:xfrm>
            <a:off x="487334" y="5202250"/>
            <a:ext cx="8631266" cy="2051844"/>
          </a:xfrm>
          <a:prstGeom prst="rect">
            <a:avLst/>
          </a:prstGeom>
          <a:noFill/>
        </p:spPr>
        <p:txBody>
          <a:bodyPr vert="horz" wrap="square" lIns="0" tIns="0" rIns="0" bIns="0" rtlCol="0">
            <a:spAutoFit/>
          </a:bodyPr>
          <a:lstStyle/>
          <a:p>
            <a:pPr>
              <a:lnSpc>
                <a:spcPts val="3200"/>
              </a:lnSpc>
            </a:pPr>
            <a:r>
              <a:rPr lang="en-CA" sz="2814" b="1" dirty="0">
                <a:solidFill>
                  <a:srgbClr val="000000"/>
                </a:solidFill>
                <a:latin typeface="Times New Roman Bold"/>
                <a:cs typeface="Times New Roman Bold"/>
              </a:rPr>
              <a:t>4-Grading policy </a:t>
            </a:r>
          </a:p>
          <a:p>
            <a:pPr>
              <a:lnSpc>
                <a:spcPts val="3200"/>
              </a:lnSpc>
            </a:pPr>
            <a:r>
              <a:rPr lang="en-CA" sz="2814" dirty="0">
                <a:solidFill>
                  <a:srgbClr val="000000"/>
                </a:solidFill>
                <a:latin typeface="Times New Roman Bold"/>
                <a:cs typeface="Times New Roman Bold"/>
              </a:rPr>
              <a:t>	15  midterm 15 Three assignments </a:t>
            </a:r>
          </a:p>
          <a:p>
            <a:pPr>
              <a:lnSpc>
                <a:spcPts val="3200"/>
              </a:lnSpc>
            </a:pPr>
            <a:r>
              <a:rPr lang="en-CA" sz="2814" dirty="0">
                <a:solidFill>
                  <a:srgbClr val="000000"/>
                </a:solidFill>
                <a:latin typeface="Times New Roman Bold"/>
                <a:cs typeface="Times New Roman Bold"/>
              </a:rPr>
              <a:t>	5  labs  5 two Quizzes</a:t>
            </a:r>
          </a:p>
          <a:p>
            <a:pPr>
              <a:lnSpc>
                <a:spcPts val="3200"/>
              </a:lnSpc>
            </a:pPr>
            <a:endParaRPr lang="en-CA" sz="2814" b="1" dirty="0">
              <a:solidFill>
                <a:srgbClr val="000000"/>
              </a:solidFill>
              <a:latin typeface="Times New Roman Bold"/>
              <a:cs typeface="Times New Roman Bold"/>
            </a:endParaRPr>
          </a:p>
          <a:p>
            <a:pPr>
              <a:lnSpc>
                <a:spcPts val="3220"/>
              </a:lnSpc>
            </a:pPr>
            <a:endParaRPr lang="en-CA" sz="2804" dirty="0">
              <a:solidFill>
                <a:srgbClr val="000000"/>
              </a:solidFill>
            </a:endParaRPr>
          </a:p>
        </p:txBody>
      </p:sp>
      <p:sp>
        <p:nvSpPr>
          <p:cNvPr id="18" name="TextBox 18"/>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dirty="0">
                <a:solidFill>
                  <a:srgbClr val="000000"/>
                </a:solidFill>
                <a:latin typeface="Times New Roman Italic"/>
                <a:cs typeface="Times New Roman Italic"/>
              </a:rPr>
              <a:t>Introduction to Algorithms</a:t>
            </a:r>
          </a:p>
          <a:p>
            <a:pPr>
              <a:lnSpc>
                <a:spcPts val="1610"/>
              </a:lnSpc>
            </a:pPr>
            <a:endParaRPr/>
          </a:p>
        </p:txBody>
      </p:sp>
      <p:sp>
        <p:nvSpPr>
          <p:cNvPr id="19" name="TextBox 19"/>
          <p:cNvSpPr txBox="1"/>
          <p:nvPr/>
        </p:nvSpPr>
        <p:spPr>
          <a:xfrm>
            <a:off x="8013700" y="6578600"/>
            <a:ext cx="5842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L1.2</a:t>
            </a:r>
          </a:p>
          <a:p>
            <a:pPr>
              <a:lnSpc>
                <a:spcPts val="1610"/>
              </a:lnSpc>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3" name="TextBox 2"/>
          <p:cNvSpPr txBox="1"/>
          <p:nvPr/>
        </p:nvSpPr>
        <p:spPr>
          <a:xfrm>
            <a:off x="1676400" y="533400"/>
            <a:ext cx="74422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Analysis of algorithms</a:t>
            </a:r>
          </a:p>
          <a:p>
            <a:pPr>
              <a:lnSpc>
                <a:spcPts val="5060"/>
              </a:lnSpc>
            </a:pPr>
            <a:endParaRPr lang="en-CA" sz="4402">
              <a:solidFill>
                <a:srgbClr val="000000"/>
              </a:solidFill>
            </a:endParaRPr>
          </a:p>
        </p:txBody>
      </p:sp>
      <p:sp>
        <p:nvSpPr>
          <p:cNvPr id="3" name="TextBox 3"/>
          <p:cNvSpPr txBox="1"/>
          <p:nvPr/>
        </p:nvSpPr>
        <p:spPr>
          <a:xfrm>
            <a:off x="1054100" y="1625600"/>
            <a:ext cx="8064500" cy="1130300"/>
          </a:xfrm>
          <a:prstGeom prst="rect">
            <a:avLst/>
          </a:prstGeom>
          <a:noFill/>
        </p:spPr>
        <p:txBody>
          <a:bodyPr vert="horz" wrap="none" lIns="0" tIns="0" rIns="0" bIns="0" rtlCol="0">
            <a:spAutoFit/>
          </a:bodyPr>
          <a:lstStyle/>
          <a:p>
            <a:pPr>
              <a:lnSpc>
                <a:spcPts val="3800"/>
              </a:lnSpc>
            </a:pPr>
            <a:r>
              <a:rPr lang="en-CA" sz="3201" dirty="0">
                <a:solidFill>
                  <a:srgbClr val="000000"/>
                </a:solidFill>
                <a:latin typeface="Times New Roman Italic"/>
                <a:cs typeface="Times New Roman Italic"/>
              </a:rPr>
              <a:t>The theoretical study of computer-program</a:t>
            </a:r>
            <a:br>
              <a:rPr lang="en-CA" sz="3201" dirty="0">
                <a:solidFill>
                  <a:srgbClr val="000000"/>
                </a:solidFill>
                <a:latin typeface="Times New Roman"/>
              </a:rPr>
            </a:br>
            <a:r>
              <a:rPr lang="en-CA" sz="3201" dirty="0">
                <a:solidFill>
                  <a:srgbClr val="000000"/>
                </a:solidFill>
                <a:latin typeface="Times New Roman Italic"/>
                <a:cs typeface="Times New Roman Italic"/>
              </a:rPr>
              <a:t>performance and resource usage.</a:t>
            </a:r>
          </a:p>
          <a:p>
            <a:pPr>
              <a:lnSpc>
                <a:spcPts val="3800"/>
              </a:lnSpc>
            </a:pPr>
            <a:endParaRPr lang="en-CA" sz="3201" dirty="0">
              <a:solidFill>
                <a:srgbClr val="000000"/>
              </a:solidFill>
            </a:endParaRPr>
          </a:p>
        </p:txBody>
      </p:sp>
      <p:sp>
        <p:nvSpPr>
          <p:cNvPr id="4" name="TextBox 4"/>
          <p:cNvSpPr txBox="1"/>
          <p:nvPr/>
        </p:nvSpPr>
        <p:spPr>
          <a:xfrm>
            <a:off x="1054100" y="2794000"/>
            <a:ext cx="8064500" cy="609600"/>
          </a:xfrm>
          <a:prstGeom prst="rect">
            <a:avLst/>
          </a:prstGeom>
          <a:noFill/>
        </p:spPr>
        <p:txBody>
          <a:bodyPr vert="horz" wrap="none" lIns="0" tIns="0" rIns="0" bIns="0" rtlCol="0">
            <a:spAutoFit/>
          </a:bodyPr>
          <a:lstStyle/>
          <a:p>
            <a:pPr>
              <a:lnSpc>
                <a:spcPts val="3680"/>
              </a:lnSpc>
            </a:pPr>
            <a:r>
              <a:rPr lang="en-CA" sz="3201" dirty="0">
                <a:solidFill>
                  <a:srgbClr val="000000"/>
                </a:solidFill>
                <a:latin typeface="Times New Roman"/>
                <a:cs typeface="Times New Roman"/>
              </a:rPr>
              <a:t>What’s more important than performance?</a:t>
            </a:r>
          </a:p>
          <a:p>
            <a:pPr>
              <a:lnSpc>
                <a:spcPts val="3680"/>
              </a:lnSpc>
            </a:pPr>
            <a:endParaRPr lang="en-CA" sz="3201" dirty="0">
              <a:solidFill>
                <a:srgbClr val="000000"/>
              </a:solidFill>
            </a:endParaRPr>
          </a:p>
        </p:txBody>
      </p:sp>
      <p:sp>
        <p:nvSpPr>
          <p:cNvPr id="5" name="TextBox 5"/>
          <p:cNvSpPr txBox="1"/>
          <p:nvPr/>
        </p:nvSpPr>
        <p:spPr>
          <a:xfrm>
            <a:off x="1371600" y="3314700"/>
            <a:ext cx="3263900" cy="1168400"/>
          </a:xfrm>
          <a:prstGeom prst="rect">
            <a:avLst/>
          </a:prstGeom>
          <a:noFill/>
        </p:spPr>
        <p:txBody>
          <a:bodyPr vert="horz" wrap="none" lIns="0" tIns="0" rIns="0" bIns="0" rtlCol="0">
            <a:spAutoFit/>
          </a:bodyPr>
          <a:lstStyle/>
          <a:p>
            <a:pPr>
              <a:lnSpc>
                <a:spcPts val="380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modularity</a:t>
            </a:r>
            <a:br>
              <a:rPr lang="en-CA" sz="3201" dirty="0">
                <a:solidFill>
                  <a:srgbClr val="000000"/>
                </a:solidFill>
                <a:latin typeface="Times New Roman"/>
              </a:rPr>
            </a:b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correctness</a:t>
            </a:r>
          </a:p>
          <a:p>
            <a:pPr>
              <a:lnSpc>
                <a:spcPts val="3840"/>
              </a:lnSpc>
            </a:pPr>
            <a:endParaRPr lang="en-CA" sz="3201" dirty="0">
              <a:solidFill>
                <a:srgbClr val="000000"/>
              </a:solidFill>
            </a:endParaRPr>
          </a:p>
        </p:txBody>
      </p:sp>
      <p:sp>
        <p:nvSpPr>
          <p:cNvPr id="6" name="TextBox 6"/>
          <p:cNvSpPr txBox="1"/>
          <p:nvPr/>
        </p:nvSpPr>
        <p:spPr>
          <a:xfrm>
            <a:off x="1371600" y="4292600"/>
            <a:ext cx="3263900" cy="1651000"/>
          </a:xfrm>
          <a:prstGeom prst="rect">
            <a:avLst/>
          </a:prstGeom>
          <a:noFill/>
        </p:spPr>
        <p:txBody>
          <a:bodyPr vert="horz" wrap="none" lIns="0" tIns="0" rIns="0" bIns="0" rtlCol="0">
            <a:spAutoFit/>
          </a:bodyPr>
          <a:lstStyle/>
          <a:p>
            <a:pPr>
              <a:lnSpc>
                <a:spcPts val="380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maintainability</a:t>
            </a:r>
            <a:br>
              <a:rPr lang="en-CA" sz="3201" dirty="0">
                <a:solidFill>
                  <a:srgbClr val="000000"/>
                </a:solidFill>
                <a:latin typeface="Times New Roman"/>
              </a:rPr>
            </a:b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functionality</a:t>
            </a:r>
            <a:br>
              <a:rPr lang="en-CA" sz="3201" dirty="0">
                <a:solidFill>
                  <a:srgbClr val="000000"/>
                </a:solidFill>
                <a:latin typeface="Times New Roman"/>
              </a:rPr>
            </a:b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robustness</a:t>
            </a:r>
          </a:p>
          <a:p>
            <a:pPr>
              <a:lnSpc>
                <a:spcPts val="3835"/>
              </a:lnSpc>
            </a:pPr>
            <a:endParaRPr lang="en-CA" sz="3201" dirty="0">
              <a:solidFill>
                <a:srgbClr val="000000"/>
              </a:solidFill>
            </a:endParaRPr>
          </a:p>
        </p:txBody>
      </p:sp>
      <p:sp>
        <p:nvSpPr>
          <p:cNvPr id="7" name="TextBox 7"/>
          <p:cNvSpPr txBox="1"/>
          <p:nvPr/>
        </p:nvSpPr>
        <p:spPr>
          <a:xfrm>
            <a:off x="4737100" y="3314700"/>
            <a:ext cx="4267200" cy="1651000"/>
          </a:xfrm>
          <a:prstGeom prst="rect">
            <a:avLst/>
          </a:prstGeom>
          <a:noFill/>
        </p:spPr>
        <p:txBody>
          <a:bodyPr vert="horz" wrap="none" lIns="0" tIns="0" rIns="0" bIns="0" rtlCol="0">
            <a:spAutoFit/>
          </a:bodyPr>
          <a:lstStyle/>
          <a:p>
            <a:pPr>
              <a:lnSpc>
                <a:spcPts val="380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user-friendliness</a:t>
            </a:r>
            <a:br>
              <a:rPr lang="en-CA" sz="3201" dirty="0">
                <a:solidFill>
                  <a:srgbClr val="000000"/>
                </a:solidFill>
                <a:latin typeface="Times New Roman"/>
              </a:rPr>
            </a:b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programmer time</a:t>
            </a:r>
            <a:br>
              <a:rPr lang="en-CA" sz="3201" dirty="0">
                <a:solidFill>
                  <a:srgbClr val="000000"/>
                </a:solidFill>
                <a:latin typeface="Times New Roman"/>
              </a:rPr>
            </a:b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simplicity</a:t>
            </a:r>
          </a:p>
          <a:p>
            <a:pPr>
              <a:lnSpc>
                <a:spcPts val="3835"/>
              </a:lnSpc>
            </a:pPr>
            <a:endParaRPr lang="en-CA" sz="3201" dirty="0">
              <a:solidFill>
                <a:srgbClr val="000000"/>
              </a:solidFill>
            </a:endParaRPr>
          </a:p>
        </p:txBody>
      </p:sp>
      <p:sp>
        <p:nvSpPr>
          <p:cNvPr id="8" name="TextBox 8"/>
          <p:cNvSpPr txBox="1"/>
          <p:nvPr/>
        </p:nvSpPr>
        <p:spPr>
          <a:xfrm>
            <a:off x="4737100" y="4775200"/>
            <a:ext cx="4267200" cy="1168400"/>
          </a:xfrm>
          <a:prstGeom prst="rect">
            <a:avLst/>
          </a:prstGeom>
          <a:noFill/>
        </p:spPr>
        <p:txBody>
          <a:bodyPr vert="horz" wrap="none" lIns="0" tIns="0" rIns="0" bIns="0" rtlCol="0">
            <a:spAutoFit/>
          </a:bodyPr>
          <a:lstStyle/>
          <a:p>
            <a:pPr>
              <a:lnSpc>
                <a:spcPts val="380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extensibility</a:t>
            </a:r>
            <a:br>
              <a:rPr lang="en-CA" sz="3201" dirty="0">
                <a:solidFill>
                  <a:srgbClr val="000000"/>
                </a:solidFill>
                <a:latin typeface="Times New Roman"/>
              </a:rPr>
            </a:b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reliability</a:t>
            </a:r>
          </a:p>
          <a:p>
            <a:pPr>
              <a:lnSpc>
                <a:spcPts val="3830"/>
              </a:lnSpc>
            </a:pPr>
            <a:endParaRPr lang="en-CA" sz="3201" dirty="0">
              <a:solidFill>
                <a:srgbClr val="000000"/>
              </a:solidFill>
            </a:endParaRPr>
          </a:p>
        </p:txBody>
      </p:sp>
      <p:sp>
        <p:nvSpPr>
          <p:cNvPr id="9" name="TextBox 9"/>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10" name="TextBox 10"/>
          <p:cNvSpPr txBox="1"/>
          <p:nvPr/>
        </p:nvSpPr>
        <p:spPr>
          <a:xfrm>
            <a:off x="762000" y="6578600"/>
            <a:ext cx="947375" cy="35907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11" name="TextBox 11"/>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2" name="TextBox 12"/>
          <p:cNvSpPr txBox="1"/>
          <p:nvPr/>
        </p:nvSpPr>
        <p:spPr>
          <a:xfrm>
            <a:off x="8013700" y="6578600"/>
            <a:ext cx="5842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L1.3</a:t>
            </a:r>
          </a:p>
          <a:p>
            <a:pPr>
              <a:lnSpc>
                <a:spcPts val="1610"/>
              </a:lnSpc>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3" name="TextBox 2"/>
          <p:cNvSpPr txBox="1"/>
          <p:nvPr/>
        </p:nvSpPr>
        <p:spPr>
          <a:xfrm>
            <a:off x="1524000" y="279400"/>
            <a:ext cx="7594600" cy="1397000"/>
          </a:xfrm>
          <a:prstGeom prst="rect">
            <a:avLst/>
          </a:prstGeom>
          <a:noFill/>
        </p:spPr>
        <p:txBody>
          <a:bodyPr vert="horz" wrap="none" lIns="0" tIns="0" rIns="0" bIns="0" rtlCol="0">
            <a:spAutoFit/>
          </a:bodyPr>
          <a:lstStyle/>
          <a:p>
            <a:pPr>
              <a:lnSpc>
                <a:spcPts val="4500"/>
              </a:lnSpc>
            </a:pPr>
            <a:r>
              <a:rPr lang="en-CA" sz="4412" b="1">
                <a:solidFill>
                  <a:srgbClr val="000000"/>
                </a:solidFill>
                <a:latin typeface="Times New Roman Bold"/>
                <a:cs typeface="Times New Roman Bold"/>
              </a:rPr>
              <a:t>Why study algorithms and</a:t>
            </a:r>
            <a:br>
              <a:rPr lang="en-CA" sz="4402">
                <a:solidFill>
                  <a:srgbClr val="000000"/>
                </a:solidFill>
                <a:latin typeface="Times New Roman"/>
              </a:rPr>
            </a:br>
            <a:r>
              <a:rPr lang="en-CA" sz="4412" b="1">
                <a:solidFill>
                  <a:srgbClr val="000000"/>
                </a:solidFill>
                <a:latin typeface="Times New Roman Bold"/>
                <a:cs typeface="Times New Roman Bold"/>
              </a:rPr>
              <a:t>performance?</a:t>
            </a:r>
          </a:p>
          <a:p>
            <a:pPr>
              <a:lnSpc>
                <a:spcPts val="4500"/>
              </a:lnSpc>
            </a:pPr>
            <a:endParaRPr lang="en-CA" sz="4402">
              <a:solidFill>
                <a:srgbClr val="000000"/>
              </a:solidFill>
            </a:endParaRPr>
          </a:p>
        </p:txBody>
      </p:sp>
      <p:sp>
        <p:nvSpPr>
          <p:cNvPr id="3" name="TextBox 3"/>
          <p:cNvSpPr txBox="1"/>
          <p:nvPr/>
        </p:nvSpPr>
        <p:spPr>
          <a:xfrm>
            <a:off x="444500" y="1638300"/>
            <a:ext cx="86741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Algorithms help us to understand </a:t>
            </a:r>
            <a:r>
              <a:rPr lang="en-CA" sz="3201">
                <a:solidFill>
                  <a:srgbClr val="CC0000"/>
                </a:solidFill>
                <a:latin typeface="Times New Roman Bold Italic"/>
                <a:cs typeface="Times New Roman Bold Italic"/>
              </a:rPr>
              <a:t>scalability</a:t>
            </a:r>
            <a:r>
              <a:rPr lang="en-CA" sz="3201">
                <a:solidFill>
                  <a:srgbClr val="000000"/>
                </a:solidFill>
                <a:latin typeface="Times New Roman"/>
                <a:cs typeface="Times New Roman"/>
              </a:rPr>
              <a:t>.</a:t>
            </a:r>
          </a:p>
          <a:p>
            <a:pPr>
              <a:lnSpc>
                <a:spcPts val="3680"/>
              </a:lnSpc>
            </a:pPr>
            <a:endParaRPr lang="en-CA" sz="3201">
              <a:solidFill>
                <a:srgbClr val="000000"/>
              </a:solidFill>
            </a:endParaRPr>
          </a:p>
        </p:txBody>
      </p:sp>
      <p:sp>
        <p:nvSpPr>
          <p:cNvPr id="4" name="TextBox 4"/>
          <p:cNvSpPr txBox="1"/>
          <p:nvPr/>
        </p:nvSpPr>
        <p:spPr>
          <a:xfrm>
            <a:off x="444500" y="2260600"/>
            <a:ext cx="8674100" cy="1054100"/>
          </a:xfrm>
          <a:prstGeom prst="rect">
            <a:avLst/>
          </a:prstGeom>
          <a:noFill/>
        </p:spPr>
        <p:txBody>
          <a:bodyPr vert="horz" wrap="none" lIns="0" tIns="0" rIns="0" bIns="0" rtlCol="0">
            <a:spAutoFit/>
          </a:bodyPr>
          <a:lstStyle/>
          <a:p>
            <a:pPr>
              <a:lnSpc>
                <a:spcPts val="340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Performance often draws the line between what</a:t>
            </a:r>
            <a:br>
              <a:rPr lang="en-CA" sz="3201">
                <a:solidFill>
                  <a:srgbClr val="000000"/>
                </a:solidFill>
                <a:latin typeface="Times New Roman"/>
              </a:rPr>
            </a:br>
            <a:r>
              <a:rPr lang="en-CA" sz="3201">
                <a:solidFill>
                  <a:srgbClr val="000000"/>
                </a:solidFill>
                <a:latin typeface="Times New Roman"/>
                <a:cs typeface="Times New Roman"/>
              </a:rPr>
              <a:t>is feasible and what is impossible.</a:t>
            </a:r>
          </a:p>
          <a:p>
            <a:pPr>
              <a:lnSpc>
                <a:spcPts val="3400"/>
              </a:lnSpc>
            </a:pPr>
            <a:endParaRPr lang="en-CA" sz="3201">
              <a:solidFill>
                <a:srgbClr val="000000"/>
              </a:solidFill>
            </a:endParaRPr>
          </a:p>
        </p:txBody>
      </p:sp>
      <p:sp>
        <p:nvSpPr>
          <p:cNvPr id="5" name="TextBox 5"/>
          <p:cNvSpPr txBox="1"/>
          <p:nvPr/>
        </p:nvSpPr>
        <p:spPr>
          <a:xfrm>
            <a:off x="444500" y="3263900"/>
            <a:ext cx="8674100" cy="1054100"/>
          </a:xfrm>
          <a:prstGeom prst="rect">
            <a:avLst/>
          </a:prstGeom>
          <a:noFill/>
        </p:spPr>
        <p:txBody>
          <a:bodyPr vert="horz" wrap="none" lIns="0" tIns="0" rIns="0" bIns="0" rtlCol="0">
            <a:spAutoFit/>
          </a:bodyPr>
          <a:lstStyle/>
          <a:p>
            <a:pPr>
              <a:lnSpc>
                <a:spcPts val="350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Algorithmic mathematics provides a </a:t>
            </a:r>
            <a:r>
              <a:rPr lang="en-CA" sz="3201">
                <a:solidFill>
                  <a:srgbClr val="CC0000"/>
                </a:solidFill>
                <a:latin typeface="Times New Roman Bold Italic"/>
                <a:cs typeface="Times New Roman Bold Italic"/>
              </a:rPr>
              <a:t>language</a:t>
            </a:r>
            <a:br>
              <a:rPr lang="en-CA" sz="3201">
                <a:solidFill>
                  <a:srgbClr val="000000"/>
                </a:solidFill>
                <a:latin typeface="Times New Roman"/>
              </a:rPr>
            </a:br>
            <a:r>
              <a:rPr lang="en-CA" sz="3201">
                <a:solidFill>
                  <a:srgbClr val="000000"/>
                </a:solidFill>
                <a:latin typeface="Times New Roman"/>
                <a:cs typeface="Times New Roman"/>
              </a:rPr>
              <a:t>for talking about program behavior.</a:t>
            </a:r>
          </a:p>
          <a:p>
            <a:pPr>
              <a:lnSpc>
                <a:spcPts val="3500"/>
              </a:lnSpc>
            </a:pPr>
            <a:endParaRPr lang="en-CA" sz="3201">
              <a:solidFill>
                <a:srgbClr val="000000"/>
              </a:solidFill>
            </a:endParaRPr>
          </a:p>
        </p:txBody>
      </p:sp>
      <p:sp>
        <p:nvSpPr>
          <p:cNvPr id="6" name="TextBox 6"/>
          <p:cNvSpPr txBox="1"/>
          <p:nvPr/>
        </p:nvSpPr>
        <p:spPr>
          <a:xfrm>
            <a:off x="444500" y="4267200"/>
            <a:ext cx="86741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Performance is the </a:t>
            </a:r>
            <a:r>
              <a:rPr lang="en-CA" sz="3201">
                <a:solidFill>
                  <a:srgbClr val="CC0000"/>
                </a:solidFill>
                <a:latin typeface="Times New Roman Bold Italic"/>
                <a:cs typeface="Times New Roman Bold Italic"/>
              </a:rPr>
              <a:t>currency</a:t>
            </a:r>
            <a:r>
              <a:rPr lang="en-CA" sz="3201">
                <a:solidFill>
                  <a:srgbClr val="000000"/>
                </a:solidFill>
                <a:latin typeface="Times New Roman"/>
                <a:cs typeface="Times New Roman"/>
              </a:rPr>
              <a:t> of computing.</a:t>
            </a:r>
          </a:p>
          <a:p>
            <a:pPr>
              <a:lnSpc>
                <a:spcPts val="3680"/>
              </a:lnSpc>
            </a:pPr>
            <a:endParaRPr lang="en-CA" sz="3201">
              <a:solidFill>
                <a:srgbClr val="000000"/>
              </a:solidFill>
            </a:endParaRPr>
          </a:p>
        </p:txBody>
      </p:sp>
      <p:sp>
        <p:nvSpPr>
          <p:cNvPr id="7" name="TextBox 7"/>
          <p:cNvSpPr txBox="1"/>
          <p:nvPr/>
        </p:nvSpPr>
        <p:spPr>
          <a:xfrm>
            <a:off x="431800" y="4889500"/>
            <a:ext cx="8686800" cy="1054100"/>
          </a:xfrm>
          <a:prstGeom prst="rect">
            <a:avLst/>
          </a:prstGeom>
          <a:noFill/>
        </p:spPr>
        <p:txBody>
          <a:bodyPr vert="horz" wrap="none" lIns="0" tIns="0" rIns="0" bIns="0" rtlCol="0">
            <a:spAutoFit/>
          </a:bodyPr>
          <a:lstStyle/>
          <a:p>
            <a:pPr>
              <a:lnSpc>
                <a:spcPts val="340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The lessons of program performance generalize</a:t>
            </a:r>
            <a:br>
              <a:rPr lang="en-CA" sz="3201" dirty="0">
                <a:solidFill>
                  <a:srgbClr val="000000"/>
                </a:solidFill>
                <a:latin typeface="Times New Roman"/>
              </a:rPr>
            </a:br>
            <a:r>
              <a:rPr lang="en-CA" sz="3201" dirty="0">
                <a:solidFill>
                  <a:srgbClr val="000000"/>
                </a:solidFill>
                <a:latin typeface="Times New Roman"/>
                <a:cs typeface="Times New Roman"/>
              </a:rPr>
              <a:t>to other computing resources.</a:t>
            </a:r>
          </a:p>
          <a:p>
            <a:pPr>
              <a:lnSpc>
                <a:spcPts val="3400"/>
              </a:lnSpc>
            </a:pPr>
            <a:endParaRPr lang="en-CA" sz="3201" dirty="0">
              <a:solidFill>
                <a:srgbClr val="000000"/>
              </a:solidFill>
            </a:endParaRPr>
          </a:p>
        </p:txBody>
      </p:sp>
      <p:sp>
        <p:nvSpPr>
          <p:cNvPr id="8" name="TextBox 8"/>
          <p:cNvSpPr txBox="1"/>
          <p:nvPr/>
        </p:nvSpPr>
        <p:spPr>
          <a:xfrm>
            <a:off x="431800" y="5880100"/>
            <a:ext cx="8686800" cy="609600"/>
          </a:xfrm>
          <a:prstGeom prst="rect">
            <a:avLst/>
          </a:prstGeom>
          <a:noFill/>
        </p:spPr>
        <p:txBody>
          <a:bodyPr vert="horz" wrap="none" lIns="0" tIns="0" rIns="0" bIns="0" rtlCol="0">
            <a:spAutoFit/>
          </a:bodyPr>
          <a:lstStyle/>
          <a:p>
            <a:pPr>
              <a:lnSpc>
                <a:spcPts val="368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Speed is fun!</a:t>
            </a:r>
          </a:p>
          <a:p>
            <a:pPr>
              <a:lnSpc>
                <a:spcPts val="3680"/>
              </a:lnSpc>
            </a:pPr>
            <a:endParaRPr lang="en-CA" sz="3201" dirty="0">
              <a:solidFill>
                <a:srgbClr val="000000"/>
              </a:solidFill>
            </a:endParaRPr>
          </a:p>
        </p:txBody>
      </p:sp>
      <p:sp>
        <p:nvSpPr>
          <p:cNvPr id="9" name="TextBox 9"/>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10" name="TextBox 10"/>
          <p:cNvSpPr txBox="1"/>
          <p:nvPr/>
        </p:nvSpPr>
        <p:spPr>
          <a:xfrm>
            <a:off x="762000" y="6578600"/>
            <a:ext cx="947375" cy="35907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11" name="TextBox 11"/>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2" name="TextBox 12"/>
          <p:cNvSpPr txBox="1"/>
          <p:nvPr/>
        </p:nvSpPr>
        <p:spPr>
          <a:xfrm>
            <a:off x="8013700" y="6578600"/>
            <a:ext cx="5842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L1.4</a:t>
            </a:r>
          </a:p>
          <a:p>
            <a:pPr>
              <a:lnSpc>
                <a:spcPts val="1610"/>
              </a:lnSpc>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The problem of sorting</a:t>
            </a:r>
          </a:p>
          <a:p>
            <a:pPr>
              <a:lnSpc>
                <a:spcPts val="5060"/>
              </a:lnSpc>
            </a:pPr>
            <a:endParaRPr lang="en-CA" sz="4402">
              <a:solidFill>
                <a:srgbClr val="000000"/>
              </a:solidFill>
            </a:endParaRPr>
          </a:p>
        </p:txBody>
      </p:sp>
      <p:sp>
        <p:nvSpPr>
          <p:cNvPr id="3" name="TextBox 3"/>
          <p:cNvSpPr txBox="1"/>
          <p:nvPr/>
        </p:nvSpPr>
        <p:spPr>
          <a:xfrm>
            <a:off x="838200" y="2032000"/>
            <a:ext cx="8280400" cy="609600"/>
          </a:xfrm>
          <a:prstGeom prst="rect">
            <a:avLst/>
          </a:prstGeom>
          <a:noFill/>
        </p:spPr>
        <p:txBody>
          <a:bodyPr vert="horz" wrap="none" lIns="0" tIns="0" rIns="0" bIns="0" rtlCol="0">
            <a:spAutoFit/>
          </a:bodyPr>
          <a:lstStyle/>
          <a:p>
            <a:pPr>
              <a:lnSpc>
                <a:spcPts val="3680"/>
              </a:lnSpc>
            </a:pPr>
            <a:r>
              <a:rPr lang="en-CA" sz="3040">
                <a:solidFill>
                  <a:srgbClr val="CC0000"/>
                </a:solidFill>
                <a:latin typeface="Times New Roman Bold Italic"/>
                <a:cs typeface="Times New Roman Bold Italic"/>
              </a:rPr>
              <a:t>Input:</a:t>
            </a:r>
            <a:r>
              <a:rPr lang="en-CA" sz="3040">
                <a:solidFill>
                  <a:srgbClr val="000000"/>
                </a:solidFill>
                <a:latin typeface="Times New Roman"/>
                <a:cs typeface="Times New Roman"/>
              </a:rPr>
              <a:t> sequence  </a:t>
            </a:r>
            <a:r>
              <a:rPr lang="en-CA" sz="3040">
                <a:solidFill>
                  <a:srgbClr val="9A9A00"/>
                </a:solidFill>
                <a:latin typeface="Times New Roman"/>
                <a:cs typeface="Times New Roman"/>
              </a:rPr>
              <a:t>〈</a:t>
            </a:r>
            <a:r>
              <a:rPr lang="en-CA" sz="3040">
                <a:solidFill>
                  <a:srgbClr val="9A9A00"/>
                </a:solidFill>
                <a:latin typeface="Times New Roman Italic"/>
                <a:cs typeface="Times New Roman Italic"/>
              </a:rPr>
              <a:t>a</a:t>
            </a:r>
            <a:r>
              <a:rPr lang="en-CA" sz="1996">
                <a:solidFill>
                  <a:srgbClr val="9A9A00"/>
                </a:solidFill>
                <a:latin typeface="Times New Roman"/>
                <a:cs typeface="Times New Roman"/>
              </a:rPr>
              <a:t>1</a:t>
            </a:r>
            <a:r>
              <a:rPr lang="en-CA" sz="3040">
                <a:solidFill>
                  <a:srgbClr val="9A9A00"/>
                </a:solidFill>
                <a:latin typeface="Times New Roman"/>
                <a:cs typeface="Times New Roman"/>
              </a:rPr>
              <a:t>, </a:t>
            </a:r>
            <a:r>
              <a:rPr lang="en-CA" sz="3040">
                <a:solidFill>
                  <a:srgbClr val="9A9A00"/>
                </a:solidFill>
                <a:latin typeface="Times New Roman Italic"/>
                <a:cs typeface="Times New Roman Italic"/>
              </a:rPr>
              <a:t>a</a:t>
            </a:r>
            <a:r>
              <a:rPr lang="en-CA" sz="1996">
                <a:solidFill>
                  <a:srgbClr val="9A9A00"/>
                </a:solidFill>
                <a:latin typeface="Times New Roman"/>
                <a:cs typeface="Times New Roman"/>
              </a:rPr>
              <a:t>2</a:t>
            </a:r>
            <a:r>
              <a:rPr lang="en-CA" sz="3040">
                <a:solidFill>
                  <a:srgbClr val="9A9A00"/>
                </a:solidFill>
                <a:latin typeface="Times New Roman"/>
                <a:cs typeface="Times New Roman"/>
              </a:rPr>
              <a:t>, …, </a:t>
            </a:r>
            <a:r>
              <a:rPr lang="en-CA" sz="3040">
                <a:solidFill>
                  <a:srgbClr val="9A9A00"/>
                </a:solidFill>
                <a:latin typeface="Times New Roman Italic"/>
                <a:cs typeface="Times New Roman Italic"/>
              </a:rPr>
              <a:t>a</a:t>
            </a:r>
            <a:r>
              <a:rPr lang="en-CA" sz="1996">
                <a:solidFill>
                  <a:srgbClr val="9A9A00"/>
                </a:solidFill>
                <a:latin typeface="Times New Roman Italic"/>
                <a:cs typeface="Times New Roman Italic"/>
              </a:rPr>
              <a:t>n</a:t>
            </a:r>
            <a:r>
              <a:rPr lang="en-CA" sz="3040">
                <a:solidFill>
                  <a:srgbClr val="9A9A00"/>
                </a:solidFill>
                <a:latin typeface="Times New Roman"/>
                <a:cs typeface="Times New Roman"/>
              </a:rPr>
              <a:t>〉</a:t>
            </a:r>
            <a:r>
              <a:rPr lang="en-CA" sz="3040">
                <a:solidFill>
                  <a:srgbClr val="000000"/>
                </a:solidFill>
                <a:latin typeface="Times New Roman"/>
                <a:cs typeface="Times New Roman"/>
              </a:rPr>
              <a:t> of numbers.</a:t>
            </a:r>
          </a:p>
          <a:p>
            <a:pPr>
              <a:lnSpc>
                <a:spcPts val="3680"/>
              </a:lnSpc>
            </a:pPr>
            <a:endParaRPr lang="en-CA" sz="3126">
              <a:solidFill>
                <a:srgbClr val="000000"/>
              </a:solidFill>
            </a:endParaRPr>
          </a:p>
        </p:txBody>
      </p:sp>
      <p:sp>
        <p:nvSpPr>
          <p:cNvPr id="4" name="TextBox 4"/>
          <p:cNvSpPr txBox="1"/>
          <p:nvPr/>
        </p:nvSpPr>
        <p:spPr>
          <a:xfrm>
            <a:off x="838200" y="2882900"/>
            <a:ext cx="8280400" cy="1130300"/>
          </a:xfrm>
          <a:prstGeom prst="rect">
            <a:avLst/>
          </a:prstGeom>
          <a:noFill/>
        </p:spPr>
        <p:txBody>
          <a:bodyPr vert="horz" wrap="none" lIns="0" tIns="0" rIns="0" bIns="0" rtlCol="0">
            <a:spAutoFit/>
          </a:bodyPr>
          <a:lstStyle/>
          <a:p>
            <a:pPr>
              <a:lnSpc>
                <a:spcPts val="3800"/>
              </a:lnSpc>
            </a:pPr>
            <a:r>
              <a:rPr lang="en-CA" sz="3040">
                <a:solidFill>
                  <a:srgbClr val="CC0000"/>
                </a:solidFill>
                <a:latin typeface="Times New Roman Bold Italic"/>
                <a:cs typeface="Times New Roman Bold Italic"/>
              </a:rPr>
              <a:t>Output:</a:t>
            </a:r>
            <a:r>
              <a:rPr lang="en-CA" sz="3040">
                <a:solidFill>
                  <a:srgbClr val="000000"/>
                </a:solidFill>
                <a:latin typeface="Times New Roman"/>
                <a:cs typeface="Times New Roman"/>
              </a:rPr>
              <a:t> permutation  </a:t>
            </a:r>
            <a:r>
              <a:rPr lang="en-CA" sz="3040">
                <a:solidFill>
                  <a:srgbClr val="9A9A00"/>
                </a:solidFill>
                <a:latin typeface="Times New Roman"/>
                <a:cs typeface="Times New Roman"/>
              </a:rPr>
              <a:t>〈</a:t>
            </a:r>
            <a:r>
              <a:rPr lang="en-CA" sz="3040">
                <a:solidFill>
                  <a:srgbClr val="9A9A00"/>
                </a:solidFill>
                <a:latin typeface="Times New Roman Italic"/>
                <a:cs typeface="Times New Roman Italic"/>
              </a:rPr>
              <a:t>a'</a:t>
            </a:r>
            <a:r>
              <a:rPr lang="en-CA" sz="1996">
                <a:solidFill>
                  <a:srgbClr val="9A9A00"/>
                </a:solidFill>
                <a:latin typeface="Times New Roman"/>
                <a:cs typeface="Times New Roman"/>
              </a:rPr>
              <a:t>1</a:t>
            </a:r>
            <a:r>
              <a:rPr lang="en-CA" sz="3040">
                <a:solidFill>
                  <a:srgbClr val="9A9A00"/>
                </a:solidFill>
                <a:latin typeface="Times New Roman Italic"/>
                <a:cs typeface="Times New Roman Italic"/>
              </a:rPr>
              <a:t>, a'</a:t>
            </a:r>
            <a:r>
              <a:rPr lang="en-CA" sz="1996">
                <a:solidFill>
                  <a:srgbClr val="9A9A00"/>
                </a:solidFill>
                <a:latin typeface="Times New Roman"/>
                <a:cs typeface="Times New Roman"/>
              </a:rPr>
              <a:t>2</a:t>
            </a:r>
            <a:r>
              <a:rPr lang="en-CA" sz="3040">
                <a:solidFill>
                  <a:srgbClr val="9A9A00"/>
                </a:solidFill>
                <a:latin typeface="Times New Roman Italic"/>
                <a:cs typeface="Times New Roman Italic"/>
              </a:rPr>
              <a:t>, </a:t>
            </a:r>
            <a:r>
              <a:rPr lang="en-CA" sz="3040">
                <a:solidFill>
                  <a:srgbClr val="9A9A00"/>
                </a:solidFill>
                <a:latin typeface="Times New Roman"/>
                <a:cs typeface="Times New Roman"/>
              </a:rPr>
              <a:t>…</a:t>
            </a:r>
            <a:r>
              <a:rPr lang="en-CA" sz="3040">
                <a:solidFill>
                  <a:srgbClr val="9A9A00"/>
                </a:solidFill>
                <a:latin typeface="Times New Roman Italic"/>
                <a:cs typeface="Times New Roman Italic"/>
              </a:rPr>
              <a:t>, a'</a:t>
            </a:r>
            <a:r>
              <a:rPr lang="en-CA" sz="1996">
                <a:solidFill>
                  <a:srgbClr val="9A9A00"/>
                </a:solidFill>
                <a:latin typeface="Times New Roman Italic"/>
                <a:cs typeface="Times New Roman Italic"/>
              </a:rPr>
              <a:t>n</a:t>
            </a:r>
            <a:r>
              <a:rPr lang="en-CA" sz="3040">
                <a:solidFill>
                  <a:srgbClr val="9A9A00"/>
                </a:solidFill>
                <a:latin typeface="Times New Roman"/>
                <a:cs typeface="Times New Roman"/>
              </a:rPr>
              <a:t>〉</a:t>
            </a:r>
            <a:r>
              <a:rPr lang="en-CA" sz="3040">
                <a:solidFill>
                  <a:srgbClr val="000000"/>
                </a:solidFill>
                <a:latin typeface="Times New Roman"/>
                <a:cs typeface="Times New Roman"/>
              </a:rPr>
              <a:t> such</a:t>
            </a:r>
            <a:br>
              <a:rPr lang="en-CA" sz="3056">
                <a:solidFill>
                  <a:srgbClr val="000000"/>
                </a:solidFill>
                <a:latin typeface="Times New Roman"/>
              </a:rPr>
            </a:br>
            <a:r>
              <a:rPr lang="en-CA" sz="3040">
                <a:solidFill>
                  <a:srgbClr val="000000"/>
                </a:solidFill>
                <a:latin typeface="Times New Roman"/>
                <a:cs typeface="Times New Roman"/>
              </a:rPr>
              <a:t>that  </a:t>
            </a:r>
            <a:r>
              <a:rPr lang="en-CA" sz="3040">
                <a:solidFill>
                  <a:srgbClr val="9A9A00"/>
                </a:solidFill>
                <a:latin typeface="Times New Roman Italic"/>
                <a:cs typeface="Times New Roman Italic"/>
              </a:rPr>
              <a:t>a'</a:t>
            </a:r>
            <a:r>
              <a:rPr lang="en-CA" sz="1996">
                <a:solidFill>
                  <a:srgbClr val="9A9A00"/>
                </a:solidFill>
                <a:latin typeface="Times New Roman"/>
                <a:cs typeface="Times New Roman"/>
              </a:rPr>
              <a:t>1</a:t>
            </a:r>
            <a:r>
              <a:rPr lang="en-CA" sz="3040">
                <a:solidFill>
                  <a:srgbClr val="9A9A00"/>
                </a:solidFill>
                <a:latin typeface="Times New Roman"/>
                <a:cs typeface="Times New Roman"/>
              </a:rPr>
              <a:t> ≤</a:t>
            </a:r>
            <a:r>
              <a:rPr lang="en-CA" sz="3040">
                <a:solidFill>
                  <a:srgbClr val="9A9A00"/>
                </a:solidFill>
                <a:latin typeface="Times New Roman Italic"/>
                <a:cs typeface="Times New Roman Italic"/>
              </a:rPr>
              <a:t> a'</a:t>
            </a:r>
            <a:r>
              <a:rPr lang="en-CA" sz="1996">
                <a:solidFill>
                  <a:srgbClr val="9A9A00"/>
                </a:solidFill>
                <a:latin typeface="Times New Roman"/>
                <a:cs typeface="Times New Roman"/>
              </a:rPr>
              <a:t>2</a:t>
            </a:r>
            <a:r>
              <a:rPr lang="en-CA" sz="3040">
                <a:solidFill>
                  <a:srgbClr val="9A9A00"/>
                </a:solidFill>
                <a:latin typeface="Times New Roman"/>
                <a:cs typeface="Times New Roman"/>
              </a:rPr>
              <a:t> ≤</a:t>
            </a:r>
            <a:r>
              <a:rPr lang="en-CA" sz="2755">
                <a:solidFill>
                  <a:srgbClr val="9A9A00"/>
                </a:solidFill>
                <a:latin typeface="Times New Roman"/>
                <a:cs typeface="Times New Roman"/>
              </a:rPr>
              <a:t> …</a:t>
            </a:r>
            <a:r>
              <a:rPr lang="en-CA" sz="3040">
                <a:solidFill>
                  <a:srgbClr val="9A9A00"/>
                </a:solidFill>
                <a:latin typeface="Times New Roman"/>
                <a:cs typeface="Times New Roman"/>
              </a:rPr>
              <a:t> ≤</a:t>
            </a:r>
            <a:r>
              <a:rPr lang="en-CA" sz="3040">
                <a:solidFill>
                  <a:srgbClr val="9A9A00"/>
                </a:solidFill>
                <a:latin typeface="Times New Roman Italic"/>
                <a:cs typeface="Times New Roman Italic"/>
              </a:rPr>
              <a:t> a'</a:t>
            </a:r>
            <a:r>
              <a:rPr lang="en-CA" sz="1996">
                <a:solidFill>
                  <a:srgbClr val="9A9A00"/>
                </a:solidFill>
                <a:latin typeface="Times New Roman Italic"/>
                <a:cs typeface="Times New Roman Italic"/>
              </a:rPr>
              <a:t>n</a:t>
            </a:r>
            <a:r>
              <a:rPr lang="en-CA" sz="3040">
                <a:solidFill>
                  <a:srgbClr val="000000"/>
                </a:solidFill>
                <a:latin typeface="Times New Roman"/>
                <a:cs typeface="Times New Roman"/>
              </a:rPr>
              <a:t> .</a:t>
            </a:r>
          </a:p>
          <a:p>
            <a:pPr>
              <a:lnSpc>
                <a:spcPts val="3800"/>
              </a:lnSpc>
            </a:pPr>
            <a:endParaRPr lang="en-CA" sz="3056">
              <a:solidFill>
                <a:srgbClr val="000000"/>
              </a:solidFill>
            </a:endParaRPr>
          </a:p>
        </p:txBody>
      </p:sp>
      <p:sp>
        <p:nvSpPr>
          <p:cNvPr id="5" name="TextBox 5"/>
          <p:cNvSpPr txBox="1"/>
          <p:nvPr/>
        </p:nvSpPr>
        <p:spPr>
          <a:xfrm>
            <a:off x="2476500" y="4305300"/>
            <a:ext cx="6642100" cy="609600"/>
          </a:xfrm>
          <a:prstGeom prst="rect">
            <a:avLst/>
          </a:prstGeom>
          <a:noFill/>
        </p:spPr>
        <p:txBody>
          <a:bodyPr vert="horz" wrap="none" lIns="0" tIns="0" rIns="0" bIns="0" rtlCol="0">
            <a:spAutoFit/>
          </a:bodyPr>
          <a:lstStyle/>
          <a:p>
            <a:pPr>
              <a:lnSpc>
                <a:spcPts val="3680"/>
              </a:lnSpc>
            </a:pPr>
            <a:r>
              <a:rPr lang="en-CA" sz="3050" b="1">
                <a:solidFill>
                  <a:srgbClr val="000000"/>
                </a:solidFill>
                <a:latin typeface="Times New Roman Bold"/>
                <a:cs typeface="Times New Roman Bold"/>
              </a:rPr>
              <a:t>Example:</a:t>
            </a:r>
          </a:p>
          <a:p>
            <a:pPr>
              <a:lnSpc>
                <a:spcPts val="3680"/>
              </a:lnSpc>
            </a:pPr>
            <a:endParaRPr lang="en-CA" sz="3201">
              <a:solidFill>
                <a:srgbClr val="000000"/>
              </a:solidFill>
            </a:endParaRPr>
          </a:p>
        </p:txBody>
      </p:sp>
      <p:sp>
        <p:nvSpPr>
          <p:cNvPr id="6" name="TextBox 6"/>
          <p:cNvSpPr txBox="1"/>
          <p:nvPr/>
        </p:nvSpPr>
        <p:spPr>
          <a:xfrm>
            <a:off x="2882900" y="4711700"/>
            <a:ext cx="6235700" cy="1435100"/>
          </a:xfrm>
          <a:prstGeom prst="rect">
            <a:avLst/>
          </a:prstGeom>
          <a:noFill/>
        </p:spPr>
        <p:txBody>
          <a:bodyPr vert="horz" wrap="none" lIns="0" tIns="0" rIns="0" bIns="0" rtlCol="0">
            <a:spAutoFit/>
          </a:bodyPr>
          <a:lstStyle/>
          <a:p>
            <a:pPr>
              <a:lnSpc>
                <a:spcPts val="5400"/>
              </a:lnSpc>
            </a:pPr>
            <a:r>
              <a:rPr lang="en-CA" sz="3040">
                <a:solidFill>
                  <a:srgbClr val="CC0000"/>
                </a:solidFill>
                <a:latin typeface="Times New Roman Bold Italic"/>
                <a:cs typeface="Times New Roman Bold Italic"/>
              </a:rPr>
              <a:t>Input:</a:t>
            </a:r>
            <a:r>
              <a:rPr lang="en-CA" sz="3040">
                <a:solidFill>
                  <a:srgbClr val="9A9A00"/>
                </a:solidFill>
                <a:latin typeface="Times New Roman"/>
                <a:cs typeface="Times New Roman"/>
              </a:rPr>
              <a:t> 8  2  4  9  3  6</a:t>
            </a:r>
            <a:br>
              <a:rPr lang="en-CA" sz="3201">
                <a:solidFill>
                  <a:srgbClr val="000000"/>
                </a:solidFill>
                <a:latin typeface="Times New Roman"/>
              </a:rPr>
            </a:br>
            <a:r>
              <a:rPr lang="en-CA" sz="3040">
                <a:solidFill>
                  <a:srgbClr val="CC0000"/>
                </a:solidFill>
                <a:latin typeface="Times New Roman Bold Italic"/>
                <a:cs typeface="Times New Roman Bold Italic"/>
              </a:rPr>
              <a:t>Output:</a:t>
            </a:r>
            <a:r>
              <a:rPr lang="en-CA" sz="3040">
                <a:solidFill>
                  <a:srgbClr val="9A9A00"/>
                </a:solidFill>
                <a:latin typeface="Times New Roman"/>
                <a:cs typeface="Times New Roman"/>
              </a:rPr>
              <a:t> 2  3  4  6  8  9</a:t>
            </a:r>
          </a:p>
          <a:p>
            <a:pPr>
              <a:lnSpc>
                <a:spcPts val="5400"/>
              </a:lnSpc>
            </a:pPr>
            <a:endParaRPr lang="en-CA" sz="3201">
              <a:solidFill>
                <a:srgbClr val="000000"/>
              </a:solidFill>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5907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8013700" y="6578600"/>
            <a:ext cx="5842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a:t>
            </a:r>
          </a:p>
          <a:p>
            <a:pPr>
              <a:lnSpc>
                <a:spcPts val="1610"/>
              </a:lnSpc>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2732" y="58714"/>
            <a:ext cx="9118600" cy="6832600"/>
          </a:xfrm>
          <a:prstGeom prst="rect">
            <a:avLst/>
          </a:prstGeom>
        </p:spPr>
      </p:pic>
      <p:sp>
        <p:nvSpPr>
          <p:cNvPr id="13"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Insertion sort</a:t>
            </a:r>
          </a:p>
          <a:p>
            <a:pPr>
              <a:lnSpc>
                <a:spcPts val="5060"/>
              </a:lnSpc>
            </a:pPr>
            <a:endParaRPr lang="en-CA" sz="4402">
              <a:solidFill>
                <a:srgbClr val="000000"/>
              </a:solidFill>
            </a:endParaRPr>
          </a:p>
        </p:txBody>
      </p:sp>
      <p:sp>
        <p:nvSpPr>
          <p:cNvPr id="3" name="TextBox 3"/>
          <p:cNvSpPr txBox="1"/>
          <p:nvPr/>
        </p:nvSpPr>
        <p:spPr>
          <a:xfrm>
            <a:off x="17450" y="2768600"/>
            <a:ext cx="2755900" cy="685800"/>
          </a:xfrm>
          <a:prstGeom prst="rect">
            <a:avLst/>
          </a:prstGeom>
          <a:noFill/>
        </p:spPr>
        <p:txBody>
          <a:bodyPr vert="horz" wrap="none" lIns="0" tIns="0" rIns="0" bIns="0" rtlCol="0">
            <a:spAutoFit/>
          </a:bodyPr>
          <a:lstStyle/>
          <a:p>
            <a:pPr>
              <a:lnSpc>
                <a:spcPts val="3700"/>
              </a:lnSpc>
            </a:pPr>
            <a:r>
              <a:rPr lang="en-CA" sz="3201" dirty="0">
                <a:solidFill>
                  <a:srgbClr val="CC0000"/>
                </a:solidFill>
                <a:latin typeface="Times New Roman"/>
                <a:cs typeface="Times New Roman"/>
              </a:rPr>
              <a:t>“</a:t>
            </a:r>
            <a:r>
              <a:rPr lang="en-CA" sz="3201" dirty="0" err="1">
                <a:solidFill>
                  <a:srgbClr val="CC0000"/>
                </a:solidFill>
                <a:latin typeface="Times New Roman"/>
                <a:cs typeface="Times New Roman"/>
              </a:rPr>
              <a:t>pseudocode</a:t>
            </a:r>
            <a:r>
              <a:rPr lang="en-CA" sz="3201" dirty="0">
                <a:solidFill>
                  <a:srgbClr val="CC0000"/>
                </a:solidFill>
                <a:latin typeface="Times New Roman"/>
                <a:cs typeface="Times New Roman"/>
              </a:rPr>
              <a:t>”</a:t>
            </a:r>
          </a:p>
          <a:p>
            <a:pPr>
              <a:lnSpc>
                <a:spcPts val="3680"/>
              </a:lnSpc>
            </a:pPr>
            <a:endParaRPr lang="en-CA" sz="3201" dirty="0">
              <a:solidFill>
                <a:srgbClr val="000000"/>
              </a:solidFill>
            </a:endParaRPr>
          </a:p>
        </p:txBody>
      </p:sp>
      <p:sp>
        <p:nvSpPr>
          <p:cNvPr id="4" name="TextBox 4"/>
          <p:cNvSpPr txBox="1"/>
          <p:nvPr/>
        </p:nvSpPr>
        <p:spPr>
          <a:xfrm>
            <a:off x="3581400" y="1549400"/>
            <a:ext cx="3300584" cy="705321"/>
          </a:xfrm>
          <a:prstGeom prst="rect">
            <a:avLst/>
          </a:prstGeom>
          <a:noFill/>
        </p:spPr>
        <p:txBody>
          <a:bodyPr vert="horz" wrap="none" lIns="0" tIns="0" rIns="0" bIns="0" rtlCol="0">
            <a:spAutoFit/>
          </a:bodyPr>
          <a:lstStyle/>
          <a:p>
            <a:pPr>
              <a:lnSpc>
                <a:spcPts val="2700"/>
              </a:lnSpc>
              <a:tabLst>
                <a:tab pos="3200400" algn="l"/>
              </a:tabLst>
            </a:pPr>
            <a:r>
              <a:rPr lang="en-CA" sz="1600" dirty="0">
                <a:solidFill>
                  <a:srgbClr val="000000"/>
                </a:solidFill>
                <a:latin typeface="Times New Roman"/>
                <a:cs typeface="Times New Roman"/>
              </a:rPr>
              <a:t>INSERTION-SORT </a:t>
            </a:r>
            <a:r>
              <a:rPr lang="en-CA" sz="1600" dirty="0">
                <a:solidFill>
                  <a:srgbClr val="9A9A00"/>
                </a:solidFill>
                <a:latin typeface="Times New Roman"/>
                <a:cs typeface="Times New Roman"/>
              </a:rPr>
              <a:t>(</a:t>
            </a:r>
            <a:r>
              <a:rPr lang="en-CA" sz="1600" dirty="0">
                <a:solidFill>
                  <a:srgbClr val="9A9A00"/>
                </a:solidFill>
                <a:latin typeface="Times New Roman Italic"/>
                <a:cs typeface="Times New Roman Italic"/>
              </a:rPr>
              <a:t>A</a:t>
            </a:r>
            <a:r>
              <a:rPr lang="en-CA" sz="1600" dirty="0">
                <a:solidFill>
                  <a:srgbClr val="9A9A00"/>
                </a:solidFill>
                <a:latin typeface="Times New Roman"/>
                <a:cs typeface="Times New Roman"/>
              </a:rPr>
              <a:t>, </a:t>
            </a:r>
            <a:r>
              <a:rPr lang="en-CA" sz="1600" dirty="0">
                <a:solidFill>
                  <a:srgbClr val="9A9A00"/>
                </a:solidFill>
                <a:latin typeface="Times New Roman Italic"/>
                <a:cs typeface="Times New Roman Italic"/>
              </a:rPr>
              <a:t>n</a:t>
            </a:r>
            <a:r>
              <a:rPr lang="en-CA" sz="1600" dirty="0">
                <a:solidFill>
                  <a:srgbClr val="9A9A00"/>
                </a:solidFill>
                <a:latin typeface="Times New Roman"/>
                <a:cs typeface="Times New Roman"/>
              </a:rPr>
              <a:t>)</a:t>
            </a:r>
            <a:r>
              <a:rPr lang="en-CA" sz="1600" dirty="0">
                <a:solidFill>
                  <a:srgbClr val="CC0000"/>
                </a:solidFill>
                <a:latin typeface="Arial Unicode MS"/>
                <a:cs typeface="Arial Unicode MS"/>
              </a:rPr>
              <a:t>⊳</a:t>
            </a:r>
            <a:r>
              <a:rPr lang="en-CA" sz="1600" dirty="0">
                <a:solidFill>
                  <a:srgbClr val="9A9A00"/>
                </a:solidFill>
                <a:latin typeface="Times New Roman Italic"/>
                <a:cs typeface="Times New Roman Italic"/>
              </a:rPr>
              <a:t> A</a:t>
            </a:r>
            <a:r>
              <a:rPr lang="en-CA" sz="1600" dirty="0">
                <a:solidFill>
                  <a:srgbClr val="9A9A00"/>
                </a:solidFill>
                <a:latin typeface="Times New Roman"/>
                <a:cs typeface="Times New Roman"/>
              </a:rPr>
              <a:t>[1 . . </a:t>
            </a:r>
            <a:r>
              <a:rPr lang="en-CA" sz="1600" dirty="0">
                <a:solidFill>
                  <a:srgbClr val="9A9A00"/>
                </a:solidFill>
                <a:latin typeface="Times New Roman Italic"/>
                <a:cs typeface="Times New Roman Italic"/>
              </a:rPr>
              <a:t>n</a:t>
            </a:r>
            <a:r>
              <a:rPr lang="en-CA" sz="1600" dirty="0">
                <a:solidFill>
                  <a:srgbClr val="9A9A00"/>
                </a:solidFill>
                <a:latin typeface="Times New Roman"/>
                <a:cs typeface="Times New Roman"/>
              </a:rPr>
              <a:t>	]</a:t>
            </a:r>
          </a:p>
          <a:p>
            <a:pPr>
              <a:lnSpc>
                <a:spcPts val="2760"/>
              </a:lnSpc>
            </a:pPr>
            <a:endParaRPr lang="en-CA" sz="1600" dirty="0">
              <a:solidFill>
                <a:srgbClr val="000000"/>
              </a:solidFill>
            </a:endParaRPr>
          </a:p>
        </p:txBody>
      </p:sp>
      <p:sp>
        <p:nvSpPr>
          <p:cNvPr id="5" name="TextBox 5"/>
          <p:cNvSpPr txBox="1"/>
          <p:nvPr/>
        </p:nvSpPr>
        <p:spPr>
          <a:xfrm>
            <a:off x="3924300" y="1930400"/>
            <a:ext cx="2664832" cy="743793"/>
          </a:xfrm>
          <a:prstGeom prst="rect">
            <a:avLst/>
          </a:prstGeom>
          <a:noFill/>
        </p:spPr>
        <p:txBody>
          <a:bodyPr vert="horz" wrap="none" lIns="0" tIns="0" rIns="0" bIns="0" rtlCol="0">
            <a:spAutoFit/>
          </a:bodyPr>
          <a:lstStyle/>
          <a:p>
            <a:pPr>
              <a:lnSpc>
                <a:spcPts val="2900"/>
              </a:lnSpc>
              <a:tabLst>
                <a:tab pos="698500" algn="l"/>
              </a:tabLst>
            </a:pPr>
            <a:r>
              <a:rPr lang="en-CA" sz="2412" b="1" dirty="0">
                <a:solidFill>
                  <a:srgbClr val="000000"/>
                </a:solidFill>
                <a:latin typeface="Times New Roman Bold"/>
                <a:cs typeface="Times New Roman Bold"/>
              </a:rPr>
              <a:t>for</a:t>
            </a:r>
            <a:r>
              <a:rPr lang="en-CA" sz="2402" dirty="0">
                <a:solidFill>
                  <a:srgbClr val="9A9A00"/>
                </a:solidFill>
                <a:latin typeface="Times New Roman Italic"/>
                <a:cs typeface="Times New Roman Italic"/>
              </a:rPr>
              <a:t> j </a:t>
            </a:r>
            <a:r>
              <a:rPr lang="en-CA" sz="2402" dirty="0">
                <a:solidFill>
                  <a:srgbClr val="9A9A00"/>
                </a:solidFill>
                <a:latin typeface="Times New Roman"/>
                <a:cs typeface="Times New Roman"/>
              </a:rPr>
              <a:t>← 2</a:t>
            </a:r>
            <a:r>
              <a:rPr lang="en-CA" sz="2412" b="1" dirty="0">
                <a:solidFill>
                  <a:srgbClr val="000000"/>
                </a:solidFill>
                <a:latin typeface="Times New Roman Bold"/>
                <a:cs typeface="Times New Roman Bold"/>
              </a:rPr>
              <a:t> to</a:t>
            </a:r>
            <a:r>
              <a:rPr lang="en-CA" sz="2402" dirty="0">
                <a:solidFill>
                  <a:srgbClr val="9A9A00"/>
                </a:solidFill>
                <a:latin typeface="Times New Roman Italic"/>
                <a:cs typeface="Times New Roman Italic"/>
              </a:rPr>
              <a:t> n</a:t>
            </a:r>
            <a:br>
              <a:rPr lang="en-CA" sz="2402" dirty="0">
                <a:solidFill>
                  <a:srgbClr val="000000"/>
                </a:solidFill>
                <a:latin typeface="Times New Roman"/>
              </a:rPr>
            </a:br>
            <a:r>
              <a:rPr lang="en-CA" sz="2412" b="1" dirty="0">
                <a:solidFill>
                  <a:srgbClr val="000000"/>
                </a:solidFill>
                <a:latin typeface="Times New Roman Bold"/>
                <a:cs typeface="Times New Roman Bold"/>
              </a:rPr>
              <a:t>	do</a:t>
            </a:r>
            <a:r>
              <a:rPr lang="en-CA" sz="2402" dirty="0">
                <a:solidFill>
                  <a:srgbClr val="9A9A00"/>
                </a:solidFill>
                <a:latin typeface="Times New Roman Italic"/>
                <a:cs typeface="Times New Roman Italic"/>
              </a:rPr>
              <a:t> key ← A</a:t>
            </a:r>
            <a:r>
              <a:rPr lang="en-CA" sz="2402" dirty="0">
                <a:solidFill>
                  <a:srgbClr val="9A9A00"/>
                </a:solidFill>
                <a:latin typeface="Times New Roman"/>
                <a:cs typeface="Times New Roman"/>
              </a:rPr>
              <a:t>[ </a:t>
            </a:r>
            <a:r>
              <a:rPr lang="en-CA" sz="2402" dirty="0">
                <a:solidFill>
                  <a:srgbClr val="9A9A00"/>
                </a:solidFill>
                <a:latin typeface="Times New Roman Italic"/>
                <a:cs typeface="Times New Roman Italic"/>
              </a:rPr>
              <a:t>j</a:t>
            </a:r>
            <a:r>
              <a:rPr lang="en-CA" sz="2402" dirty="0">
                <a:solidFill>
                  <a:srgbClr val="9A9A00"/>
                </a:solidFill>
                <a:latin typeface="Times New Roman"/>
                <a:cs typeface="Times New Roman"/>
              </a:rPr>
              <a:t>]</a:t>
            </a:r>
          </a:p>
        </p:txBody>
      </p:sp>
      <p:sp>
        <p:nvSpPr>
          <p:cNvPr id="6" name="TextBox 6"/>
          <p:cNvSpPr txBox="1"/>
          <p:nvPr/>
        </p:nvSpPr>
        <p:spPr>
          <a:xfrm>
            <a:off x="5067300" y="2679700"/>
            <a:ext cx="3937000" cy="508000"/>
          </a:xfrm>
          <a:prstGeom prst="rect">
            <a:avLst/>
          </a:prstGeom>
          <a:noFill/>
        </p:spPr>
        <p:txBody>
          <a:bodyPr vert="horz" wrap="none" lIns="0" tIns="0" rIns="0" bIns="0" rtlCol="0">
            <a:spAutoFit/>
          </a:bodyPr>
          <a:lstStyle/>
          <a:p>
            <a:pPr>
              <a:lnSpc>
                <a:spcPts val="2700"/>
              </a:lnSpc>
            </a:pPr>
            <a:r>
              <a:rPr lang="en-CA" sz="2402">
                <a:solidFill>
                  <a:srgbClr val="9A9A00"/>
                </a:solidFill>
                <a:latin typeface="Times New Roman Italic"/>
                <a:cs typeface="Times New Roman Italic"/>
              </a:rPr>
              <a:t>i ← j -</a:t>
            </a:r>
            <a:r>
              <a:rPr lang="en-CA" sz="2402">
                <a:solidFill>
                  <a:srgbClr val="9A9A00"/>
                </a:solidFill>
                <a:latin typeface="Times New Roman"/>
                <a:cs typeface="Times New Roman"/>
              </a:rPr>
              <a:t> 1</a:t>
            </a:r>
          </a:p>
          <a:p>
            <a:pPr>
              <a:lnSpc>
                <a:spcPts val="2760"/>
              </a:lnSpc>
            </a:pPr>
            <a:endParaRPr lang="en-CA" sz="2402">
              <a:solidFill>
                <a:srgbClr val="000000"/>
              </a:solidFill>
            </a:endParaRPr>
          </a:p>
        </p:txBody>
      </p:sp>
      <p:sp>
        <p:nvSpPr>
          <p:cNvPr id="7" name="TextBox 7"/>
          <p:cNvSpPr txBox="1"/>
          <p:nvPr/>
        </p:nvSpPr>
        <p:spPr>
          <a:xfrm>
            <a:off x="5067300" y="3035300"/>
            <a:ext cx="3317255" cy="1115690"/>
          </a:xfrm>
          <a:prstGeom prst="rect">
            <a:avLst/>
          </a:prstGeom>
          <a:noFill/>
        </p:spPr>
        <p:txBody>
          <a:bodyPr vert="horz" wrap="none" lIns="0" tIns="0" rIns="0" bIns="0" rtlCol="0">
            <a:spAutoFit/>
          </a:bodyPr>
          <a:lstStyle/>
          <a:p>
            <a:pPr>
              <a:lnSpc>
                <a:spcPts val="2900"/>
              </a:lnSpc>
              <a:tabLst>
                <a:tab pos="698500" algn="l"/>
              </a:tabLst>
            </a:pPr>
            <a:r>
              <a:rPr lang="en-CA" sz="2412" b="1" dirty="0">
                <a:solidFill>
                  <a:srgbClr val="000000"/>
                </a:solidFill>
                <a:latin typeface="Times New Roman Bold"/>
                <a:cs typeface="Times New Roman Bold"/>
              </a:rPr>
              <a:t>while</a:t>
            </a:r>
            <a:r>
              <a:rPr lang="en-CA" sz="2402" dirty="0">
                <a:solidFill>
                  <a:srgbClr val="9A9A00"/>
                </a:solidFill>
                <a:latin typeface="Times New Roman Italic"/>
                <a:cs typeface="Times New Roman Italic"/>
              </a:rPr>
              <a:t> </a:t>
            </a:r>
            <a:r>
              <a:rPr lang="en-CA" sz="2402" dirty="0" err="1">
                <a:solidFill>
                  <a:srgbClr val="9A9A00"/>
                </a:solidFill>
                <a:latin typeface="Times New Roman Italic"/>
                <a:cs typeface="Times New Roman Italic"/>
              </a:rPr>
              <a:t>i</a:t>
            </a:r>
            <a:r>
              <a:rPr lang="en-CA" sz="2402" dirty="0">
                <a:solidFill>
                  <a:srgbClr val="9A9A00"/>
                </a:solidFill>
                <a:latin typeface="Times New Roman Italic"/>
                <a:cs typeface="Times New Roman Italic"/>
              </a:rPr>
              <a:t> &gt; </a:t>
            </a:r>
            <a:r>
              <a:rPr lang="en-CA" sz="2402" dirty="0">
                <a:solidFill>
                  <a:srgbClr val="9A9A00"/>
                </a:solidFill>
                <a:latin typeface="Times New Roman"/>
                <a:cs typeface="Times New Roman"/>
              </a:rPr>
              <a:t>0</a:t>
            </a:r>
            <a:r>
              <a:rPr lang="en-CA" sz="2402" dirty="0">
                <a:solidFill>
                  <a:srgbClr val="000000"/>
                </a:solidFill>
                <a:latin typeface="Times New Roman"/>
                <a:cs typeface="Times New Roman"/>
              </a:rPr>
              <a:t> and </a:t>
            </a:r>
            <a:r>
              <a:rPr lang="en-CA" sz="2402" dirty="0">
                <a:solidFill>
                  <a:srgbClr val="9A9A00"/>
                </a:solidFill>
                <a:latin typeface="Times New Roman Italic"/>
                <a:cs typeface="Times New Roman Italic"/>
              </a:rPr>
              <a:t>A</a:t>
            </a:r>
            <a:r>
              <a:rPr lang="en-CA" sz="2402" dirty="0">
                <a:solidFill>
                  <a:srgbClr val="9A9A00"/>
                </a:solidFill>
                <a:latin typeface="Times New Roman"/>
                <a:cs typeface="Times New Roman"/>
              </a:rPr>
              <a:t>[</a:t>
            </a:r>
            <a:r>
              <a:rPr lang="en-CA" sz="2402" dirty="0" err="1">
                <a:solidFill>
                  <a:srgbClr val="9A9A00"/>
                </a:solidFill>
                <a:latin typeface="Times New Roman Italic"/>
                <a:cs typeface="Times New Roman Italic"/>
              </a:rPr>
              <a:t>i</a:t>
            </a:r>
            <a:r>
              <a:rPr lang="en-CA" sz="2402" dirty="0">
                <a:solidFill>
                  <a:srgbClr val="9A9A00"/>
                </a:solidFill>
                <a:latin typeface="Times New Roman"/>
                <a:cs typeface="Times New Roman"/>
              </a:rPr>
              <a:t>] &gt; </a:t>
            </a:r>
            <a:r>
              <a:rPr lang="en-CA" sz="2402" dirty="0">
                <a:solidFill>
                  <a:srgbClr val="9A9A00"/>
                </a:solidFill>
                <a:latin typeface="Times New Roman Italic"/>
                <a:cs typeface="Times New Roman Italic"/>
              </a:rPr>
              <a:t>key</a:t>
            </a:r>
            <a:br>
              <a:rPr lang="en-CA" sz="2402" dirty="0">
                <a:solidFill>
                  <a:srgbClr val="000000"/>
                </a:solidFill>
                <a:latin typeface="Times New Roman"/>
              </a:rPr>
            </a:br>
            <a:r>
              <a:rPr lang="en-CA" sz="2412" b="1" dirty="0">
                <a:solidFill>
                  <a:srgbClr val="000000"/>
                </a:solidFill>
                <a:latin typeface="Times New Roman Bold"/>
                <a:cs typeface="Times New Roman Bold"/>
              </a:rPr>
              <a:t>	</a:t>
            </a:r>
            <a:r>
              <a:rPr lang="en-CA" sz="2412" b="1">
                <a:solidFill>
                  <a:srgbClr val="000000"/>
                </a:solidFill>
                <a:latin typeface="Times New Roman Bold"/>
                <a:cs typeface="Times New Roman Bold"/>
              </a:rPr>
              <a:t>do</a:t>
            </a:r>
            <a:r>
              <a:rPr lang="en-CA" sz="2402">
                <a:solidFill>
                  <a:srgbClr val="9A9A00"/>
                </a:solidFill>
                <a:latin typeface="Times New Roman Italic"/>
                <a:cs typeface="Times New Roman Italic"/>
              </a:rPr>
              <a:t> A</a:t>
            </a:r>
            <a:r>
              <a:rPr lang="en-CA" sz="2402">
                <a:solidFill>
                  <a:srgbClr val="9A9A00"/>
                </a:solidFill>
                <a:latin typeface="Times New Roman"/>
                <a:cs typeface="Times New Roman"/>
              </a:rPr>
              <a:t>[</a:t>
            </a:r>
            <a:r>
              <a:rPr lang="en-CA" sz="2402">
                <a:solidFill>
                  <a:srgbClr val="9A9A00"/>
                </a:solidFill>
                <a:latin typeface="Times New Roman Italic"/>
                <a:cs typeface="Times New Roman Italic"/>
              </a:rPr>
              <a:t>i+</a:t>
            </a:r>
            <a:r>
              <a:rPr lang="en-CA" sz="2402">
                <a:solidFill>
                  <a:srgbClr val="9A9A00"/>
                </a:solidFill>
                <a:latin typeface="Times New Roman"/>
                <a:cs typeface="Times New Roman"/>
              </a:rPr>
              <a:t>1</a:t>
            </a:r>
            <a:r>
              <a:rPr lang="en-CA" sz="2402" dirty="0">
                <a:solidFill>
                  <a:srgbClr val="9A9A00"/>
                </a:solidFill>
                <a:latin typeface="Times New Roman"/>
                <a:cs typeface="Times New Roman"/>
              </a:rPr>
              <a:t>] ←</a:t>
            </a:r>
            <a:r>
              <a:rPr lang="en-CA" sz="2402" dirty="0">
                <a:solidFill>
                  <a:srgbClr val="9A9A00"/>
                </a:solidFill>
                <a:latin typeface="Times New Roman Italic"/>
                <a:cs typeface="Times New Roman Italic"/>
              </a:rPr>
              <a:t> A</a:t>
            </a:r>
            <a:r>
              <a:rPr lang="en-CA" sz="2402" dirty="0">
                <a:solidFill>
                  <a:srgbClr val="9A9A00"/>
                </a:solidFill>
                <a:latin typeface="Times New Roman"/>
                <a:cs typeface="Times New Roman"/>
              </a:rPr>
              <a:t>[</a:t>
            </a:r>
            <a:r>
              <a:rPr lang="en-CA" sz="2402" dirty="0" err="1">
                <a:solidFill>
                  <a:srgbClr val="9A9A00"/>
                </a:solidFill>
                <a:latin typeface="Times New Roman Italic"/>
                <a:cs typeface="Times New Roman Italic"/>
              </a:rPr>
              <a:t>i</a:t>
            </a:r>
            <a:r>
              <a:rPr lang="en-CA" sz="2402" dirty="0">
                <a:solidFill>
                  <a:srgbClr val="9A9A00"/>
                </a:solidFill>
                <a:latin typeface="Times New Roman"/>
                <a:cs typeface="Times New Roman"/>
              </a:rPr>
              <a:t>]</a:t>
            </a:r>
          </a:p>
          <a:p>
            <a:pPr>
              <a:lnSpc>
                <a:spcPts val="2870"/>
              </a:lnSpc>
            </a:pPr>
            <a:endParaRPr lang="en-CA" sz="2402" dirty="0">
              <a:solidFill>
                <a:srgbClr val="000000"/>
              </a:solidFill>
            </a:endParaRPr>
          </a:p>
        </p:txBody>
      </p:sp>
      <p:sp>
        <p:nvSpPr>
          <p:cNvPr id="8" name="TextBox 8"/>
          <p:cNvSpPr txBox="1"/>
          <p:nvPr/>
        </p:nvSpPr>
        <p:spPr>
          <a:xfrm>
            <a:off x="5067300" y="3759200"/>
            <a:ext cx="3937000" cy="863600"/>
          </a:xfrm>
          <a:prstGeom prst="rect">
            <a:avLst/>
          </a:prstGeom>
          <a:noFill/>
        </p:spPr>
        <p:txBody>
          <a:bodyPr vert="horz" wrap="none" lIns="0" tIns="0" rIns="0" bIns="0" rtlCol="0">
            <a:spAutoFit/>
          </a:bodyPr>
          <a:lstStyle/>
          <a:p>
            <a:pPr indent="1142995">
              <a:lnSpc>
                <a:spcPts val="2900"/>
              </a:lnSpc>
            </a:pPr>
            <a:r>
              <a:rPr lang="en-CA" sz="2402" dirty="0" err="1">
                <a:solidFill>
                  <a:srgbClr val="9A9A00"/>
                </a:solidFill>
                <a:latin typeface="Times New Roman Italic"/>
                <a:cs typeface="Times New Roman Italic"/>
              </a:rPr>
              <a:t>i</a:t>
            </a:r>
            <a:r>
              <a:rPr lang="en-CA" sz="2402" dirty="0">
                <a:solidFill>
                  <a:srgbClr val="9A9A00"/>
                </a:solidFill>
                <a:latin typeface="Times New Roman Italic"/>
                <a:cs typeface="Times New Roman Italic"/>
              </a:rPr>
              <a:t> ← </a:t>
            </a:r>
            <a:r>
              <a:rPr lang="en-CA" sz="2402" dirty="0" err="1">
                <a:solidFill>
                  <a:srgbClr val="9A9A00"/>
                </a:solidFill>
                <a:latin typeface="Times New Roman Italic"/>
                <a:cs typeface="Times New Roman Italic"/>
              </a:rPr>
              <a:t>i</a:t>
            </a:r>
            <a:r>
              <a:rPr lang="en-CA" sz="2402" dirty="0">
                <a:solidFill>
                  <a:srgbClr val="9A9A00"/>
                </a:solidFill>
                <a:latin typeface="Times New Roman Italic"/>
                <a:cs typeface="Times New Roman Italic"/>
              </a:rPr>
              <a:t> -</a:t>
            </a:r>
            <a:r>
              <a:rPr lang="en-CA" sz="2402" dirty="0">
                <a:solidFill>
                  <a:srgbClr val="9A9A00"/>
                </a:solidFill>
                <a:latin typeface="Times New Roman"/>
                <a:cs typeface="Times New Roman"/>
              </a:rPr>
              <a:t> 1</a:t>
            </a:r>
            <a:br>
              <a:rPr lang="en-CA" sz="2402" dirty="0">
                <a:solidFill>
                  <a:srgbClr val="000000"/>
                </a:solidFill>
                <a:latin typeface="Times New Roman"/>
              </a:rPr>
            </a:br>
            <a:r>
              <a:rPr lang="en-CA" sz="2402" dirty="0">
                <a:solidFill>
                  <a:srgbClr val="9A9A00"/>
                </a:solidFill>
                <a:latin typeface="Times New Roman Italic"/>
                <a:cs typeface="Times New Roman Italic"/>
              </a:rPr>
              <a:t>A</a:t>
            </a:r>
            <a:r>
              <a:rPr lang="en-CA" sz="2402" dirty="0">
                <a:solidFill>
                  <a:srgbClr val="9A9A00"/>
                </a:solidFill>
                <a:latin typeface="Times New Roman"/>
                <a:cs typeface="Times New Roman"/>
              </a:rPr>
              <a:t>[</a:t>
            </a:r>
            <a:r>
              <a:rPr lang="en-CA" sz="2402" dirty="0">
                <a:solidFill>
                  <a:srgbClr val="9A9A00"/>
                </a:solidFill>
                <a:latin typeface="Times New Roman Italic"/>
                <a:cs typeface="Times New Roman Italic"/>
              </a:rPr>
              <a:t>i+</a:t>
            </a:r>
            <a:r>
              <a:rPr lang="en-CA" sz="2402" dirty="0">
                <a:solidFill>
                  <a:srgbClr val="9A9A00"/>
                </a:solidFill>
                <a:latin typeface="Times New Roman"/>
                <a:cs typeface="Times New Roman"/>
              </a:rPr>
              <a:t>1] = </a:t>
            </a:r>
            <a:r>
              <a:rPr lang="en-CA" sz="2402" dirty="0">
                <a:solidFill>
                  <a:srgbClr val="9A9A00"/>
                </a:solidFill>
                <a:latin typeface="Times New Roman Italic"/>
                <a:cs typeface="Times New Roman Italic"/>
              </a:rPr>
              <a:t>key</a:t>
            </a:r>
          </a:p>
          <a:p>
            <a:pPr>
              <a:lnSpc>
                <a:spcPts val="2870"/>
              </a:lnSpc>
            </a:pPr>
            <a:endParaRPr lang="en-CA" sz="2402" dirty="0">
              <a:solidFill>
                <a:srgbClr val="000000"/>
              </a:solidFill>
            </a:endParaRPr>
          </a:p>
        </p:txBody>
      </p:sp>
      <p:sp>
        <p:nvSpPr>
          <p:cNvPr id="9" name="TextBox 9"/>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10" name="TextBox 10"/>
          <p:cNvSpPr txBox="1"/>
          <p:nvPr/>
        </p:nvSpPr>
        <p:spPr>
          <a:xfrm>
            <a:off x="762000" y="6578600"/>
            <a:ext cx="947375" cy="35907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11" name="TextBox 11"/>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2" name="TextBox 12"/>
          <p:cNvSpPr txBox="1"/>
          <p:nvPr/>
        </p:nvSpPr>
        <p:spPr>
          <a:xfrm>
            <a:off x="8013700" y="6578600"/>
            <a:ext cx="5842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L1.6</a:t>
            </a:r>
          </a:p>
          <a:p>
            <a:pPr>
              <a:lnSpc>
                <a:spcPts val="1610"/>
              </a:lnSpc>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8"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Insertion sort</a:t>
            </a:r>
          </a:p>
          <a:p>
            <a:pPr>
              <a:lnSpc>
                <a:spcPts val="5060"/>
              </a:lnSpc>
            </a:pPr>
            <a:endParaRPr lang="en-CA" sz="4402">
              <a:solidFill>
                <a:srgbClr val="000000"/>
              </a:solidFill>
            </a:endParaRPr>
          </a:p>
        </p:txBody>
      </p:sp>
      <p:sp>
        <p:nvSpPr>
          <p:cNvPr id="3" name="TextBox 3"/>
          <p:cNvSpPr txBox="1"/>
          <p:nvPr/>
        </p:nvSpPr>
        <p:spPr>
          <a:xfrm>
            <a:off x="723900" y="2768600"/>
            <a:ext cx="2755900" cy="685800"/>
          </a:xfrm>
          <a:prstGeom prst="rect">
            <a:avLst/>
          </a:prstGeom>
          <a:noFill/>
        </p:spPr>
        <p:txBody>
          <a:bodyPr vert="horz" wrap="none" lIns="0" tIns="0" rIns="0" bIns="0" rtlCol="0">
            <a:spAutoFit/>
          </a:bodyPr>
          <a:lstStyle/>
          <a:p>
            <a:pPr>
              <a:lnSpc>
                <a:spcPts val="3700"/>
              </a:lnSpc>
            </a:pPr>
            <a:r>
              <a:rPr lang="en-CA" sz="3201">
                <a:solidFill>
                  <a:srgbClr val="CC0000"/>
                </a:solidFill>
                <a:latin typeface="Times New Roman"/>
                <a:cs typeface="Times New Roman"/>
              </a:rPr>
              <a:t>“pseudocode”</a:t>
            </a:r>
          </a:p>
          <a:p>
            <a:pPr>
              <a:lnSpc>
                <a:spcPts val="3680"/>
              </a:lnSpc>
            </a:pPr>
            <a:endParaRPr lang="en-CA" sz="3201">
              <a:solidFill>
                <a:srgbClr val="000000"/>
              </a:solidFill>
            </a:endParaRPr>
          </a:p>
        </p:txBody>
      </p:sp>
      <p:sp>
        <p:nvSpPr>
          <p:cNvPr id="4" name="TextBox 4"/>
          <p:cNvSpPr txBox="1"/>
          <p:nvPr/>
        </p:nvSpPr>
        <p:spPr>
          <a:xfrm>
            <a:off x="1943100" y="4673600"/>
            <a:ext cx="1536700" cy="508000"/>
          </a:xfrm>
          <a:prstGeom prst="rect">
            <a:avLst/>
          </a:prstGeom>
          <a:noFill/>
        </p:spPr>
        <p:txBody>
          <a:bodyPr vert="horz" wrap="none" lIns="0" tIns="0" rIns="0" bIns="0" rtlCol="0">
            <a:spAutoFit/>
          </a:bodyPr>
          <a:lstStyle/>
          <a:p>
            <a:pPr>
              <a:lnSpc>
                <a:spcPts val="2700"/>
              </a:lnSpc>
              <a:tabLst>
                <a:tab pos="1181100" algn="l"/>
              </a:tabLst>
            </a:pPr>
            <a:r>
              <a:rPr lang="en-CA" sz="2402">
                <a:solidFill>
                  <a:srgbClr val="000000"/>
                </a:solidFill>
                <a:latin typeface="Times New Roman"/>
                <a:cs typeface="Times New Roman"/>
              </a:rPr>
              <a:t>1</a:t>
            </a:r>
            <a:r>
              <a:rPr lang="en-CA" sz="2402">
                <a:solidFill>
                  <a:srgbClr val="000000"/>
                </a:solidFill>
                <a:latin typeface="Times New Roman Italic"/>
                <a:cs typeface="Times New Roman Italic"/>
              </a:rPr>
              <a:t>	i</a:t>
            </a:r>
          </a:p>
          <a:p>
            <a:pPr>
              <a:lnSpc>
                <a:spcPts val="2760"/>
              </a:lnSpc>
            </a:pPr>
            <a:endParaRPr lang="en-CA" sz="2402">
              <a:solidFill>
                <a:srgbClr val="000000"/>
              </a:solidFill>
            </a:endParaRPr>
          </a:p>
        </p:txBody>
      </p:sp>
      <p:sp>
        <p:nvSpPr>
          <p:cNvPr id="5" name="TextBox 5"/>
          <p:cNvSpPr txBox="1"/>
          <p:nvPr/>
        </p:nvSpPr>
        <p:spPr>
          <a:xfrm>
            <a:off x="1016000" y="5041900"/>
            <a:ext cx="2463800" cy="685800"/>
          </a:xfrm>
          <a:prstGeom prst="rect">
            <a:avLst/>
          </a:prstGeom>
          <a:noFill/>
        </p:spPr>
        <p:txBody>
          <a:bodyPr vert="horz" wrap="none" lIns="0" tIns="0" rIns="0" bIns="0" rtlCol="0">
            <a:spAutoFit/>
          </a:bodyPr>
          <a:lstStyle/>
          <a:p>
            <a:pPr>
              <a:lnSpc>
                <a:spcPts val="3400"/>
              </a:lnSpc>
            </a:pPr>
            <a:r>
              <a:rPr lang="en-CA" sz="3201">
                <a:solidFill>
                  <a:srgbClr val="000000"/>
                </a:solidFill>
                <a:latin typeface="Times New Roman Italic"/>
                <a:cs typeface="Times New Roman Italic"/>
              </a:rPr>
              <a:t>A</a:t>
            </a:r>
            <a:r>
              <a:rPr lang="en-CA" sz="3201">
                <a:solidFill>
                  <a:srgbClr val="000000"/>
                </a:solidFill>
                <a:latin typeface="Times New Roman"/>
                <a:cs typeface="Times New Roman"/>
              </a:rPr>
              <a:t>:</a:t>
            </a:r>
          </a:p>
          <a:p>
            <a:pPr>
              <a:lnSpc>
                <a:spcPts val="3410"/>
              </a:lnSpc>
            </a:pPr>
            <a:endParaRPr lang="en-CA" sz="3201">
              <a:solidFill>
                <a:srgbClr val="000000"/>
              </a:solidFill>
            </a:endParaRPr>
          </a:p>
        </p:txBody>
      </p:sp>
      <p:sp>
        <p:nvSpPr>
          <p:cNvPr id="6" name="TextBox 6"/>
          <p:cNvSpPr txBox="1"/>
          <p:nvPr/>
        </p:nvSpPr>
        <p:spPr>
          <a:xfrm>
            <a:off x="3740504" y="1549400"/>
            <a:ext cx="4890762" cy="705321"/>
          </a:xfrm>
          <a:prstGeom prst="rect">
            <a:avLst/>
          </a:prstGeom>
          <a:noFill/>
        </p:spPr>
        <p:txBody>
          <a:bodyPr vert="horz" wrap="none" lIns="0" tIns="0" rIns="0" bIns="0" rtlCol="0">
            <a:spAutoFit/>
          </a:bodyPr>
          <a:lstStyle/>
          <a:p>
            <a:pPr>
              <a:lnSpc>
                <a:spcPts val="2700"/>
              </a:lnSpc>
              <a:tabLst>
                <a:tab pos="3200400" algn="l"/>
              </a:tabLst>
            </a:pPr>
            <a:r>
              <a:rPr lang="en-CA" sz="2402" dirty="0">
                <a:solidFill>
                  <a:srgbClr val="000000"/>
                </a:solidFill>
                <a:latin typeface="Times New Roman"/>
                <a:cs typeface="Times New Roman"/>
              </a:rPr>
              <a:t>I</a:t>
            </a:r>
            <a:r>
              <a:rPr lang="en-CA" sz="1801" dirty="0">
                <a:solidFill>
                  <a:srgbClr val="000000"/>
                </a:solidFill>
                <a:latin typeface="Times New Roman"/>
                <a:cs typeface="Times New Roman"/>
              </a:rPr>
              <a:t>NSERTION</a:t>
            </a:r>
            <a:r>
              <a:rPr lang="en-CA" sz="2402" dirty="0">
                <a:solidFill>
                  <a:srgbClr val="000000"/>
                </a:solidFill>
                <a:latin typeface="Times New Roman"/>
                <a:cs typeface="Times New Roman"/>
              </a:rPr>
              <a:t>-S</a:t>
            </a:r>
            <a:r>
              <a:rPr lang="en-CA" sz="1801" dirty="0">
                <a:solidFill>
                  <a:srgbClr val="000000"/>
                </a:solidFill>
                <a:latin typeface="Times New Roman"/>
                <a:cs typeface="Times New Roman"/>
              </a:rPr>
              <a:t>ORT </a:t>
            </a:r>
            <a:r>
              <a:rPr lang="en-CA" sz="2402" dirty="0">
                <a:solidFill>
                  <a:srgbClr val="9A9A00"/>
                </a:solidFill>
                <a:latin typeface="Times New Roman"/>
                <a:cs typeface="Times New Roman"/>
              </a:rPr>
              <a:t>(</a:t>
            </a:r>
            <a:r>
              <a:rPr lang="en-CA" sz="2402" dirty="0">
                <a:solidFill>
                  <a:srgbClr val="9A9A00"/>
                </a:solidFill>
                <a:latin typeface="Times New Roman Italic"/>
                <a:cs typeface="Times New Roman Italic"/>
              </a:rPr>
              <a:t>A</a:t>
            </a:r>
            <a:r>
              <a:rPr lang="en-CA" sz="2402" dirty="0">
                <a:solidFill>
                  <a:srgbClr val="9A9A00"/>
                </a:solidFill>
                <a:latin typeface="Times New Roman"/>
                <a:cs typeface="Times New Roman"/>
              </a:rPr>
              <a:t>, </a:t>
            </a:r>
            <a:r>
              <a:rPr lang="en-CA" sz="2402" dirty="0">
                <a:solidFill>
                  <a:srgbClr val="9A9A00"/>
                </a:solidFill>
                <a:latin typeface="Times New Roman Italic"/>
                <a:cs typeface="Times New Roman Italic"/>
              </a:rPr>
              <a:t>n</a:t>
            </a:r>
            <a:r>
              <a:rPr lang="en-CA" sz="2402" dirty="0">
                <a:solidFill>
                  <a:srgbClr val="9A9A00"/>
                </a:solidFill>
                <a:latin typeface="Times New Roman"/>
                <a:cs typeface="Times New Roman"/>
              </a:rPr>
              <a:t>)</a:t>
            </a:r>
            <a:r>
              <a:rPr lang="en-CA" sz="3201" dirty="0">
                <a:solidFill>
                  <a:srgbClr val="CC0000"/>
                </a:solidFill>
                <a:latin typeface="Arial Unicode MS"/>
                <a:cs typeface="Arial Unicode MS"/>
              </a:rPr>
              <a:t>	⊳</a:t>
            </a:r>
            <a:r>
              <a:rPr lang="en-CA" sz="2402" dirty="0">
                <a:solidFill>
                  <a:srgbClr val="9A9A00"/>
                </a:solidFill>
                <a:latin typeface="Times New Roman Italic"/>
                <a:cs typeface="Times New Roman Italic"/>
              </a:rPr>
              <a:t>	 A</a:t>
            </a:r>
            <a:r>
              <a:rPr lang="en-CA" sz="2402" dirty="0">
                <a:solidFill>
                  <a:srgbClr val="9A9A00"/>
                </a:solidFill>
                <a:latin typeface="Times New Roman"/>
                <a:cs typeface="Times New Roman"/>
              </a:rPr>
              <a:t>[1 . . </a:t>
            </a:r>
            <a:r>
              <a:rPr lang="en-CA" sz="2402" dirty="0">
                <a:solidFill>
                  <a:srgbClr val="9A9A00"/>
                </a:solidFill>
                <a:latin typeface="Times New Roman Italic"/>
                <a:cs typeface="Times New Roman Italic"/>
              </a:rPr>
              <a:t>	n</a:t>
            </a:r>
            <a:r>
              <a:rPr lang="en-CA" sz="2402" dirty="0">
                <a:solidFill>
                  <a:srgbClr val="9A9A00"/>
                </a:solidFill>
                <a:latin typeface="Times New Roman"/>
                <a:cs typeface="Times New Roman"/>
              </a:rPr>
              <a:t>]</a:t>
            </a:r>
          </a:p>
          <a:p>
            <a:pPr>
              <a:lnSpc>
                <a:spcPts val="2760"/>
              </a:lnSpc>
            </a:pPr>
            <a:endParaRPr lang="en-CA" sz="2468" dirty="0">
              <a:solidFill>
                <a:srgbClr val="000000"/>
              </a:solidFill>
            </a:endParaRPr>
          </a:p>
        </p:txBody>
      </p:sp>
      <p:sp>
        <p:nvSpPr>
          <p:cNvPr id="7" name="TextBox 7"/>
          <p:cNvSpPr txBox="1"/>
          <p:nvPr/>
        </p:nvSpPr>
        <p:spPr>
          <a:xfrm>
            <a:off x="3924300" y="1930400"/>
            <a:ext cx="4044377" cy="1115690"/>
          </a:xfrm>
          <a:prstGeom prst="rect">
            <a:avLst/>
          </a:prstGeom>
          <a:noFill/>
        </p:spPr>
        <p:txBody>
          <a:bodyPr vert="horz" wrap="none" lIns="0" tIns="0" rIns="0" bIns="0" rtlCol="0">
            <a:spAutoFit/>
          </a:bodyPr>
          <a:lstStyle/>
          <a:p>
            <a:pPr>
              <a:lnSpc>
                <a:spcPts val="2900"/>
              </a:lnSpc>
              <a:tabLst>
                <a:tab pos="698500" algn="l"/>
              </a:tabLst>
            </a:pPr>
            <a:r>
              <a:rPr lang="en-CA" sz="2412" b="1" dirty="0">
                <a:solidFill>
                  <a:srgbClr val="000000"/>
                </a:solidFill>
                <a:latin typeface="Times New Roman Bold"/>
                <a:cs typeface="Times New Roman Bold"/>
              </a:rPr>
              <a:t>for</a:t>
            </a:r>
            <a:r>
              <a:rPr lang="en-CA" sz="2402" dirty="0">
                <a:solidFill>
                  <a:srgbClr val="9A9A00"/>
                </a:solidFill>
                <a:latin typeface="Times New Roman Italic"/>
                <a:cs typeface="Times New Roman Italic"/>
              </a:rPr>
              <a:t> j </a:t>
            </a:r>
            <a:r>
              <a:rPr lang="en-CA" sz="2402" dirty="0">
                <a:solidFill>
                  <a:srgbClr val="9A9A00"/>
                </a:solidFill>
                <a:latin typeface="Times New Roman"/>
                <a:cs typeface="Times New Roman"/>
              </a:rPr>
              <a:t>← 2</a:t>
            </a:r>
            <a:r>
              <a:rPr lang="en-CA" sz="2412" b="1" dirty="0">
                <a:solidFill>
                  <a:srgbClr val="000000"/>
                </a:solidFill>
                <a:latin typeface="Times New Roman Bold"/>
                <a:cs typeface="Times New Roman Bold"/>
              </a:rPr>
              <a:t> to</a:t>
            </a:r>
            <a:r>
              <a:rPr lang="en-CA" sz="2402" dirty="0">
                <a:solidFill>
                  <a:srgbClr val="9A9A00"/>
                </a:solidFill>
                <a:latin typeface="Times New Roman Italic"/>
                <a:cs typeface="Times New Roman Italic"/>
              </a:rPr>
              <a:t> n</a:t>
            </a:r>
            <a:br>
              <a:rPr lang="en-CA" sz="2402" dirty="0">
                <a:solidFill>
                  <a:srgbClr val="000000"/>
                </a:solidFill>
                <a:latin typeface="Times New Roman"/>
              </a:rPr>
            </a:br>
            <a:r>
              <a:rPr lang="en-CA" sz="2412" b="1" dirty="0">
                <a:solidFill>
                  <a:srgbClr val="000000"/>
                </a:solidFill>
                <a:latin typeface="Times New Roman Bold"/>
                <a:cs typeface="Times New Roman Bold"/>
              </a:rPr>
              <a:t>	do</a:t>
            </a:r>
            <a:r>
              <a:rPr lang="en-CA" sz="2402" dirty="0">
                <a:solidFill>
                  <a:srgbClr val="9A9A00"/>
                </a:solidFill>
                <a:latin typeface="Times New Roman Italic"/>
                <a:cs typeface="Times New Roman Italic"/>
              </a:rPr>
              <a:t>	 key ← A</a:t>
            </a:r>
            <a:r>
              <a:rPr lang="en-CA" sz="2402" dirty="0">
                <a:solidFill>
                  <a:srgbClr val="9A9A00"/>
                </a:solidFill>
                <a:latin typeface="Times New Roman"/>
                <a:cs typeface="Times New Roman"/>
              </a:rPr>
              <a:t>	[ </a:t>
            </a:r>
            <a:r>
              <a:rPr lang="en-CA" sz="2402" dirty="0">
                <a:solidFill>
                  <a:srgbClr val="9A9A00"/>
                </a:solidFill>
                <a:latin typeface="Times New Roman Italic"/>
                <a:cs typeface="Times New Roman Italic"/>
              </a:rPr>
              <a:t>j</a:t>
            </a:r>
            <a:r>
              <a:rPr lang="en-CA" sz="2402" dirty="0">
                <a:solidFill>
                  <a:srgbClr val="9A9A00"/>
                </a:solidFill>
                <a:latin typeface="Times New Roman"/>
                <a:cs typeface="Times New Roman"/>
              </a:rPr>
              <a:t>]</a:t>
            </a:r>
          </a:p>
          <a:p>
            <a:pPr>
              <a:lnSpc>
                <a:spcPts val="2870"/>
              </a:lnSpc>
            </a:pPr>
            <a:endParaRPr lang="en-CA" sz="2402" dirty="0">
              <a:solidFill>
                <a:srgbClr val="000000"/>
              </a:solidFill>
            </a:endParaRPr>
          </a:p>
        </p:txBody>
      </p:sp>
      <p:sp>
        <p:nvSpPr>
          <p:cNvPr id="8" name="TextBox 8"/>
          <p:cNvSpPr txBox="1"/>
          <p:nvPr/>
        </p:nvSpPr>
        <p:spPr>
          <a:xfrm>
            <a:off x="5067300" y="2679700"/>
            <a:ext cx="3937000" cy="508000"/>
          </a:xfrm>
          <a:prstGeom prst="rect">
            <a:avLst/>
          </a:prstGeom>
          <a:noFill/>
        </p:spPr>
        <p:txBody>
          <a:bodyPr vert="horz" wrap="none" lIns="0" tIns="0" rIns="0" bIns="0" rtlCol="0">
            <a:spAutoFit/>
          </a:bodyPr>
          <a:lstStyle/>
          <a:p>
            <a:pPr>
              <a:lnSpc>
                <a:spcPts val="2700"/>
              </a:lnSpc>
            </a:pPr>
            <a:r>
              <a:rPr lang="en-CA" sz="2402">
                <a:solidFill>
                  <a:srgbClr val="9A9A00"/>
                </a:solidFill>
                <a:latin typeface="Times New Roman Italic"/>
                <a:cs typeface="Times New Roman Italic"/>
              </a:rPr>
              <a:t>i ← j -</a:t>
            </a:r>
            <a:r>
              <a:rPr lang="en-CA" sz="2402">
                <a:solidFill>
                  <a:srgbClr val="9A9A00"/>
                </a:solidFill>
                <a:latin typeface="Times New Roman"/>
                <a:cs typeface="Times New Roman"/>
              </a:rPr>
              <a:t> 1</a:t>
            </a:r>
          </a:p>
          <a:p>
            <a:pPr>
              <a:lnSpc>
                <a:spcPts val="2760"/>
              </a:lnSpc>
            </a:pPr>
            <a:endParaRPr lang="en-CA" sz="2402">
              <a:solidFill>
                <a:srgbClr val="000000"/>
              </a:solidFill>
            </a:endParaRPr>
          </a:p>
        </p:txBody>
      </p:sp>
      <p:sp>
        <p:nvSpPr>
          <p:cNvPr id="9" name="TextBox 9"/>
          <p:cNvSpPr txBox="1"/>
          <p:nvPr/>
        </p:nvSpPr>
        <p:spPr>
          <a:xfrm>
            <a:off x="4702176" y="3035300"/>
            <a:ext cx="3315010" cy="1115690"/>
          </a:xfrm>
          <a:prstGeom prst="rect">
            <a:avLst/>
          </a:prstGeom>
          <a:noFill/>
        </p:spPr>
        <p:txBody>
          <a:bodyPr vert="horz" wrap="none" lIns="0" tIns="0" rIns="0" bIns="0" rtlCol="0">
            <a:spAutoFit/>
          </a:bodyPr>
          <a:lstStyle/>
          <a:p>
            <a:pPr>
              <a:lnSpc>
                <a:spcPts val="2900"/>
              </a:lnSpc>
              <a:tabLst>
                <a:tab pos="698500" algn="l"/>
              </a:tabLst>
            </a:pPr>
            <a:r>
              <a:rPr lang="en-CA" sz="2412" b="1" dirty="0">
                <a:solidFill>
                  <a:srgbClr val="000000"/>
                </a:solidFill>
                <a:latin typeface="Times New Roman Bold"/>
                <a:cs typeface="Times New Roman Bold"/>
              </a:rPr>
              <a:t>while</a:t>
            </a:r>
            <a:r>
              <a:rPr lang="en-CA" sz="2402" dirty="0">
                <a:solidFill>
                  <a:srgbClr val="9A9A00"/>
                </a:solidFill>
                <a:latin typeface="Times New Roman Italic"/>
                <a:cs typeface="Times New Roman Italic"/>
              </a:rPr>
              <a:t> </a:t>
            </a:r>
            <a:r>
              <a:rPr lang="en-CA" sz="2402" dirty="0" err="1">
                <a:solidFill>
                  <a:srgbClr val="9A9A00"/>
                </a:solidFill>
                <a:latin typeface="Times New Roman Italic"/>
                <a:cs typeface="Times New Roman Italic"/>
              </a:rPr>
              <a:t>i</a:t>
            </a:r>
            <a:r>
              <a:rPr lang="en-CA" sz="2402" dirty="0">
                <a:solidFill>
                  <a:srgbClr val="9A9A00"/>
                </a:solidFill>
                <a:latin typeface="Times New Roman Italic"/>
                <a:cs typeface="Times New Roman Italic"/>
              </a:rPr>
              <a:t> &gt; </a:t>
            </a:r>
            <a:r>
              <a:rPr lang="en-CA" sz="2402" dirty="0">
                <a:solidFill>
                  <a:srgbClr val="9A9A00"/>
                </a:solidFill>
                <a:latin typeface="Times New Roman"/>
                <a:cs typeface="Times New Roman"/>
              </a:rPr>
              <a:t>0</a:t>
            </a:r>
            <a:r>
              <a:rPr lang="en-CA" sz="2402" dirty="0">
                <a:solidFill>
                  <a:srgbClr val="000000"/>
                </a:solidFill>
                <a:latin typeface="Times New Roman"/>
                <a:cs typeface="Times New Roman"/>
              </a:rPr>
              <a:t> and </a:t>
            </a:r>
            <a:r>
              <a:rPr lang="en-CA" sz="2402" dirty="0">
                <a:solidFill>
                  <a:srgbClr val="9A9A00"/>
                </a:solidFill>
                <a:latin typeface="Times New Roman Italic"/>
                <a:cs typeface="Times New Roman Italic"/>
              </a:rPr>
              <a:t>A</a:t>
            </a:r>
            <a:r>
              <a:rPr lang="en-CA" sz="2402" dirty="0">
                <a:solidFill>
                  <a:srgbClr val="9A9A00"/>
                </a:solidFill>
                <a:latin typeface="Times New Roman"/>
                <a:cs typeface="Times New Roman"/>
              </a:rPr>
              <a:t>[</a:t>
            </a:r>
            <a:r>
              <a:rPr lang="en-CA" sz="2402" dirty="0" err="1">
                <a:solidFill>
                  <a:srgbClr val="9A9A00"/>
                </a:solidFill>
                <a:latin typeface="Times New Roman Italic"/>
                <a:cs typeface="Times New Roman Italic"/>
              </a:rPr>
              <a:t>i</a:t>
            </a:r>
            <a:r>
              <a:rPr lang="en-CA" sz="2402" dirty="0">
                <a:solidFill>
                  <a:srgbClr val="9A9A00"/>
                </a:solidFill>
                <a:latin typeface="Times New Roman"/>
                <a:cs typeface="Times New Roman"/>
              </a:rPr>
              <a:t>] &gt; </a:t>
            </a:r>
            <a:r>
              <a:rPr lang="en-CA" sz="2402" dirty="0">
                <a:solidFill>
                  <a:srgbClr val="9A9A00"/>
                </a:solidFill>
                <a:latin typeface="Times New Roman Italic"/>
                <a:cs typeface="Times New Roman Italic"/>
              </a:rPr>
              <a:t>key</a:t>
            </a:r>
            <a:br>
              <a:rPr lang="en-CA" sz="2402" dirty="0">
                <a:solidFill>
                  <a:srgbClr val="000000"/>
                </a:solidFill>
                <a:latin typeface="Times New Roman"/>
              </a:rPr>
            </a:br>
            <a:r>
              <a:rPr lang="en-CA" sz="2412" b="1" dirty="0">
                <a:solidFill>
                  <a:srgbClr val="000000"/>
                </a:solidFill>
                <a:latin typeface="Times New Roman Bold"/>
                <a:cs typeface="Times New Roman Bold"/>
              </a:rPr>
              <a:t>	do</a:t>
            </a:r>
            <a:r>
              <a:rPr lang="en-CA" sz="2402" dirty="0">
                <a:solidFill>
                  <a:srgbClr val="9A9A00"/>
                </a:solidFill>
                <a:latin typeface="Times New Roman Italic"/>
                <a:cs typeface="Times New Roman Italic"/>
              </a:rPr>
              <a:t> A</a:t>
            </a:r>
            <a:r>
              <a:rPr lang="en-CA" sz="2402" dirty="0">
                <a:solidFill>
                  <a:srgbClr val="9A9A00"/>
                </a:solidFill>
                <a:latin typeface="Times New Roman"/>
                <a:cs typeface="Times New Roman"/>
              </a:rPr>
              <a:t>[</a:t>
            </a:r>
            <a:r>
              <a:rPr lang="en-CA" sz="2402" dirty="0">
                <a:solidFill>
                  <a:srgbClr val="9A9A00"/>
                </a:solidFill>
                <a:latin typeface="Times New Roman Italic"/>
                <a:cs typeface="Times New Roman Italic"/>
              </a:rPr>
              <a:t>i+</a:t>
            </a:r>
            <a:r>
              <a:rPr lang="en-CA" sz="2402" dirty="0">
                <a:solidFill>
                  <a:srgbClr val="9A9A00"/>
                </a:solidFill>
                <a:latin typeface="Times New Roman"/>
                <a:cs typeface="Times New Roman"/>
              </a:rPr>
              <a:t>1] ←</a:t>
            </a:r>
            <a:r>
              <a:rPr lang="en-CA" sz="2402" dirty="0">
                <a:solidFill>
                  <a:srgbClr val="9A9A00"/>
                </a:solidFill>
                <a:latin typeface="Times New Roman Italic"/>
                <a:cs typeface="Times New Roman Italic"/>
              </a:rPr>
              <a:t>A</a:t>
            </a:r>
            <a:r>
              <a:rPr lang="en-CA" sz="2402" dirty="0">
                <a:solidFill>
                  <a:srgbClr val="9A9A00"/>
                </a:solidFill>
                <a:latin typeface="Times New Roman"/>
                <a:cs typeface="Times New Roman"/>
              </a:rPr>
              <a:t>[</a:t>
            </a:r>
            <a:r>
              <a:rPr lang="en-CA" sz="2402" dirty="0">
                <a:solidFill>
                  <a:srgbClr val="9A9A00"/>
                </a:solidFill>
                <a:latin typeface="Times New Roman Italic"/>
                <a:cs typeface="Times New Roman Italic"/>
              </a:rPr>
              <a:t>	</a:t>
            </a:r>
            <a:r>
              <a:rPr lang="en-CA" sz="2402" dirty="0" err="1">
                <a:solidFill>
                  <a:srgbClr val="9A9A00"/>
                </a:solidFill>
                <a:latin typeface="Times New Roman Italic"/>
                <a:cs typeface="Times New Roman Italic"/>
              </a:rPr>
              <a:t>i</a:t>
            </a:r>
            <a:r>
              <a:rPr lang="en-CA" sz="2402" dirty="0">
                <a:solidFill>
                  <a:srgbClr val="9A9A00"/>
                </a:solidFill>
                <a:latin typeface="Times New Roman"/>
                <a:cs typeface="Times New Roman"/>
              </a:rPr>
              <a:t>]</a:t>
            </a:r>
          </a:p>
          <a:p>
            <a:pPr>
              <a:lnSpc>
                <a:spcPts val="2870"/>
              </a:lnSpc>
            </a:pPr>
            <a:endParaRPr lang="en-CA" sz="2402" dirty="0">
              <a:solidFill>
                <a:srgbClr val="000000"/>
              </a:solidFill>
            </a:endParaRPr>
          </a:p>
        </p:txBody>
      </p:sp>
      <p:sp>
        <p:nvSpPr>
          <p:cNvPr id="10" name="TextBox 10"/>
          <p:cNvSpPr txBox="1"/>
          <p:nvPr/>
        </p:nvSpPr>
        <p:spPr>
          <a:xfrm>
            <a:off x="6210300" y="3771900"/>
            <a:ext cx="2794000" cy="508000"/>
          </a:xfrm>
          <a:prstGeom prst="rect">
            <a:avLst/>
          </a:prstGeom>
          <a:noFill/>
        </p:spPr>
        <p:txBody>
          <a:bodyPr vert="horz" wrap="none" lIns="0" tIns="0" rIns="0" bIns="0" rtlCol="0">
            <a:spAutoFit/>
          </a:bodyPr>
          <a:lstStyle/>
          <a:p>
            <a:pPr>
              <a:lnSpc>
                <a:spcPts val="2700"/>
              </a:lnSpc>
            </a:pPr>
            <a:r>
              <a:rPr lang="en-CA" sz="2402">
                <a:solidFill>
                  <a:srgbClr val="9A9A00"/>
                </a:solidFill>
                <a:latin typeface="Times New Roman Italic"/>
                <a:cs typeface="Times New Roman Italic"/>
              </a:rPr>
              <a:t>i ← i -</a:t>
            </a:r>
            <a:r>
              <a:rPr lang="en-CA" sz="2402">
                <a:solidFill>
                  <a:srgbClr val="9A9A00"/>
                </a:solidFill>
                <a:latin typeface="Times New Roman"/>
                <a:cs typeface="Times New Roman"/>
              </a:rPr>
              <a:t> 1</a:t>
            </a:r>
          </a:p>
          <a:p>
            <a:pPr>
              <a:lnSpc>
                <a:spcPts val="2760"/>
              </a:lnSpc>
            </a:pPr>
            <a:endParaRPr lang="en-CA" sz="2402">
              <a:solidFill>
                <a:srgbClr val="000000"/>
              </a:solidFill>
            </a:endParaRPr>
          </a:p>
        </p:txBody>
      </p:sp>
      <p:sp>
        <p:nvSpPr>
          <p:cNvPr id="11" name="TextBox 11"/>
          <p:cNvSpPr txBox="1"/>
          <p:nvPr/>
        </p:nvSpPr>
        <p:spPr>
          <a:xfrm>
            <a:off x="4648200" y="4038600"/>
            <a:ext cx="4356100" cy="1041400"/>
          </a:xfrm>
          <a:prstGeom prst="rect">
            <a:avLst/>
          </a:prstGeom>
          <a:noFill/>
        </p:spPr>
        <p:txBody>
          <a:bodyPr vert="horz" wrap="none" lIns="0" tIns="0" rIns="0" bIns="0" rtlCol="0">
            <a:spAutoFit/>
          </a:bodyPr>
          <a:lstStyle/>
          <a:p>
            <a:pPr indent="414488">
              <a:lnSpc>
                <a:spcPts val="3700"/>
              </a:lnSpc>
              <a:tabLst>
                <a:tab pos="3187700" algn="l"/>
              </a:tabLst>
            </a:pPr>
            <a:r>
              <a:rPr lang="en-CA" sz="2402">
                <a:solidFill>
                  <a:srgbClr val="9A9A00"/>
                </a:solidFill>
                <a:latin typeface="Times New Roman Italic"/>
                <a:cs typeface="Times New Roman Italic"/>
              </a:rPr>
              <a:t>A</a:t>
            </a:r>
            <a:r>
              <a:rPr lang="en-CA" sz="2402">
                <a:solidFill>
                  <a:srgbClr val="9A9A00"/>
                </a:solidFill>
                <a:latin typeface="Times New Roman"/>
                <a:cs typeface="Times New Roman"/>
              </a:rPr>
              <a:t>[</a:t>
            </a:r>
            <a:r>
              <a:rPr lang="en-CA" sz="2402">
                <a:solidFill>
                  <a:srgbClr val="9A9A00"/>
                </a:solidFill>
                <a:latin typeface="Times New Roman Italic"/>
                <a:cs typeface="Times New Roman Italic"/>
              </a:rPr>
              <a:t>i+</a:t>
            </a:r>
            <a:r>
              <a:rPr lang="en-CA" sz="2402">
                <a:solidFill>
                  <a:srgbClr val="9A9A00"/>
                </a:solidFill>
                <a:latin typeface="Times New Roman"/>
                <a:cs typeface="Times New Roman"/>
              </a:rPr>
              <a:t>1] = </a:t>
            </a:r>
            <a:r>
              <a:rPr lang="en-CA" sz="2402">
                <a:solidFill>
                  <a:srgbClr val="9A9A00"/>
                </a:solidFill>
                <a:latin typeface="Times New Roman Italic"/>
                <a:cs typeface="Times New Roman Italic"/>
              </a:rPr>
              <a:t>key</a:t>
            </a:r>
            <a:br>
              <a:rPr lang="en-CA" sz="2402">
                <a:solidFill>
                  <a:srgbClr val="000000"/>
                </a:solidFill>
                <a:latin typeface="Times New Roman"/>
              </a:rPr>
            </a:br>
            <a:r>
              <a:rPr lang="en-CA" sz="2402">
                <a:solidFill>
                  <a:srgbClr val="000000"/>
                </a:solidFill>
                <a:latin typeface="Times New Roman Italic"/>
                <a:cs typeface="Times New Roman Italic"/>
              </a:rPr>
              <a:t>j	n</a:t>
            </a:r>
          </a:p>
          <a:p>
            <a:pPr>
              <a:lnSpc>
                <a:spcPts val="3700"/>
              </a:lnSpc>
            </a:pPr>
            <a:endParaRPr lang="en-CA" sz="2402">
              <a:solidFill>
                <a:srgbClr val="000000"/>
              </a:solidFill>
            </a:endParaRPr>
          </a:p>
        </p:txBody>
      </p:sp>
      <p:sp>
        <p:nvSpPr>
          <p:cNvPr id="12" name="TextBox 12"/>
          <p:cNvSpPr txBox="1"/>
          <p:nvPr/>
        </p:nvSpPr>
        <p:spPr>
          <a:xfrm>
            <a:off x="2667000" y="5829300"/>
            <a:ext cx="1651000" cy="685800"/>
          </a:xfrm>
          <a:prstGeom prst="rect">
            <a:avLst/>
          </a:prstGeom>
          <a:noFill/>
        </p:spPr>
        <p:txBody>
          <a:bodyPr vert="horz" wrap="none" lIns="0" tIns="0" rIns="0" bIns="0" rtlCol="0">
            <a:spAutoFit/>
          </a:bodyPr>
          <a:lstStyle/>
          <a:p>
            <a:pPr>
              <a:lnSpc>
                <a:spcPts val="3700"/>
              </a:lnSpc>
            </a:pPr>
            <a:r>
              <a:rPr lang="en-CA" sz="3201">
                <a:solidFill>
                  <a:srgbClr val="CC0000"/>
                </a:solidFill>
                <a:latin typeface="Times New Roman"/>
                <a:cs typeface="Times New Roman"/>
              </a:rPr>
              <a:t>sorted</a:t>
            </a:r>
          </a:p>
          <a:p>
            <a:pPr>
              <a:lnSpc>
                <a:spcPts val="3680"/>
              </a:lnSpc>
            </a:pPr>
            <a:endParaRPr lang="en-CA" sz="3201">
              <a:solidFill>
                <a:srgbClr val="000000"/>
              </a:solidFill>
            </a:endParaRPr>
          </a:p>
        </p:txBody>
      </p:sp>
      <p:sp>
        <p:nvSpPr>
          <p:cNvPr id="13" name="TextBox 13"/>
          <p:cNvSpPr txBox="1"/>
          <p:nvPr/>
        </p:nvSpPr>
        <p:spPr>
          <a:xfrm>
            <a:off x="4419600" y="5600700"/>
            <a:ext cx="4597400" cy="685800"/>
          </a:xfrm>
          <a:prstGeom prst="rect">
            <a:avLst/>
          </a:prstGeom>
          <a:noFill/>
        </p:spPr>
        <p:txBody>
          <a:bodyPr vert="horz" wrap="none" lIns="0" tIns="0" rIns="0" bIns="0" rtlCol="0">
            <a:spAutoFit/>
          </a:bodyPr>
          <a:lstStyle/>
          <a:p>
            <a:pPr>
              <a:lnSpc>
                <a:spcPts val="3700"/>
              </a:lnSpc>
            </a:pPr>
            <a:r>
              <a:rPr lang="en-CA" sz="3201">
                <a:solidFill>
                  <a:srgbClr val="9A9A00"/>
                </a:solidFill>
                <a:latin typeface="Times New Roman Italic"/>
                <a:cs typeface="Times New Roman Italic"/>
              </a:rPr>
              <a:t>key</a:t>
            </a:r>
          </a:p>
          <a:p>
            <a:pPr>
              <a:lnSpc>
                <a:spcPts val="3680"/>
              </a:lnSpc>
            </a:pPr>
            <a:endParaRPr lang="en-CA" sz="3201">
              <a:solidFill>
                <a:srgbClr val="000000"/>
              </a:solidFill>
            </a:endParaRPr>
          </a:p>
        </p:txBody>
      </p:sp>
      <p:sp>
        <p:nvSpPr>
          <p:cNvPr id="14" name="TextBox 14"/>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15" name="TextBox 15"/>
          <p:cNvSpPr txBox="1"/>
          <p:nvPr/>
        </p:nvSpPr>
        <p:spPr>
          <a:xfrm>
            <a:off x="762000" y="6578600"/>
            <a:ext cx="947375" cy="35907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16" name="TextBox 16"/>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7" name="TextBox 17"/>
          <p:cNvSpPr txBox="1"/>
          <p:nvPr/>
        </p:nvSpPr>
        <p:spPr>
          <a:xfrm>
            <a:off x="8013700" y="6578600"/>
            <a:ext cx="5842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L1.7</a:t>
            </a:r>
          </a:p>
          <a:p>
            <a:pPr>
              <a:lnSpc>
                <a:spcPts val="1610"/>
              </a:lnSpc>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3"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Example of insertion sort</a:t>
            </a:r>
          </a:p>
          <a:p>
            <a:pPr>
              <a:lnSpc>
                <a:spcPts val="5060"/>
              </a:lnSpc>
            </a:pPr>
            <a:endParaRPr lang="en-CA" sz="4402">
              <a:solidFill>
                <a:srgbClr val="000000"/>
              </a:solidFill>
            </a:endParaRPr>
          </a:p>
        </p:txBody>
      </p:sp>
      <p:sp>
        <p:nvSpPr>
          <p:cNvPr id="3" name="TextBox 3"/>
          <p:cNvSpPr txBox="1"/>
          <p:nvPr/>
        </p:nvSpPr>
        <p:spPr>
          <a:xfrm>
            <a:off x="2209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4" name="TextBox 4"/>
          <p:cNvSpPr txBox="1"/>
          <p:nvPr/>
        </p:nvSpPr>
        <p:spPr>
          <a:xfrm>
            <a:off x="31242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5" name="TextBox 5"/>
          <p:cNvSpPr txBox="1"/>
          <p:nvPr/>
        </p:nvSpPr>
        <p:spPr>
          <a:xfrm>
            <a:off x="40386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6" name="TextBox 6"/>
          <p:cNvSpPr txBox="1"/>
          <p:nvPr/>
        </p:nvSpPr>
        <p:spPr>
          <a:xfrm>
            <a:off x="49530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7" name="TextBox 7"/>
          <p:cNvSpPr txBox="1"/>
          <p:nvPr/>
        </p:nvSpPr>
        <p:spPr>
          <a:xfrm>
            <a:off x="58674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8" name="TextBox 8"/>
          <p:cNvSpPr txBox="1"/>
          <p:nvPr/>
        </p:nvSpPr>
        <p:spPr>
          <a:xfrm>
            <a:off x="6781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9" name="TextBox 9"/>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10" name="TextBox 10"/>
          <p:cNvSpPr txBox="1"/>
          <p:nvPr/>
        </p:nvSpPr>
        <p:spPr>
          <a:xfrm>
            <a:off x="762000" y="6578600"/>
            <a:ext cx="947375" cy="35907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11" name="TextBox 11"/>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2" name="TextBox 12"/>
          <p:cNvSpPr txBox="1"/>
          <p:nvPr/>
        </p:nvSpPr>
        <p:spPr>
          <a:xfrm>
            <a:off x="8013700" y="6578600"/>
            <a:ext cx="5842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L1.8</a:t>
            </a:r>
          </a:p>
          <a:p>
            <a:pPr>
              <a:lnSpc>
                <a:spcPts val="1610"/>
              </a:lnSpc>
            </a:pPr>
            <a:endParaRPr/>
          </a:p>
        </p:txBody>
      </p:sp>
      <mc:AlternateContent xmlns:mc="http://schemas.openxmlformats.org/markup-compatibility/2006" xmlns:p14="http://schemas.microsoft.com/office/powerpoint/2010/main">
        <mc:Choice Requires="p14">
          <p:contentPart p14:bwMode="auto" r:id="rId3">
            <p14:nvContentPartPr>
              <p14:cNvPr id="14" name="Ink 13"/>
              <p14:cNvContentPartPr/>
              <p14:nvPr/>
            </p14:nvContentPartPr>
            <p14:xfrm>
              <a:off x="2053800" y="0"/>
              <a:ext cx="3226680" cy="1675440"/>
            </p14:xfrm>
          </p:contentPart>
        </mc:Choice>
        <mc:Fallback xmlns="">
          <p:pic>
            <p:nvPicPr>
              <p:cNvPr id="14" name="Ink 13"/>
              <p:cNvPicPr/>
              <p:nvPr/>
            </p:nvPicPr>
            <p:blipFill>
              <a:blip r:embed="rId4"/>
              <a:stretch>
                <a:fillRect/>
              </a:stretch>
            </p:blipFill>
            <p:spPr>
              <a:xfrm>
                <a:off x="2044440" y="-9360"/>
                <a:ext cx="3245400" cy="169416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3"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Example of insertion sort</a:t>
            </a:r>
          </a:p>
          <a:p>
            <a:pPr>
              <a:lnSpc>
                <a:spcPts val="5060"/>
              </a:lnSpc>
            </a:pPr>
            <a:endParaRPr lang="en-CA" sz="4402">
              <a:solidFill>
                <a:srgbClr val="000000"/>
              </a:solidFill>
            </a:endParaRPr>
          </a:p>
        </p:txBody>
      </p:sp>
      <p:sp>
        <p:nvSpPr>
          <p:cNvPr id="3" name="TextBox 3"/>
          <p:cNvSpPr txBox="1"/>
          <p:nvPr/>
        </p:nvSpPr>
        <p:spPr>
          <a:xfrm>
            <a:off x="2209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4" name="TextBox 4"/>
          <p:cNvSpPr txBox="1"/>
          <p:nvPr/>
        </p:nvSpPr>
        <p:spPr>
          <a:xfrm>
            <a:off x="31242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5" name="TextBox 5"/>
          <p:cNvSpPr txBox="1"/>
          <p:nvPr/>
        </p:nvSpPr>
        <p:spPr>
          <a:xfrm>
            <a:off x="40386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6" name="TextBox 6"/>
          <p:cNvSpPr txBox="1"/>
          <p:nvPr/>
        </p:nvSpPr>
        <p:spPr>
          <a:xfrm>
            <a:off x="49530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7" name="TextBox 7"/>
          <p:cNvSpPr txBox="1"/>
          <p:nvPr/>
        </p:nvSpPr>
        <p:spPr>
          <a:xfrm>
            <a:off x="58674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8" name="TextBox 8"/>
          <p:cNvSpPr txBox="1"/>
          <p:nvPr/>
        </p:nvSpPr>
        <p:spPr>
          <a:xfrm>
            <a:off x="6781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9" name="TextBox 9"/>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10" name="TextBox 10"/>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11" name="TextBox 11"/>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2" name="TextBox 12"/>
          <p:cNvSpPr txBox="1"/>
          <p:nvPr/>
        </p:nvSpPr>
        <p:spPr>
          <a:xfrm>
            <a:off x="8013700" y="6578600"/>
            <a:ext cx="5842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L1.9</a:t>
            </a:r>
          </a:p>
          <a:p>
            <a:pPr>
              <a:lnSpc>
                <a:spcPts val="1610"/>
              </a:lnSpc>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9"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Example of insertion sort</a:t>
            </a:r>
          </a:p>
          <a:p>
            <a:pPr>
              <a:lnSpc>
                <a:spcPts val="5060"/>
              </a:lnSpc>
            </a:pPr>
            <a:endParaRPr lang="en-CA" sz="4402">
              <a:solidFill>
                <a:srgbClr val="000000"/>
              </a:solidFill>
            </a:endParaRPr>
          </a:p>
        </p:txBody>
      </p:sp>
      <p:sp>
        <p:nvSpPr>
          <p:cNvPr id="3" name="TextBox 3"/>
          <p:cNvSpPr txBox="1"/>
          <p:nvPr/>
        </p:nvSpPr>
        <p:spPr>
          <a:xfrm>
            <a:off x="2209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4" name="TextBox 4"/>
          <p:cNvSpPr txBox="1"/>
          <p:nvPr/>
        </p:nvSpPr>
        <p:spPr>
          <a:xfrm>
            <a:off x="31242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5" name="TextBox 5"/>
          <p:cNvSpPr txBox="1"/>
          <p:nvPr/>
        </p:nvSpPr>
        <p:spPr>
          <a:xfrm>
            <a:off x="40386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6" name="TextBox 6"/>
          <p:cNvSpPr txBox="1"/>
          <p:nvPr/>
        </p:nvSpPr>
        <p:spPr>
          <a:xfrm>
            <a:off x="49530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7" name="TextBox 7"/>
          <p:cNvSpPr txBox="1"/>
          <p:nvPr/>
        </p:nvSpPr>
        <p:spPr>
          <a:xfrm>
            <a:off x="58674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8" name="TextBox 8"/>
          <p:cNvSpPr txBox="1"/>
          <p:nvPr/>
        </p:nvSpPr>
        <p:spPr>
          <a:xfrm>
            <a:off x="6781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9" name="TextBox 9"/>
          <p:cNvSpPr txBox="1"/>
          <p:nvPr/>
        </p:nvSpPr>
        <p:spPr>
          <a:xfrm>
            <a:off x="2209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0" name="TextBox 10"/>
          <p:cNvSpPr txBox="1"/>
          <p:nvPr/>
        </p:nvSpPr>
        <p:spPr>
          <a:xfrm>
            <a:off x="31242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1" name="TextBox 11"/>
          <p:cNvSpPr txBox="1"/>
          <p:nvPr/>
        </p:nvSpPr>
        <p:spPr>
          <a:xfrm>
            <a:off x="40386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2" name="TextBox 12"/>
          <p:cNvSpPr txBox="1"/>
          <p:nvPr/>
        </p:nvSpPr>
        <p:spPr>
          <a:xfrm>
            <a:off x="49530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3" name="TextBox 13"/>
          <p:cNvSpPr txBox="1"/>
          <p:nvPr/>
        </p:nvSpPr>
        <p:spPr>
          <a:xfrm>
            <a:off x="58674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14" name="TextBox 14"/>
          <p:cNvSpPr txBox="1"/>
          <p:nvPr/>
        </p:nvSpPr>
        <p:spPr>
          <a:xfrm>
            <a:off x="6781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15" name="TextBox 15"/>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16" name="TextBox 16"/>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17" name="TextBox 17"/>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8" name="TextBox 18"/>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L1.10</a:t>
            </a:r>
          </a:p>
          <a:p>
            <a:pPr>
              <a:lnSpc>
                <a:spcPts val="1610"/>
              </a:lnSpc>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9"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Example of insertion sort</a:t>
            </a:r>
          </a:p>
          <a:p>
            <a:pPr>
              <a:lnSpc>
                <a:spcPts val="5060"/>
              </a:lnSpc>
            </a:pPr>
            <a:endParaRPr lang="en-CA" sz="4402">
              <a:solidFill>
                <a:srgbClr val="000000"/>
              </a:solidFill>
            </a:endParaRPr>
          </a:p>
        </p:txBody>
      </p:sp>
      <p:sp>
        <p:nvSpPr>
          <p:cNvPr id="3" name="TextBox 3"/>
          <p:cNvSpPr txBox="1"/>
          <p:nvPr/>
        </p:nvSpPr>
        <p:spPr>
          <a:xfrm>
            <a:off x="2209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4" name="TextBox 4"/>
          <p:cNvSpPr txBox="1"/>
          <p:nvPr/>
        </p:nvSpPr>
        <p:spPr>
          <a:xfrm>
            <a:off x="31242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5" name="TextBox 5"/>
          <p:cNvSpPr txBox="1"/>
          <p:nvPr/>
        </p:nvSpPr>
        <p:spPr>
          <a:xfrm>
            <a:off x="40386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6" name="TextBox 6"/>
          <p:cNvSpPr txBox="1"/>
          <p:nvPr/>
        </p:nvSpPr>
        <p:spPr>
          <a:xfrm>
            <a:off x="49530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7" name="TextBox 7"/>
          <p:cNvSpPr txBox="1"/>
          <p:nvPr/>
        </p:nvSpPr>
        <p:spPr>
          <a:xfrm>
            <a:off x="58674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8" name="TextBox 8"/>
          <p:cNvSpPr txBox="1"/>
          <p:nvPr/>
        </p:nvSpPr>
        <p:spPr>
          <a:xfrm>
            <a:off x="6781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9" name="TextBox 9"/>
          <p:cNvSpPr txBox="1"/>
          <p:nvPr/>
        </p:nvSpPr>
        <p:spPr>
          <a:xfrm>
            <a:off x="2209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0" name="TextBox 10"/>
          <p:cNvSpPr txBox="1"/>
          <p:nvPr/>
        </p:nvSpPr>
        <p:spPr>
          <a:xfrm>
            <a:off x="31242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1" name="TextBox 11"/>
          <p:cNvSpPr txBox="1"/>
          <p:nvPr/>
        </p:nvSpPr>
        <p:spPr>
          <a:xfrm>
            <a:off x="40386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2" name="TextBox 12"/>
          <p:cNvSpPr txBox="1"/>
          <p:nvPr/>
        </p:nvSpPr>
        <p:spPr>
          <a:xfrm>
            <a:off x="49530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3" name="TextBox 13"/>
          <p:cNvSpPr txBox="1"/>
          <p:nvPr/>
        </p:nvSpPr>
        <p:spPr>
          <a:xfrm>
            <a:off x="58674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14" name="TextBox 14"/>
          <p:cNvSpPr txBox="1"/>
          <p:nvPr/>
        </p:nvSpPr>
        <p:spPr>
          <a:xfrm>
            <a:off x="6781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15" name="TextBox 15"/>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16" name="TextBox 16"/>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17" name="TextBox 17"/>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8" name="TextBox 18"/>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L1.11</a:t>
            </a:r>
          </a:p>
          <a:p>
            <a:pPr>
              <a:lnSpc>
                <a:spcPts val="1610"/>
              </a:lnSpc>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25"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Example of insertion sort</a:t>
            </a:r>
          </a:p>
          <a:p>
            <a:pPr>
              <a:lnSpc>
                <a:spcPts val="5060"/>
              </a:lnSpc>
            </a:pPr>
            <a:endParaRPr lang="en-CA" sz="4402">
              <a:solidFill>
                <a:srgbClr val="000000"/>
              </a:solidFill>
            </a:endParaRPr>
          </a:p>
        </p:txBody>
      </p:sp>
      <p:sp>
        <p:nvSpPr>
          <p:cNvPr id="3" name="TextBox 3"/>
          <p:cNvSpPr txBox="1"/>
          <p:nvPr/>
        </p:nvSpPr>
        <p:spPr>
          <a:xfrm>
            <a:off x="2209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4" name="TextBox 4"/>
          <p:cNvSpPr txBox="1"/>
          <p:nvPr/>
        </p:nvSpPr>
        <p:spPr>
          <a:xfrm>
            <a:off x="31242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5" name="TextBox 5"/>
          <p:cNvSpPr txBox="1"/>
          <p:nvPr/>
        </p:nvSpPr>
        <p:spPr>
          <a:xfrm>
            <a:off x="40386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6" name="TextBox 6"/>
          <p:cNvSpPr txBox="1"/>
          <p:nvPr/>
        </p:nvSpPr>
        <p:spPr>
          <a:xfrm>
            <a:off x="49530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7" name="TextBox 7"/>
          <p:cNvSpPr txBox="1"/>
          <p:nvPr/>
        </p:nvSpPr>
        <p:spPr>
          <a:xfrm>
            <a:off x="58674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8" name="TextBox 8"/>
          <p:cNvSpPr txBox="1"/>
          <p:nvPr/>
        </p:nvSpPr>
        <p:spPr>
          <a:xfrm>
            <a:off x="6781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9" name="TextBox 9"/>
          <p:cNvSpPr txBox="1"/>
          <p:nvPr/>
        </p:nvSpPr>
        <p:spPr>
          <a:xfrm>
            <a:off x="2209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0" name="TextBox 10"/>
          <p:cNvSpPr txBox="1"/>
          <p:nvPr/>
        </p:nvSpPr>
        <p:spPr>
          <a:xfrm>
            <a:off x="31242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1" name="TextBox 11"/>
          <p:cNvSpPr txBox="1"/>
          <p:nvPr/>
        </p:nvSpPr>
        <p:spPr>
          <a:xfrm>
            <a:off x="40386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2" name="TextBox 12"/>
          <p:cNvSpPr txBox="1"/>
          <p:nvPr/>
        </p:nvSpPr>
        <p:spPr>
          <a:xfrm>
            <a:off x="49530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3" name="TextBox 13"/>
          <p:cNvSpPr txBox="1"/>
          <p:nvPr/>
        </p:nvSpPr>
        <p:spPr>
          <a:xfrm>
            <a:off x="58674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14" name="TextBox 14"/>
          <p:cNvSpPr txBox="1"/>
          <p:nvPr/>
        </p:nvSpPr>
        <p:spPr>
          <a:xfrm>
            <a:off x="6781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15" name="TextBox 15"/>
          <p:cNvSpPr txBox="1"/>
          <p:nvPr/>
        </p:nvSpPr>
        <p:spPr>
          <a:xfrm>
            <a:off x="2209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6" name="TextBox 16"/>
          <p:cNvSpPr txBox="1"/>
          <p:nvPr/>
        </p:nvSpPr>
        <p:spPr>
          <a:xfrm>
            <a:off x="31242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7" name="TextBox 17"/>
          <p:cNvSpPr txBox="1"/>
          <p:nvPr/>
        </p:nvSpPr>
        <p:spPr>
          <a:xfrm>
            <a:off x="40386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8" name="TextBox 18"/>
          <p:cNvSpPr txBox="1"/>
          <p:nvPr/>
        </p:nvSpPr>
        <p:spPr>
          <a:xfrm>
            <a:off x="49530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9" name="TextBox 19"/>
          <p:cNvSpPr txBox="1"/>
          <p:nvPr/>
        </p:nvSpPr>
        <p:spPr>
          <a:xfrm>
            <a:off x="58674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0" name="TextBox 20"/>
          <p:cNvSpPr txBox="1"/>
          <p:nvPr/>
        </p:nvSpPr>
        <p:spPr>
          <a:xfrm>
            <a:off x="6781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21" name="TextBox 21"/>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22" name="TextBox 22"/>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23" name="TextBox 23"/>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24" name="TextBox 24"/>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L1.12</a:t>
            </a:r>
          </a:p>
          <a:p>
            <a:pPr>
              <a:lnSpc>
                <a:spcPts val="1610"/>
              </a:lnSpc>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25"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Example of insertion sort</a:t>
            </a:r>
          </a:p>
          <a:p>
            <a:pPr>
              <a:lnSpc>
                <a:spcPts val="5060"/>
              </a:lnSpc>
            </a:pPr>
            <a:endParaRPr lang="en-CA" sz="4402">
              <a:solidFill>
                <a:srgbClr val="000000"/>
              </a:solidFill>
            </a:endParaRPr>
          </a:p>
        </p:txBody>
      </p:sp>
      <p:sp>
        <p:nvSpPr>
          <p:cNvPr id="3" name="TextBox 3"/>
          <p:cNvSpPr txBox="1"/>
          <p:nvPr/>
        </p:nvSpPr>
        <p:spPr>
          <a:xfrm>
            <a:off x="2209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4" name="TextBox 4"/>
          <p:cNvSpPr txBox="1"/>
          <p:nvPr/>
        </p:nvSpPr>
        <p:spPr>
          <a:xfrm>
            <a:off x="31242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5" name="TextBox 5"/>
          <p:cNvSpPr txBox="1"/>
          <p:nvPr/>
        </p:nvSpPr>
        <p:spPr>
          <a:xfrm>
            <a:off x="40386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6" name="TextBox 6"/>
          <p:cNvSpPr txBox="1"/>
          <p:nvPr/>
        </p:nvSpPr>
        <p:spPr>
          <a:xfrm>
            <a:off x="49530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7" name="TextBox 7"/>
          <p:cNvSpPr txBox="1"/>
          <p:nvPr/>
        </p:nvSpPr>
        <p:spPr>
          <a:xfrm>
            <a:off x="58674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8" name="TextBox 8"/>
          <p:cNvSpPr txBox="1"/>
          <p:nvPr/>
        </p:nvSpPr>
        <p:spPr>
          <a:xfrm>
            <a:off x="6781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9" name="TextBox 9"/>
          <p:cNvSpPr txBox="1"/>
          <p:nvPr/>
        </p:nvSpPr>
        <p:spPr>
          <a:xfrm>
            <a:off x="2209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0" name="TextBox 10"/>
          <p:cNvSpPr txBox="1"/>
          <p:nvPr/>
        </p:nvSpPr>
        <p:spPr>
          <a:xfrm>
            <a:off x="31242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1" name="TextBox 11"/>
          <p:cNvSpPr txBox="1"/>
          <p:nvPr/>
        </p:nvSpPr>
        <p:spPr>
          <a:xfrm>
            <a:off x="40386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2" name="TextBox 12"/>
          <p:cNvSpPr txBox="1"/>
          <p:nvPr/>
        </p:nvSpPr>
        <p:spPr>
          <a:xfrm>
            <a:off x="49530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3" name="TextBox 13"/>
          <p:cNvSpPr txBox="1"/>
          <p:nvPr/>
        </p:nvSpPr>
        <p:spPr>
          <a:xfrm>
            <a:off x="58674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14" name="TextBox 14"/>
          <p:cNvSpPr txBox="1"/>
          <p:nvPr/>
        </p:nvSpPr>
        <p:spPr>
          <a:xfrm>
            <a:off x="6781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15" name="TextBox 15"/>
          <p:cNvSpPr txBox="1"/>
          <p:nvPr/>
        </p:nvSpPr>
        <p:spPr>
          <a:xfrm>
            <a:off x="2209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6" name="TextBox 16"/>
          <p:cNvSpPr txBox="1"/>
          <p:nvPr/>
        </p:nvSpPr>
        <p:spPr>
          <a:xfrm>
            <a:off x="31242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7" name="TextBox 17"/>
          <p:cNvSpPr txBox="1"/>
          <p:nvPr/>
        </p:nvSpPr>
        <p:spPr>
          <a:xfrm>
            <a:off x="40386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8" name="TextBox 18"/>
          <p:cNvSpPr txBox="1"/>
          <p:nvPr/>
        </p:nvSpPr>
        <p:spPr>
          <a:xfrm>
            <a:off x="49530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9" name="TextBox 19"/>
          <p:cNvSpPr txBox="1"/>
          <p:nvPr/>
        </p:nvSpPr>
        <p:spPr>
          <a:xfrm>
            <a:off x="58674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0" name="TextBox 20"/>
          <p:cNvSpPr txBox="1"/>
          <p:nvPr/>
        </p:nvSpPr>
        <p:spPr>
          <a:xfrm>
            <a:off x="6781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21" name="TextBox 21"/>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22" name="TextBox 22"/>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23" name="TextBox 23"/>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24" name="TextBox 24"/>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L1.13</a:t>
            </a:r>
          </a:p>
          <a:p>
            <a:pPr>
              <a:lnSpc>
                <a:spcPts val="1610"/>
              </a:lnSpc>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31"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Example of insertion sort</a:t>
            </a:r>
          </a:p>
          <a:p>
            <a:pPr>
              <a:lnSpc>
                <a:spcPts val="5060"/>
              </a:lnSpc>
            </a:pPr>
            <a:endParaRPr lang="en-CA" sz="4402">
              <a:solidFill>
                <a:srgbClr val="000000"/>
              </a:solidFill>
            </a:endParaRPr>
          </a:p>
        </p:txBody>
      </p:sp>
      <p:sp>
        <p:nvSpPr>
          <p:cNvPr id="3" name="TextBox 3"/>
          <p:cNvSpPr txBox="1"/>
          <p:nvPr/>
        </p:nvSpPr>
        <p:spPr>
          <a:xfrm>
            <a:off x="2209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4" name="TextBox 4"/>
          <p:cNvSpPr txBox="1"/>
          <p:nvPr/>
        </p:nvSpPr>
        <p:spPr>
          <a:xfrm>
            <a:off x="31242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5" name="TextBox 5"/>
          <p:cNvSpPr txBox="1"/>
          <p:nvPr/>
        </p:nvSpPr>
        <p:spPr>
          <a:xfrm>
            <a:off x="40386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6" name="TextBox 6"/>
          <p:cNvSpPr txBox="1"/>
          <p:nvPr/>
        </p:nvSpPr>
        <p:spPr>
          <a:xfrm>
            <a:off x="49530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7" name="TextBox 7"/>
          <p:cNvSpPr txBox="1"/>
          <p:nvPr/>
        </p:nvSpPr>
        <p:spPr>
          <a:xfrm>
            <a:off x="58674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8" name="TextBox 8"/>
          <p:cNvSpPr txBox="1"/>
          <p:nvPr/>
        </p:nvSpPr>
        <p:spPr>
          <a:xfrm>
            <a:off x="6781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9" name="TextBox 9"/>
          <p:cNvSpPr txBox="1"/>
          <p:nvPr/>
        </p:nvSpPr>
        <p:spPr>
          <a:xfrm>
            <a:off x="2209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0" name="TextBox 10"/>
          <p:cNvSpPr txBox="1"/>
          <p:nvPr/>
        </p:nvSpPr>
        <p:spPr>
          <a:xfrm>
            <a:off x="31242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1" name="TextBox 11"/>
          <p:cNvSpPr txBox="1"/>
          <p:nvPr/>
        </p:nvSpPr>
        <p:spPr>
          <a:xfrm>
            <a:off x="40386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2" name="TextBox 12"/>
          <p:cNvSpPr txBox="1"/>
          <p:nvPr/>
        </p:nvSpPr>
        <p:spPr>
          <a:xfrm>
            <a:off x="49530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3" name="TextBox 13"/>
          <p:cNvSpPr txBox="1"/>
          <p:nvPr/>
        </p:nvSpPr>
        <p:spPr>
          <a:xfrm>
            <a:off x="58674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14" name="TextBox 14"/>
          <p:cNvSpPr txBox="1"/>
          <p:nvPr/>
        </p:nvSpPr>
        <p:spPr>
          <a:xfrm>
            <a:off x="6781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15" name="TextBox 15"/>
          <p:cNvSpPr txBox="1"/>
          <p:nvPr/>
        </p:nvSpPr>
        <p:spPr>
          <a:xfrm>
            <a:off x="2209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6" name="TextBox 16"/>
          <p:cNvSpPr txBox="1"/>
          <p:nvPr/>
        </p:nvSpPr>
        <p:spPr>
          <a:xfrm>
            <a:off x="31242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7" name="TextBox 17"/>
          <p:cNvSpPr txBox="1"/>
          <p:nvPr/>
        </p:nvSpPr>
        <p:spPr>
          <a:xfrm>
            <a:off x="40386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8" name="TextBox 18"/>
          <p:cNvSpPr txBox="1"/>
          <p:nvPr/>
        </p:nvSpPr>
        <p:spPr>
          <a:xfrm>
            <a:off x="49530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9" name="TextBox 19"/>
          <p:cNvSpPr txBox="1"/>
          <p:nvPr/>
        </p:nvSpPr>
        <p:spPr>
          <a:xfrm>
            <a:off x="58674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0" name="TextBox 20"/>
          <p:cNvSpPr txBox="1"/>
          <p:nvPr/>
        </p:nvSpPr>
        <p:spPr>
          <a:xfrm>
            <a:off x="6781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21" name="TextBox 21"/>
          <p:cNvSpPr txBox="1"/>
          <p:nvPr/>
        </p:nvSpPr>
        <p:spPr>
          <a:xfrm>
            <a:off x="22098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22" name="TextBox 22"/>
          <p:cNvSpPr txBox="1"/>
          <p:nvPr/>
        </p:nvSpPr>
        <p:spPr>
          <a:xfrm>
            <a:off x="31242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23" name="TextBox 23"/>
          <p:cNvSpPr txBox="1"/>
          <p:nvPr/>
        </p:nvSpPr>
        <p:spPr>
          <a:xfrm>
            <a:off x="40386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24" name="TextBox 24"/>
          <p:cNvSpPr txBox="1"/>
          <p:nvPr/>
        </p:nvSpPr>
        <p:spPr>
          <a:xfrm>
            <a:off x="49530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25" name="TextBox 25"/>
          <p:cNvSpPr txBox="1"/>
          <p:nvPr/>
        </p:nvSpPr>
        <p:spPr>
          <a:xfrm>
            <a:off x="58674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6" name="TextBox 26"/>
          <p:cNvSpPr txBox="1"/>
          <p:nvPr/>
        </p:nvSpPr>
        <p:spPr>
          <a:xfrm>
            <a:off x="67818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27" name="TextBox 27"/>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28" name="TextBox 28"/>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29" name="TextBox 2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30" name="TextBox 3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L1.14</a:t>
            </a:r>
          </a:p>
          <a:p>
            <a:pPr>
              <a:lnSpc>
                <a:spcPts val="1610"/>
              </a:lnSpc>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31"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Example of insertion sort</a:t>
            </a:r>
          </a:p>
          <a:p>
            <a:pPr>
              <a:lnSpc>
                <a:spcPts val="5060"/>
              </a:lnSpc>
            </a:pPr>
            <a:endParaRPr lang="en-CA" sz="4402">
              <a:solidFill>
                <a:srgbClr val="000000"/>
              </a:solidFill>
            </a:endParaRPr>
          </a:p>
        </p:txBody>
      </p:sp>
      <p:sp>
        <p:nvSpPr>
          <p:cNvPr id="3" name="TextBox 3"/>
          <p:cNvSpPr txBox="1"/>
          <p:nvPr/>
        </p:nvSpPr>
        <p:spPr>
          <a:xfrm>
            <a:off x="2209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4" name="TextBox 4"/>
          <p:cNvSpPr txBox="1"/>
          <p:nvPr/>
        </p:nvSpPr>
        <p:spPr>
          <a:xfrm>
            <a:off x="31242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5" name="TextBox 5"/>
          <p:cNvSpPr txBox="1"/>
          <p:nvPr/>
        </p:nvSpPr>
        <p:spPr>
          <a:xfrm>
            <a:off x="40386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6" name="TextBox 6"/>
          <p:cNvSpPr txBox="1"/>
          <p:nvPr/>
        </p:nvSpPr>
        <p:spPr>
          <a:xfrm>
            <a:off x="49530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7" name="TextBox 7"/>
          <p:cNvSpPr txBox="1"/>
          <p:nvPr/>
        </p:nvSpPr>
        <p:spPr>
          <a:xfrm>
            <a:off x="58674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8" name="TextBox 8"/>
          <p:cNvSpPr txBox="1"/>
          <p:nvPr/>
        </p:nvSpPr>
        <p:spPr>
          <a:xfrm>
            <a:off x="6781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9" name="TextBox 9"/>
          <p:cNvSpPr txBox="1"/>
          <p:nvPr/>
        </p:nvSpPr>
        <p:spPr>
          <a:xfrm>
            <a:off x="2209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0" name="TextBox 10"/>
          <p:cNvSpPr txBox="1"/>
          <p:nvPr/>
        </p:nvSpPr>
        <p:spPr>
          <a:xfrm>
            <a:off x="31242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1" name="TextBox 11"/>
          <p:cNvSpPr txBox="1"/>
          <p:nvPr/>
        </p:nvSpPr>
        <p:spPr>
          <a:xfrm>
            <a:off x="40386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2" name="TextBox 12"/>
          <p:cNvSpPr txBox="1"/>
          <p:nvPr/>
        </p:nvSpPr>
        <p:spPr>
          <a:xfrm>
            <a:off x="49530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3" name="TextBox 13"/>
          <p:cNvSpPr txBox="1"/>
          <p:nvPr/>
        </p:nvSpPr>
        <p:spPr>
          <a:xfrm>
            <a:off x="58674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14" name="TextBox 14"/>
          <p:cNvSpPr txBox="1"/>
          <p:nvPr/>
        </p:nvSpPr>
        <p:spPr>
          <a:xfrm>
            <a:off x="6781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15" name="TextBox 15"/>
          <p:cNvSpPr txBox="1"/>
          <p:nvPr/>
        </p:nvSpPr>
        <p:spPr>
          <a:xfrm>
            <a:off x="2209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6" name="TextBox 16"/>
          <p:cNvSpPr txBox="1"/>
          <p:nvPr/>
        </p:nvSpPr>
        <p:spPr>
          <a:xfrm>
            <a:off x="31242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7" name="TextBox 17"/>
          <p:cNvSpPr txBox="1"/>
          <p:nvPr/>
        </p:nvSpPr>
        <p:spPr>
          <a:xfrm>
            <a:off x="40386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8" name="TextBox 18"/>
          <p:cNvSpPr txBox="1"/>
          <p:nvPr/>
        </p:nvSpPr>
        <p:spPr>
          <a:xfrm>
            <a:off x="49530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9" name="TextBox 19"/>
          <p:cNvSpPr txBox="1"/>
          <p:nvPr/>
        </p:nvSpPr>
        <p:spPr>
          <a:xfrm>
            <a:off x="58674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0" name="TextBox 20"/>
          <p:cNvSpPr txBox="1"/>
          <p:nvPr/>
        </p:nvSpPr>
        <p:spPr>
          <a:xfrm>
            <a:off x="6781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21" name="TextBox 21"/>
          <p:cNvSpPr txBox="1"/>
          <p:nvPr/>
        </p:nvSpPr>
        <p:spPr>
          <a:xfrm>
            <a:off x="22098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22" name="TextBox 22"/>
          <p:cNvSpPr txBox="1"/>
          <p:nvPr/>
        </p:nvSpPr>
        <p:spPr>
          <a:xfrm>
            <a:off x="31242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23" name="TextBox 23"/>
          <p:cNvSpPr txBox="1"/>
          <p:nvPr/>
        </p:nvSpPr>
        <p:spPr>
          <a:xfrm>
            <a:off x="40386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24" name="TextBox 24"/>
          <p:cNvSpPr txBox="1"/>
          <p:nvPr/>
        </p:nvSpPr>
        <p:spPr>
          <a:xfrm>
            <a:off x="49530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25" name="TextBox 25"/>
          <p:cNvSpPr txBox="1"/>
          <p:nvPr/>
        </p:nvSpPr>
        <p:spPr>
          <a:xfrm>
            <a:off x="58674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6" name="TextBox 26"/>
          <p:cNvSpPr txBox="1"/>
          <p:nvPr/>
        </p:nvSpPr>
        <p:spPr>
          <a:xfrm>
            <a:off x="67818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27" name="TextBox 27"/>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28" name="TextBox 28"/>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29" name="TextBox 2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30" name="TextBox 3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L1.15</a:t>
            </a:r>
          </a:p>
          <a:p>
            <a:pPr>
              <a:lnSpc>
                <a:spcPts val="1610"/>
              </a:lnSpc>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37"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Example of insertion sort</a:t>
            </a:r>
          </a:p>
          <a:p>
            <a:pPr>
              <a:lnSpc>
                <a:spcPts val="5060"/>
              </a:lnSpc>
            </a:pPr>
            <a:endParaRPr lang="en-CA" sz="4402">
              <a:solidFill>
                <a:srgbClr val="000000"/>
              </a:solidFill>
            </a:endParaRPr>
          </a:p>
        </p:txBody>
      </p:sp>
      <p:sp>
        <p:nvSpPr>
          <p:cNvPr id="3" name="TextBox 3"/>
          <p:cNvSpPr txBox="1"/>
          <p:nvPr/>
        </p:nvSpPr>
        <p:spPr>
          <a:xfrm>
            <a:off x="2209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4" name="TextBox 4"/>
          <p:cNvSpPr txBox="1"/>
          <p:nvPr/>
        </p:nvSpPr>
        <p:spPr>
          <a:xfrm>
            <a:off x="31242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5" name="TextBox 5"/>
          <p:cNvSpPr txBox="1"/>
          <p:nvPr/>
        </p:nvSpPr>
        <p:spPr>
          <a:xfrm>
            <a:off x="40386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6" name="TextBox 6"/>
          <p:cNvSpPr txBox="1"/>
          <p:nvPr/>
        </p:nvSpPr>
        <p:spPr>
          <a:xfrm>
            <a:off x="49530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7" name="TextBox 7"/>
          <p:cNvSpPr txBox="1"/>
          <p:nvPr/>
        </p:nvSpPr>
        <p:spPr>
          <a:xfrm>
            <a:off x="58674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8" name="TextBox 8"/>
          <p:cNvSpPr txBox="1"/>
          <p:nvPr/>
        </p:nvSpPr>
        <p:spPr>
          <a:xfrm>
            <a:off x="6781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9" name="TextBox 9"/>
          <p:cNvSpPr txBox="1"/>
          <p:nvPr/>
        </p:nvSpPr>
        <p:spPr>
          <a:xfrm>
            <a:off x="2209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0" name="TextBox 10"/>
          <p:cNvSpPr txBox="1"/>
          <p:nvPr/>
        </p:nvSpPr>
        <p:spPr>
          <a:xfrm>
            <a:off x="31242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1" name="TextBox 11"/>
          <p:cNvSpPr txBox="1"/>
          <p:nvPr/>
        </p:nvSpPr>
        <p:spPr>
          <a:xfrm>
            <a:off x="40386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2" name="TextBox 12"/>
          <p:cNvSpPr txBox="1"/>
          <p:nvPr/>
        </p:nvSpPr>
        <p:spPr>
          <a:xfrm>
            <a:off x="49530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3" name="TextBox 13"/>
          <p:cNvSpPr txBox="1"/>
          <p:nvPr/>
        </p:nvSpPr>
        <p:spPr>
          <a:xfrm>
            <a:off x="58674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14" name="TextBox 14"/>
          <p:cNvSpPr txBox="1"/>
          <p:nvPr/>
        </p:nvSpPr>
        <p:spPr>
          <a:xfrm>
            <a:off x="6781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15" name="TextBox 15"/>
          <p:cNvSpPr txBox="1"/>
          <p:nvPr/>
        </p:nvSpPr>
        <p:spPr>
          <a:xfrm>
            <a:off x="2209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6" name="TextBox 16"/>
          <p:cNvSpPr txBox="1"/>
          <p:nvPr/>
        </p:nvSpPr>
        <p:spPr>
          <a:xfrm>
            <a:off x="31242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7" name="TextBox 17"/>
          <p:cNvSpPr txBox="1"/>
          <p:nvPr/>
        </p:nvSpPr>
        <p:spPr>
          <a:xfrm>
            <a:off x="40386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8" name="TextBox 18"/>
          <p:cNvSpPr txBox="1"/>
          <p:nvPr/>
        </p:nvSpPr>
        <p:spPr>
          <a:xfrm>
            <a:off x="49530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9" name="TextBox 19"/>
          <p:cNvSpPr txBox="1"/>
          <p:nvPr/>
        </p:nvSpPr>
        <p:spPr>
          <a:xfrm>
            <a:off x="58674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0" name="TextBox 20"/>
          <p:cNvSpPr txBox="1"/>
          <p:nvPr/>
        </p:nvSpPr>
        <p:spPr>
          <a:xfrm>
            <a:off x="6781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21" name="TextBox 21"/>
          <p:cNvSpPr txBox="1"/>
          <p:nvPr/>
        </p:nvSpPr>
        <p:spPr>
          <a:xfrm>
            <a:off x="22098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22" name="TextBox 22"/>
          <p:cNvSpPr txBox="1"/>
          <p:nvPr/>
        </p:nvSpPr>
        <p:spPr>
          <a:xfrm>
            <a:off x="31242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23" name="TextBox 23"/>
          <p:cNvSpPr txBox="1"/>
          <p:nvPr/>
        </p:nvSpPr>
        <p:spPr>
          <a:xfrm>
            <a:off x="40386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24" name="TextBox 24"/>
          <p:cNvSpPr txBox="1"/>
          <p:nvPr/>
        </p:nvSpPr>
        <p:spPr>
          <a:xfrm>
            <a:off x="49530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25" name="TextBox 25"/>
          <p:cNvSpPr txBox="1"/>
          <p:nvPr/>
        </p:nvSpPr>
        <p:spPr>
          <a:xfrm>
            <a:off x="58674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6" name="TextBox 26"/>
          <p:cNvSpPr txBox="1"/>
          <p:nvPr/>
        </p:nvSpPr>
        <p:spPr>
          <a:xfrm>
            <a:off x="67818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27" name="TextBox 27"/>
          <p:cNvSpPr txBox="1"/>
          <p:nvPr/>
        </p:nvSpPr>
        <p:spPr>
          <a:xfrm>
            <a:off x="22098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28" name="TextBox 28"/>
          <p:cNvSpPr txBox="1"/>
          <p:nvPr/>
        </p:nvSpPr>
        <p:spPr>
          <a:xfrm>
            <a:off x="31242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9" name="TextBox 29"/>
          <p:cNvSpPr txBox="1"/>
          <p:nvPr/>
        </p:nvSpPr>
        <p:spPr>
          <a:xfrm>
            <a:off x="40386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30" name="TextBox 30"/>
          <p:cNvSpPr txBox="1"/>
          <p:nvPr/>
        </p:nvSpPr>
        <p:spPr>
          <a:xfrm>
            <a:off x="49530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31" name="TextBox 31"/>
          <p:cNvSpPr txBox="1"/>
          <p:nvPr/>
        </p:nvSpPr>
        <p:spPr>
          <a:xfrm>
            <a:off x="58674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32" name="TextBox 32"/>
          <p:cNvSpPr txBox="1"/>
          <p:nvPr/>
        </p:nvSpPr>
        <p:spPr>
          <a:xfrm>
            <a:off x="67818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33" name="TextBox 33"/>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34" name="TextBox 34"/>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35" name="TextBox 35"/>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36" name="TextBox 36"/>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L1.16</a:t>
            </a:r>
          </a:p>
          <a:p>
            <a:pPr>
              <a:lnSpc>
                <a:spcPts val="1610"/>
              </a:lnSpc>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37"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Example of insertion sort</a:t>
            </a:r>
          </a:p>
          <a:p>
            <a:pPr>
              <a:lnSpc>
                <a:spcPts val="5060"/>
              </a:lnSpc>
            </a:pPr>
            <a:endParaRPr lang="en-CA" sz="4402">
              <a:solidFill>
                <a:srgbClr val="000000"/>
              </a:solidFill>
            </a:endParaRPr>
          </a:p>
        </p:txBody>
      </p:sp>
      <p:sp>
        <p:nvSpPr>
          <p:cNvPr id="3" name="TextBox 3"/>
          <p:cNvSpPr txBox="1"/>
          <p:nvPr/>
        </p:nvSpPr>
        <p:spPr>
          <a:xfrm>
            <a:off x="2209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4" name="TextBox 4"/>
          <p:cNvSpPr txBox="1"/>
          <p:nvPr/>
        </p:nvSpPr>
        <p:spPr>
          <a:xfrm>
            <a:off x="31242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5" name="TextBox 5"/>
          <p:cNvSpPr txBox="1"/>
          <p:nvPr/>
        </p:nvSpPr>
        <p:spPr>
          <a:xfrm>
            <a:off x="40386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6" name="TextBox 6"/>
          <p:cNvSpPr txBox="1"/>
          <p:nvPr/>
        </p:nvSpPr>
        <p:spPr>
          <a:xfrm>
            <a:off x="49530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7" name="TextBox 7"/>
          <p:cNvSpPr txBox="1"/>
          <p:nvPr/>
        </p:nvSpPr>
        <p:spPr>
          <a:xfrm>
            <a:off x="58674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8" name="TextBox 8"/>
          <p:cNvSpPr txBox="1"/>
          <p:nvPr/>
        </p:nvSpPr>
        <p:spPr>
          <a:xfrm>
            <a:off x="6781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9" name="TextBox 9"/>
          <p:cNvSpPr txBox="1"/>
          <p:nvPr/>
        </p:nvSpPr>
        <p:spPr>
          <a:xfrm>
            <a:off x="2209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0" name="TextBox 10"/>
          <p:cNvSpPr txBox="1"/>
          <p:nvPr/>
        </p:nvSpPr>
        <p:spPr>
          <a:xfrm>
            <a:off x="31242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1" name="TextBox 11"/>
          <p:cNvSpPr txBox="1"/>
          <p:nvPr/>
        </p:nvSpPr>
        <p:spPr>
          <a:xfrm>
            <a:off x="40386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2" name="TextBox 12"/>
          <p:cNvSpPr txBox="1"/>
          <p:nvPr/>
        </p:nvSpPr>
        <p:spPr>
          <a:xfrm>
            <a:off x="49530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3" name="TextBox 13"/>
          <p:cNvSpPr txBox="1"/>
          <p:nvPr/>
        </p:nvSpPr>
        <p:spPr>
          <a:xfrm>
            <a:off x="58674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14" name="TextBox 14"/>
          <p:cNvSpPr txBox="1"/>
          <p:nvPr/>
        </p:nvSpPr>
        <p:spPr>
          <a:xfrm>
            <a:off x="6781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15" name="TextBox 15"/>
          <p:cNvSpPr txBox="1"/>
          <p:nvPr/>
        </p:nvSpPr>
        <p:spPr>
          <a:xfrm>
            <a:off x="2209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6" name="TextBox 16"/>
          <p:cNvSpPr txBox="1"/>
          <p:nvPr/>
        </p:nvSpPr>
        <p:spPr>
          <a:xfrm>
            <a:off x="31242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7" name="TextBox 17"/>
          <p:cNvSpPr txBox="1"/>
          <p:nvPr/>
        </p:nvSpPr>
        <p:spPr>
          <a:xfrm>
            <a:off x="40386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8" name="TextBox 18"/>
          <p:cNvSpPr txBox="1"/>
          <p:nvPr/>
        </p:nvSpPr>
        <p:spPr>
          <a:xfrm>
            <a:off x="49530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9" name="TextBox 19"/>
          <p:cNvSpPr txBox="1"/>
          <p:nvPr/>
        </p:nvSpPr>
        <p:spPr>
          <a:xfrm>
            <a:off x="58674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0" name="TextBox 20"/>
          <p:cNvSpPr txBox="1"/>
          <p:nvPr/>
        </p:nvSpPr>
        <p:spPr>
          <a:xfrm>
            <a:off x="6781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21" name="TextBox 21"/>
          <p:cNvSpPr txBox="1"/>
          <p:nvPr/>
        </p:nvSpPr>
        <p:spPr>
          <a:xfrm>
            <a:off x="22098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22" name="TextBox 22"/>
          <p:cNvSpPr txBox="1"/>
          <p:nvPr/>
        </p:nvSpPr>
        <p:spPr>
          <a:xfrm>
            <a:off x="31242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23" name="TextBox 23"/>
          <p:cNvSpPr txBox="1"/>
          <p:nvPr/>
        </p:nvSpPr>
        <p:spPr>
          <a:xfrm>
            <a:off x="40386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24" name="TextBox 24"/>
          <p:cNvSpPr txBox="1"/>
          <p:nvPr/>
        </p:nvSpPr>
        <p:spPr>
          <a:xfrm>
            <a:off x="49530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25" name="TextBox 25"/>
          <p:cNvSpPr txBox="1"/>
          <p:nvPr/>
        </p:nvSpPr>
        <p:spPr>
          <a:xfrm>
            <a:off x="58674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6" name="TextBox 26"/>
          <p:cNvSpPr txBox="1"/>
          <p:nvPr/>
        </p:nvSpPr>
        <p:spPr>
          <a:xfrm>
            <a:off x="67818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27" name="TextBox 27"/>
          <p:cNvSpPr txBox="1"/>
          <p:nvPr/>
        </p:nvSpPr>
        <p:spPr>
          <a:xfrm>
            <a:off x="22098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28" name="TextBox 28"/>
          <p:cNvSpPr txBox="1"/>
          <p:nvPr/>
        </p:nvSpPr>
        <p:spPr>
          <a:xfrm>
            <a:off x="31242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9" name="TextBox 29"/>
          <p:cNvSpPr txBox="1"/>
          <p:nvPr/>
        </p:nvSpPr>
        <p:spPr>
          <a:xfrm>
            <a:off x="40386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30" name="TextBox 30"/>
          <p:cNvSpPr txBox="1"/>
          <p:nvPr/>
        </p:nvSpPr>
        <p:spPr>
          <a:xfrm>
            <a:off x="49530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31" name="TextBox 31"/>
          <p:cNvSpPr txBox="1"/>
          <p:nvPr/>
        </p:nvSpPr>
        <p:spPr>
          <a:xfrm>
            <a:off x="58674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32" name="TextBox 32"/>
          <p:cNvSpPr txBox="1"/>
          <p:nvPr/>
        </p:nvSpPr>
        <p:spPr>
          <a:xfrm>
            <a:off x="67818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33" name="TextBox 33"/>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34" name="TextBox 34"/>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35" name="TextBox 35"/>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36" name="TextBox 36"/>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L1.17</a:t>
            </a:r>
          </a:p>
          <a:p>
            <a:pPr>
              <a:lnSpc>
                <a:spcPts val="1610"/>
              </a:lnSpc>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44"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Example of insertion sort</a:t>
            </a:r>
          </a:p>
          <a:p>
            <a:pPr>
              <a:lnSpc>
                <a:spcPts val="5060"/>
              </a:lnSpc>
            </a:pPr>
            <a:endParaRPr lang="en-CA" sz="4402">
              <a:solidFill>
                <a:srgbClr val="000000"/>
              </a:solidFill>
            </a:endParaRPr>
          </a:p>
        </p:txBody>
      </p:sp>
      <p:sp>
        <p:nvSpPr>
          <p:cNvPr id="3" name="TextBox 3"/>
          <p:cNvSpPr txBox="1"/>
          <p:nvPr/>
        </p:nvSpPr>
        <p:spPr>
          <a:xfrm>
            <a:off x="2209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4" name="TextBox 4"/>
          <p:cNvSpPr txBox="1"/>
          <p:nvPr/>
        </p:nvSpPr>
        <p:spPr>
          <a:xfrm>
            <a:off x="31242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5" name="TextBox 5"/>
          <p:cNvSpPr txBox="1"/>
          <p:nvPr/>
        </p:nvSpPr>
        <p:spPr>
          <a:xfrm>
            <a:off x="40386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6" name="TextBox 6"/>
          <p:cNvSpPr txBox="1"/>
          <p:nvPr/>
        </p:nvSpPr>
        <p:spPr>
          <a:xfrm>
            <a:off x="49530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7" name="TextBox 7"/>
          <p:cNvSpPr txBox="1"/>
          <p:nvPr/>
        </p:nvSpPr>
        <p:spPr>
          <a:xfrm>
            <a:off x="58674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8" name="TextBox 8"/>
          <p:cNvSpPr txBox="1"/>
          <p:nvPr/>
        </p:nvSpPr>
        <p:spPr>
          <a:xfrm>
            <a:off x="6781800" y="153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9" name="TextBox 9"/>
          <p:cNvSpPr txBox="1"/>
          <p:nvPr/>
        </p:nvSpPr>
        <p:spPr>
          <a:xfrm>
            <a:off x="2209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0" name="TextBox 10"/>
          <p:cNvSpPr txBox="1"/>
          <p:nvPr/>
        </p:nvSpPr>
        <p:spPr>
          <a:xfrm>
            <a:off x="31242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1" name="TextBox 11"/>
          <p:cNvSpPr txBox="1"/>
          <p:nvPr/>
        </p:nvSpPr>
        <p:spPr>
          <a:xfrm>
            <a:off x="40386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2" name="TextBox 12"/>
          <p:cNvSpPr txBox="1"/>
          <p:nvPr/>
        </p:nvSpPr>
        <p:spPr>
          <a:xfrm>
            <a:off x="49530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3" name="TextBox 13"/>
          <p:cNvSpPr txBox="1"/>
          <p:nvPr/>
        </p:nvSpPr>
        <p:spPr>
          <a:xfrm>
            <a:off x="58674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14" name="TextBox 14"/>
          <p:cNvSpPr txBox="1"/>
          <p:nvPr/>
        </p:nvSpPr>
        <p:spPr>
          <a:xfrm>
            <a:off x="6781800" y="2298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15" name="TextBox 15"/>
          <p:cNvSpPr txBox="1"/>
          <p:nvPr/>
        </p:nvSpPr>
        <p:spPr>
          <a:xfrm>
            <a:off x="2209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16" name="TextBox 16"/>
          <p:cNvSpPr txBox="1"/>
          <p:nvPr/>
        </p:nvSpPr>
        <p:spPr>
          <a:xfrm>
            <a:off x="31242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17" name="TextBox 17"/>
          <p:cNvSpPr txBox="1"/>
          <p:nvPr/>
        </p:nvSpPr>
        <p:spPr>
          <a:xfrm>
            <a:off x="40386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18" name="TextBox 18"/>
          <p:cNvSpPr txBox="1"/>
          <p:nvPr/>
        </p:nvSpPr>
        <p:spPr>
          <a:xfrm>
            <a:off x="49530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19" name="TextBox 19"/>
          <p:cNvSpPr txBox="1"/>
          <p:nvPr/>
        </p:nvSpPr>
        <p:spPr>
          <a:xfrm>
            <a:off x="58674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0" name="TextBox 20"/>
          <p:cNvSpPr txBox="1"/>
          <p:nvPr/>
        </p:nvSpPr>
        <p:spPr>
          <a:xfrm>
            <a:off x="6781800" y="3060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21" name="TextBox 21"/>
          <p:cNvSpPr txBox="1"/>
          <p:nvPr/>
        </p:nvSpPr>
        <p:spPr>
          <a:xfrm>
            <a:off x="22098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22" name="TextBox 22"/>
          <p:cNvSpPr txBox="1"/>
          <p:nvPr/>
        </p:nvSpPr>
        <p:spPr>
          <a:xfrm>
            <a:off x="31242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23" name="TextBox 23"/>
          <p:cNvSpPr txBox="1"/>
          <p:nvPr/>
        </p:nvSpPr>
        <p:spPr>
          <a:xfrm>
            <a:off x="40386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24" name="TextBox 24"/>
          <p:cNvSpPr txBox="1"/>
          <p:nvPr/>
        </p:nvSpPr>
        <p:spPr>
          <a:xfrm>
            <a:off x="49530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25" name="TextBox 25"/>
          <p:cNvSpPr txBox="1"/>
          <p:nvPr/>
        </p:nvSpPr>
        <p:spPr>
          <a:xfrm>
            <a:off x="58674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6" name="TextBox 26"/>
          <p:cNvSpPr txBox="1"/>
          <p:nvPr/>
        </p:nvSpPr>
        <p:spPr>
          <a:xfrm>
            <a:off x="6781800" y="3822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27" name="TextBox 27"/>
          <p:cNvSpPr txBox="1"/>
          <p:nvPr/>
        </p:nvSpPr>
        <p:spPr>
          <a:xfrm>
            <a:off x="22098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28" name="TextBox 28"/>
          <p:cNvSpPr txBox="1"/>
          <p:nvPr/>
        </p:nvSpPr>
        <p:spPr>
          <a:xfrm>
            <a:off x="31242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29" name="TextBox 29"/>
          <p:cNvSpPr txBox="1"/>
          <p:nvPr/>
        </p:nvSpPr>
        <p:spPr>
          <a:xfrm>
            <a:off x="40386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30" name="TextBox 30"/>
          <p:cNvSpPr txBox="1"/>
          <p:nvPr/>
        </p:nvSpPr>
        <p:spPr>
          <a:xfrm>
            <a:off x="49530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31" name="TextBox 31"/>
          <p:cNvSpPr txBox="1"/>
          <p:nvPr/>
        </p:nvSpPr>
        <p:spPr>
          <a:xfrm>
            <a:off x="58674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32" name="TextBox 32"/>
          <p:cNvSpPr txBox="1"/>
          <p:nvPr/>
        </p:nvSpPr>
        <p:spPr>
          <a:xfrm>
            <a:off x="6781800" y="4584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33" name="TextBox 33"/>
          <p:cNvSpPr txBox="1"/>
          <p:nvPr/>
        </p:nvSpPr>
        <p:spPr>
          <a:xfrm>
            <a:off x="2209800" y="534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2</a:t>
            </a:r>
          </a:p>
          <a:p>
            <a:pPr>
              <a:lnSpc>
                <a:spcPts val="3680"/>
              </a:lnSpc>
            </a:pPr>
            <a:endParaRPr/>
          </a:p>
        </p:txBody>
      </p:sp>
      <p:sp>
        <p:nvSpPr>
          <p:cNvPr id="34" name="TextBox 34"/>
          <p:cNvSpPr txBox="1"/>
          <p:nvPr/>
        </p:nvSpPr>
        <p:spPr>
          <a:xfrm>
            <a:off x="3124200" y="534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3</a:t>
            </a:r>
          </a:p>
          <a:p>
            <a:pPr>
              <a:lnSpc>
                <a:spcPts val="3680"/>
              </a:lnSpc>
            </a:pPr>
            <a:endParaRPr/>
          </a:p>
        </p:txBody>
      </p:sp>
      <p:sp>
        <p:nvSpPr>
          <p:cNvPr id="35" name="TextBox 35"/>
          <p:cNvSpPr txBox="1"/>
          <p:nvPr/>
        </p:nvSpPr>
        <p:spPr>
          <a:xfrm>
            <a:off x="4038600" y="534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4</a:t>
            </a:r>
          </a:p>
          <a:p>
            <a:pPr>
              <a:lnSpc>
                <a:spcPts val="3680"/>
              </a:lnSpc>
            </a:pPr>
            <a:endParaRPr/>
          </a:p>
        </p:txBody>
      </p:sp>
      <p:sp>
        <p:nvSpPr>
          <p:cNvPr id="36" name="TextBox 36"/>
          <p:cNvSpPr txBox="1"/>
          <p:nvPr/>
        </p:nvSpPr>
        <p:spPr>
          <a:xfrm>
            <a:off x="4953000" y="534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6</a:t>
            </a:r>
          </a:p>
          <a:p>
            <a:pPr>
              <a:lnSpc>
                <a:spcPts val="3680"/>
              </a:lnSpc>
            </a:pPr>
            <a:endParaRPr/>
          </a:p>
        </p:txBody>
      </p:sp>
      <p:sp>
        <p:nvSpPr>
          <p:cNvPr id="37" name="TextBox 37"/>
          <p:cNvSpPr txBox="1"/>
          <p:nvPr/>
        </p:nvSpPr>
        <p:spPr>
          <a:xfrm>
            <a:off x="5867400" y="534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8</a:t>
            </a:r>
          </a:p>
          <a:p>
            <a:pPr>
              <a:lnSpc>
                <a:spcPts val="3680"/>
              </a:lnSpc>
            </a:pPr>
            <a:endParaRPr/>
          </a:p>
        </p:txBody>
      </p:sp>
      <p:sp>
        <p:nvSpPr>
          <p:cNvPr id="38" name="TextBox 38"/>
          <p:cNvSpPr txBox="1"/>
          <p:nvPr/>
        </p:nvSpPr>
        <p:spPr>
          <a:xfrm>
            <a:off x="6781800" y="5346700"/>
            <a:ext cx="5080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9</a:t>
            </a:r>
          </a:p>
          <a:p>
            <a:pPr>
              <a:lnSpc>
                <a:spcPts val="3680"/>
              </a:lnSpc>
            </a:pPr>
            <a:endParaRPr/>
          </a:p>
        </p:txBody>
      </p:sp>
      <p:sp>
        <p:nvSpPr>
          <p:cNvPr id="39" name="TextBox 39"/>
          <p:cNvSpPr txBox="1"/>
          <p:nvPr/>
        </p:nvSpPr>
        <p:spPr>
          <a:xfrm>
            <a:off x="7327900" y="5346700"/>
            <a:ext cx="10922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Italic"/>
                <a:cs typeface="Times New Roman Italic"/>
              </a:rPr>
              <a:t>done</a:t>
            </a:r>
          </a:p>
          <a:p>
            <a:pPr>
              <a:lnSpc>
                <a:spcPts val="3680"/>
              </a:lnSpc>
            </a:pPr>
            <a:endParaRPr/>
          </a:p>
        </p:txBody>
      </p:sp>
      <p:sp>
        <p:nvSpPr>
          <p:cNvPr id="40" name="TextBox 40"/>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41" name="TextBox 41"/>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42" name="TextBox 42"/>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43" name="TextBox 43"/>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L1.18</a:t>
            </a:r>
          </a:p>
          <a:p>
            <a:pPr>
              <a:lnSpc>
                <a:spcPts val="1610"/>
              </a:lnSpc>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0"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Running time</a:t>
            </a:r>
          </a:p>
          <a:p>
            <a:pPr>
              <a:lnSpc>
                <a:spcPts val="5060"/>
              </a:lnSpc>
            </a:pPr>
            <a:endParaRPr lang="en-CA" sz="4402">
              <a:solidFill>
                <a:srgbClr val="000000"/>
              </a:solidFill>
            </a:endParaRPr>
          </a:p>
        </p:txBody>
      </p:sp>
      <p:sp>
        <p:nvSpPr>
          <p:cNvPr id="3" name="TextBox 3"/>
          <p:cNvSpPr txBox="1"/>
          <p:nvPr/>
        </p:nvSpPr>
        <p:spPr>
          <a:xfrm>
            <a:off x="800100" y="1917700"/>
            <a:ext cx="8318500" cy="1016000"/>
          </a:xfrm>
          <a:prstGeom prst="rect">
            <a:avLst/>
          </a:prstGeom>
          <a:noFill/>
        </p:spPr>
        <p:txBody>
          <a:bodyPr vert="horz" wrap="none" lIns="0" tIns="0" rIns="0" bIns="0" rtlCol="0">
            <a:spAutoFit/>
          </a:bodyPr>
          <a:lstStyle/>
          <a:p>
            <a:pPr>
              <a:lnSpc>
                <a:spcPts val="330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The running time depends on the input: an</a:t>
            </a:r>
            <a:br>
              <a:rPr lang="en-CA" sz="3201">
                <a:solidFill>
                  <a:srgbClr val="000000"/>
                </a:solidFill>
                <a:latin typeface="Times New Roman"/>
              </a:rPr>
            </a:br>
            <a:r>
              <a:rPr lang="en-CA" sz="3201">
                <a:solidFill>
                  <a:srgbClr val="000000"/>
                </a:solidFill>
                <a:latin typeface="Times New Roman"/>
                <a:cs typeface="Times New Roman"/>
              </a:rPr>
              <a:t>already sorted sequence is easier to sort.</a:t>
            </a:r>
          </a:p>
          <a:p>
            <a:pPr>
              <a:lnSpc>
                <a:spcPts val="3300"/>
              </a:lnSpc>
            </a:pPr>
            <a:endParaRPr lang="en-CA" sz="3201">
              <a:solidFill>
                <a:srgbClr val="000000"/>
              </a:solidFill>
            </a:endParaRPr>
          </a:p>
        </p:txBody>
      </p:sp>
      <p:sp>
        <p:nvSpPr>
          <p:cNvPr id="4" name="TextBox 4"/>
          <p:cNvSpPr txBox="1"/>
          <p:nvPr/>
        </p:nvSpPr>
        <p:spPr>
          <a:xfrm>
            <a:off x="800100" y="2870200"/>
            <a:ext cx="8318500" cy="1435100"/>
          </a:xfrm>
          <a:prstGeom prst="rect">
            <a:avLst/>
          </a:prstGeom>
          <a:noFill/>
        </p:spPr>
        <p:txBody>
          <a:bodyPr vert="horz" wrap="none" lIns="0" tIns="0" rIns="0" bIns="0" rtlCol="0">
            <a:spAutoFit/>
          </a:bodyPr>
          <a:lstStyle/>
          <a:p>
            <a:pPr>
              <a:lnSpc>
                <a:spcPts val="330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Parameterize the running time by the size of</a:t>
            </a:r>
            <a:br>
              <a:rPr lang="en-CA" sz="3201" dirty="0">
                <a:solidFill>
                  <a:srgbClr val="000000"/>
                </a:solidFill>
                <a:latin typeface="Times New Roman"/>
              </a:rPr>
            </a:br>
            <a:r>
              <a:rPr lang="en-CA" sz="3201" dirty="0">
                <a:solidFill>
                  <a:srgbClr val="000000"/>
                </a:solidFill>
                <a:latin typeface="Times New Roman"/>
                <a:cs typeface="Times New Roman"/>
              </a:rPr>
              <a:t>the input, since short sequences are easier to</a:t>
            </a:r>
            <a:br>
              <a:rPr lang="en-CA" sz="3201" dirty="0">
                <a:solidFill>
                  <a:srgbClr val="000000"/>
                </a:solidFill>
                <a:latin typeface="Times New Roman"/>
              </a:rPr>
            </a:br>
            <a:r>
              <a:rPr lang="en-CA" sz="3201" dirty="0">
                <a:solidFill>
                  <a:srgbClr val="000000"/>
                </a:solidFill>
                <a:latin typeface="Times New Roman"/>
                <a:cs typeface="Times New Roman"/>
              </a:rPr>
              <a:t>sort than long ones.</a:t>
            </a:r>
          </a:p>
          <a:p>
            <a:pPr>
              <a:lnSpc>
                <a:spcPts val="3300"/>
              </a:lnSpc>
            </a:pPr>
            <a:endParaRPr lang="en-CA" sz="3201" dirty="0">
              <a:solidFill>
                <a:srgbClr val="000000"/>
              </a:solidFill>
            </a:endParaRPr>
          </a:p>
        </p:txBody>
      </p:sp>
      <p:sp>
        <p:nvSpPr>
          <p:cNvPr id="5" name="TextBox 5"/>
          <p:cNvSpPr txBox="1"/>
          <p:nvPr/>
        </p:nvSpPr>
        <p:spPr>
          <a:xfrm>
            <a:off x="800100" y="4241800"/>
            <a:ext cx="8318500" cy="1435100"/>
          </a:xfrm>
          <a:prstGeom prst="rect">
            <a:avLst/>
          </a:prstGeom>
          <a:noFill/>
        </p:spPr>
        <p:txBody>
          <a:bodyPr vert="horz" wrap="none" lIns="0" tIns="0" rIns="0" bIns="0" rtlCol="0">
            <a:spAutoFit/>
          </a:bodyPr>
          <a:lstStyle/>
          <a:p>
            <a:pPr>
              <a:lnSpc>
                <a:spcPts val="325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Generally, we seek upper bounds on the</a:t>
            </a:r>
            <a:br>
              <a:rPr lang="en-CA" sz="3201" dirty="0">
                <a:solidFill>
                  <a:srgbClr val="000000"/>
                </a:solidFill>
                <a:latin typeface="Times New Roman"/>
              </a:rPr>
            </a:br>
            <a:r>
              <a:rPr lang="en-CA" sz="3201" dirty="0">
                <a:solidFill>
                  <a:srgbClr val="000000"/>
                </a:solidFill>
                <a:latin typeface="Times New Roman"/>
                <a:cs typeface="Times New Roman"/>
              </a:rPr>
              <a:t>running time, because everybody likes a</a:t>
            </a:r>
            <a:br>
              <a:rPr lang="en-CA" sz="3201" dirty="0">
                <a:solidFill>
                  <a:srgbClr val="000000"/>
                </a:solidFill>
                <a:latin typeface="Times New Roman"/>
              </a:rPr>
            </a:br>
            <a:r>
              <a:rPr lang="en-CA" sz="3201" dirty="0">
                <a:solidFill>
                  <a:srgbClr val="000000"/>
                </a:solidFill>
                <a:latin typeface="Times New Roman"/>
                <a:cs typeface="Times New Roman"/>
              </a:rPr>
              <a:t>guarantee.</a:t>
            </a:r>
          </a:p>
          <a:p>
            <a:pPr>
              <a:lnSpc>
                <a:spcPts val="3250"/>
              </a:lnSpc>
            </a:pPr>
            <a:endParaRPr lang="en-CA" sz="3201" dirty="0">
              <a:solidFill>
                <a:srgbClr val="000000"/>
              </a:solidFill>
            </a:endParaRPr>
          </a:p>
        </p:txBody>
      </p:sp>
      <p:sp>
        <p:nvSpPr>
          <p:cNvPr id="6" name="TextBox 6"/>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7" name="TextBox 7"/>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8" name="TextBox 8"/>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9" name="TextBox 9"/>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L1.19</a:t>
            </a:r>
          </a:p>
          <a:p>
            <a:pPr>
              <a:lnSpc>
                <a:spcPts val="1610"/>
              </a:lnSpc>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5"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Kinds of analyses</a:t>
            </a:r>
          </a:p>
          <a:p>
            <a:pPr>
              <a:lnSpc>
                <a:spcPts val="5060"/>
              </a:lnSpc>
            </a:pPr>
            <a:endParaRPr lang="en-CA" sz="4402">
              <a:solidFill>
                <a:srgbClr val="000000"/>
              </a:solidFill>
            </a:endParaRPr>
          </a:p>
        </p:txBody>
      </p:sp>
      <p:sp>
        <p:nvSpPr>
          <p:cNvPr id="3" name="TextBox 3"/>
          <p:cNvSpPr txBox="1"/>
          <p:nvPr/>
        </p:nvSpPr>
        <p:spPr>
          <a:xfrm>
            <a:off x="1231900" y="1498600"/>
            <a:ext cx="7886700" cy="609600"/>
          </a:xfrm>
          <a:prstGeom prst="rect">
            <a:avLst/>
          </a:prstGeom>
          <a:noFill/>
        </p:spPr>
        <p:txBody>
          <a:bodyPr vert="horz" wrap="none" lIns="0" tIns="0" rIns="0" bIns="0" rtlCol="0">
            <a:spAutoFit/>
          </a:bodyPr>
          <a:lstStyle/>
          <a:p>
            <a:pPr>
              <a:lnSpc>
                <a:spcPts val="3680"/>
              </a:lnSpc>
            </a:pPr>
            <a:r>
              <a:rPr lang="en-CA" sz="3211" b="1">
                <a:solidFill>
                  <a:srgbClr val="CC0000"/>
                </a:solidFill>
                <a:latin typeface="Times New Roman Bold"/>
                <a:cs typeface="Times New Roman Bold"/>
              </a:rPr>
              <a:t>Worst-case: </a:t>
            </a:r>
            <a:r>
              <a:rPr lang="en-CA" sz="3201">
                <a:solidFill>
                  <a:srgbClr val="000000"/>
                </a:solidFill>
                <a:latin typeface="Times New Roman"/>
                <a:cs typeface="Times New Roman"/>
              </a:rPr>
              <a:t>(usually)</a:t>
            </a:r>
          </a:p>
          <a:p>
            <a:pPr>
              <a:lnSpc>
                <a:spcPts val="3680"/>
              </a:lnSpc>
            </a:pPr>
            <a:endParaRPr lang="en-CA" sz="3201">
              <a:solidFill>
                <a:srgbClr val="000000"/>
              </a:solidFill>
            </a:endParaRPr>
          </a:p>
        </p:txBody>
      </p:sp>
      <p:sp>
        <p:nvSpPr>
          <p:cNvPr id="4" name="TextBox 4"/>
          <p:cNvSpPr txBox="1"/>
          <p:nvPr/>
        </p:nvSpPr>
        <p:spPr>
          <a:xfrm>
            <a:off x="1689100" y="2006600"/>
            <a:ext cx="7429500" cy="1016000"/>
          </a:xfrm>
          <a:prstGeom prst="rect">
            <a:avLst/>
          </a:prstGeom>
          <a:noFill/>
        </p:spPr>
        <p:txBody>
          <a:bodyPr vert="horz" wrap="none" lIns="0" tIns="0" rIns="0" bIns="0" rtlCol="0">
            <a:spAutoFit/>
          </a:bodyPr>
          <a:lstStyle/>
          <a:p>
            <a:pPr>
              <a:lnSpc>
                <a:spcPts val="3300"/>
              </a:lnSpc>
            </a:pPr>
            <a:r>
              <a:rPr lang="en-CA" sz="3201">
                <a:solidFill>
                  <a:srgbClr val="CC0000"/>
                </a:solidFill>
                <a:latin typeface="Times New Roman"/>
                <a:cs typeface="Times New Roman"/>
              </a:rPr>
              <a:t>•</a:t>
            </a:r>
            <a:r>
              <a:rPr lang="en-CA" sz="3201">
                <a:solidFill>
                  <a:srgbClr val="9A9A00"/>
                </a:solidFill>
                <a:latin typeface="Times New Roman Italic"/>
                <a:cs typeface="Times New Roman Italic"/>
              </a:rPr>
              <a:t> T</a:t>
            </a:r>
            <a:r>
              <a:rPr lang="en-CA" sz="3201">
                <a:solidFill>
                  <a:srgbClr val="9A9A00"/>
                </a:solidFill>
                <a:latin typeface="Times New Roman"/>
                <a:cs typeface="Times New Roman"/>
              </a:rPr>
              <a:t>(</a:t>
            </a:r>
            <a:r>
              <a:rPr lang="en-CA" sz="3201">
                <a:solidFill>
                  <a:srgbClr val="9A9A00"/>
                </a:solidFill>
                <a:latin typeface="Times New Roman Italic"/>
                <a:cs typeface="Times New Roman Italic"/>
              </a:rPr>
              <a:t>n</a:t>
            </a:r>
            <a:r>
              <a:rPr lang="en-CA" sz="3201">
                <a:solidFill>
                  <a:srgbClr val="9A9A00"/>
                </a:solidFill>
                <a:latin typeface="Times New Roman"/>
                <a:cs typeface="Times New Roman"/>
              </a:rPr>
              <a:t>) =</a:t>
            </a:r>
            <a:r>
              <a:rPr lang="en-CA" sz="3201">
                <a:solidFill>
                  <a:srgbClr val="000000"/>
                </a:solidFill>
                <a:latin typeface="Times New Roman"/>
                <a:cs typeface="Times New Roman"/>
              </a:rPr>
              <a:t> maximum time of algorithm</a:t>
            </a:r>
            <a:br>
              <a:rPr lang="en-CA" sz="3201">
                <a:solidFill>
                  <a:srgbClr val="000000"/>
                </a:solidFill>
                <a:latin typeface="Times New Roman"/>
              </a:rPr>
            </a:br>
            <a:r>
              <a:rPr lang="en-CA" sz="3201">
                <a:solidFill>
                  <a:srgbClr val="000000"/>
                </a:solidFill>
                <a:latin typeface="Times New Roman"/>
                <a:cs typeface="Times New Roman"/>
              </a:rPr>
              <a:t>on any input of size </a:t>
            </a:r>
            <a:r>
              <a:rPr lang="en-CA" sz="3201">
                <a:solidFill>
                  <a:srgbClr val="9A9A00"/>
                </a:solidFill>
                <a:latin typeface="Times New Roman Italic"/>
                <a:cs typeface="Times New Roman Italic"/>
              </a:rPr>
              <a:t>n</a:t>
            </a:r>
            <a:r>
              <a:rPr lang="en-CA" sz="3201">
                <a:solidFill>
                  <a:srgbClr val="000000"/>
                </a:solidFill>
                <a:latin typeface="Times New Roman"/>
                <a:cs typeface="Times New Roman"/>
              </a:rPr>
              <a:t>.</a:t>
            </a:r>
          </a:p>
          <a:p>
            <a:pPr>
              <a:lnSpc>
                <a:spcPts val="3300"/>
              </a:lnSpc>
            </a:pPr>
            <a:endParaRPr lang="en-CA" sz="3201">
              <a:solidFill>
                <a:srgbClr val="000000"/>
              </a:solidFill>
            </a:endParaRPr>
          </a:p>
        </p:txBody>
      </p:sp>
      <p:sp>
        <p:nvSpPr>
          <p:cNvPr id="5" name="TextBox 5"/>
          <p:cNvSpPr txBox="1"/>
          <p:nvPr/>
        </p:nvSpPr>
        <p:spPr>
          <a:xfrm>
            <a:off x="1231900" y="2857500"/>
            <a:ext cx="7886700" cy="609600"/>
          </a:xfrm>
          <a:prstGeom prst="rect">
            <a:avLst/>
          </a:prstGeom>
          <a:noFill/>
        </p:spPr>
        <p:txBody>
          <a:bodyPr vert="horz" wrap="none" lIns="0" tIns="0" rIns="0" bIns="0" rtlCol="0">
            <a:spAutoFit/>
          </a:bodyPr>
          <a:lstStyle/>
          <a:p>
            <a:pPr>
              <a:lnSpc>
                <a:spcPts val="3530"/>
              </a:lnSpc>
            </a:pPr>
            <a:r>
              <a:rPr lang="en-CA" sz="3211" b="1">
                <a:solidFill>
                  <a:srgbClr val="CC0000"/>
                </a:solidFill>
                <a:latin typeface="Times New Roman Bold"/>
                <a:cs typeface="Times New Roman Bold"/>
              </a:rPr>
              <a:t>Average-case: </a:t>
            </a:r>
            <a:r>
              <a:rPr lang="en-CA" sz="3201">
                <a:solidFill>
                  <a:srgbClr val="000000"/>
                </a:solidFill>
                <a:latin typeface="Times New Roman"/>
                <a:cs typeface="Times New Roman"/>
              </a:rPr>
              <a:t>(sometimes)</a:t>
            </a:r>
          </a:p>
          <a:p>
            <a:pPr>
              <a:lnSpc>
                <a:spcPts val="3530"/>
              </a:lnSpc>
            </a:pPr>
            <a:endParaRPr lang="en-CA" sz="3201">
              <a:solidFill>
                <a:srgbClr val="000000"/>
              </a:solidFill>
            </a:endParaRPr>
          </a:p>
        </p:txBody>
      </p:sp>
      <p:sp>
        <p:nvSpPr>
          <p:cNvPr id="6" name="TextBox 6"/>
          <p:cNvSpPr txBox="1"/>
          <p:nvPr/>
        </p:nvSpPr>
        <p:spPr>
          <a:xfrm>
            <a:off x="1689100" y="3352800"/>
            <a:ext cx="7429500" cy="1016000"/>
          </a:xfrm>
          <a:prstGeom prst="rect">
            <a:avLst/>
          </a:prstGeom>
          <a:noFill/>
        </p:spPr>
        <p:txBody>
          <a:bodyPr vert="horz" wrap="none" lIns="0" tIns="0" rIns="0" bIns="0" rtlCol="0">
            <a:spAutoFit/>
          </a:bodyPr>
          <a:lstStyle/>
          <a:p>
            <a:pPr>
              <a:lnSpc>
                <a:spcPts val="3200"/>
              </a:lnSpc>
            </a:pPr>
            <a:r>
              <a:rPr lang="en-CA" sz="3201">
                <a:solidFill>
                  <a:srgbClr val="CC0000"/>
                </a:solidFill>
                <a:latin typeface="Times New Roman"/>
                <a:cs typeface="Times New Roman"/>
              </a:rPr>
              <a:t>•</a:t>
            </a:r>
            <a:r>
              <a:rPr lang="en-CA" sz="3201">
                <a:solidFill>
                  <a:srgbClr val="9A9A00"/>
                </a:solidFill>
                <a:latin typeface="Times New Roman Italic"/>
                <a:cs typeface="Times New Roman Italic"/>
              </a:rPr>
              <a:t> T</a:t>
            </a:r>
            <a:r>
              <a:rPr lang="en-CA" sz="3201">
                <a:solidFill>
                  <a:srgbClr val="9A9A00"/>
                </a:solidFill>
                <a:latin typeface="Times New Roman"/>
                <a:cs typeface="Times New Roman"/>
              </a:rPr>
              <a:t>(</a:t>
            </a:r>
            <a:r>
              <a:rPr lang="en-CA" sz="3201">
                <a:solidFill>
                  <a:srgbClr val="9A9A00"/>
                </a:solidFill>
                <a:latin typeface="Times New Roman Italic"/>
                <a:cs typeface="Times New Roman Italic"/>
              </a:rPr>
              <a:t>n</a:t>
            </a:r>
            <a:r>
              <a:rPr lang="en-CA" sz="3201">
                <a:solidFill>
                  <a:srgbClr val="9A9A00"/>
                </a:solidFill>
                <a:latin typeface="Times New Roman"/>
                <a:cs typeface="Times New Roman"/>
              </a:rPr>
              <a:t>) =</a:t>
            </a:r>
            <a:r>
              <a:rPr lang="en-CA" sz="3201">
                <a:solidFill>
                  <a:srgbClr val="000000"/>
                </a:solidFill>
                <a:latin typeface="Times New Roman"/>
                <a:cs typeface="Times New Roman"/>
              </a:rPr>
              <a:t> expected time of algorithm</a:t>
            </a:r>
            <a:br>
              <a:rPr lang="en-CA" sz="3201">
                <a:solidFill>
                  <a:srgbClr val="000000"/>
                </a:solidFill>
                <a:latin typeface="Times New Roman"/>
              </a:rPr>
            </a:br>
            <a:r>
              <a:rPr lang="en-CA" sz="3201">
                <a:solidFill>
                  <a:srgbClr val="000000"/>
                </a:solidFill>
                <a:latin typeface="Times New Roman"/>
                <a:cs typeface="Times New Roman"/>
              </a:rPr>
              <a:t>over all inputs of size </a:t>
            </a:r>
            <a:r>
              <a:rPr lang="en-CA" sz="3201">
                <a:solidFill>
                  <a:srgbClr val="9A9A00"/>
                </a:solidFill>
                <a:latin typeface="Times New Roman Italic"/>
                <a:cs typeface="Times New Roman Italic"/>
              </a:rPr>
              <a:t>n</a:t>
            </a:r>
            <a:r>
              <a:rPr lang="en-CA" sz="3201">
                <a:solidFill>
                  <a:srgbClr val="000000"/>
                </a:solidFill>
                <a:latin typeface="Times New Roman"/>
                <a:cs typeface="Times New Roman"/>
              </a:rPr>
              <a:t>.</a:t>
            </a:r>
          </a:p>
          <a:p>
            <a:pPr>
              <a:lnSpc>
                <a:spcPts val="3200"/>
              </a:lnSpc>
            </a:pPr>
            <a:endParaRPr lang="en-CA" sz="3201">
              <a:solidFill>
                <a:srgbClr val="000000"/>
              </a:solidFill>
            </a:endParaRPr>
          </a:p>
        </p:txBody>
      </p:sp>
      <p:sp>
        <p:nvSpPr>
          <p:cNvPr id="7" name="TextBox 7"/>
          <p:cNvSpPr txBox="1"/>
          <p:nvPr/>
        </p:nvSpPr>
        <p:spPr>
          <a:xfrm>
            <a:off x="1689100" y="4229100"/>
            <a:ext cx="7429500" cy="1016000"/>
          </a:xfrm>
          <a:prstGeom prst="rect">
            <a:avLst/>
          </a:prstGeom>
          <a:noFill/>
        </p:spPr>
        <p:txBody>
          <a:bodyPr vert="horz" wrap="none" lIns="0" tIns="0" rIns="0" bIns="0" rtlCol="0">
            <a:spAutoFit/>
          </a:bodyPr>
          <a:lstStyle/>
          <a:p>
            <a:pPr>
              <a:lnSpc>
                <a:spcPts val="320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Need assumption of statistical</a:t>
            </a:r>
            <a:br>
              <a:rPr lang="en-CA" sz="3201">
                <a:solidFill>
                  <a:srgbClr val="000000"/>
                </a:solidFill>
                <a:latin typeface="Times New Roman"/>
              </a:rPr>
            </a:br>
            <a:r>
              <a:rPr lang="en-CA" sz="3201">
                <a:solidFill>
                  <a:srgbClr val="000000"/>
                </a:solidFill>
                <a:latin typeface="Times New Roman"/>
                <a:cs typeface="Times New Roman"/>
              </a:rPr>
              <a:t>distribution of inputs.</a:t>
            </a:r>
          </a:p>
          <a:p>
            <a:pPr>
              <a:lnSpc>
                <a:spcPts val="3200"/>
              </a:lnSpc>
            </a:pPr>
            <a:endParaRPr lang="en-CA" sz="3201">
              <a:solidFill>
                <a:srgbClr val="000000"/>
              </a:solidFill>
            </a:endParaRPr>
          </a:p>
        </p:txBody>
      </p:sp>
      <p:sp>
        <p:nvSpPr>
          <p:cNvPr id="8" name="TextBox 8"/>
          <p:cNvSpPr txBox="1"/>
          <p:nvPr/>
        </p:nvSpPr>
        <p:spPr>
          <a:xfrm>
            <a:off x="1231900" y="5054600"/>
            <a:ext cx="7886700" cy="609600"/>
          </a:xfrm>
          <a:prstGeom prst="rect">
            <a:avLst/>
          </a:prstGeom>
          <a:noFill/>
        </p:spPr>
        <p:txBody>
          <a:bodyPr vert="horz" wrap="none" lIns="0" tIns="0" rIns="0" bIns="0" rtlCol="0">
            <a:spAutoFit/>
          </a:bodyPr>
          <a:lstStyle/>
          <a:p>
            <a:pPr>
              <a:lnSpc>
                <a:spcPts val="3680"/>
              </a:lnSpc>
            </a:pPr>
            <a:r>
              <a:rPr lang="en-CA" sz="3211" b="1">
                <a:solidFill>
                  <a:srgbClr val="CC0000"/>
                </a:solidFill>
                <a:latin typeface="Times New Roman Bold"/>
                <a:cs typeface="Times New Roman Bold"/>
              </a:rPr>
              <a:t>Best-case: </a:t>
            </a:r>
            <a:r>
              <a:rPr lang="en-CA" sz="3201">
                <a:solidFill>
                  <a:srgbClr val="000000"/>
                </a:solidFill>
                <a:latin typeface="Times New Roman"/>
                <a:cs typeface="Times New Roman"/>
              </a:rPr>
              <a:t>(bogus)</a:t>
            </a:r>
          </a:p>
          <a:p>
            <a:pPr>
              <a:lnSpc>
                <a:spcPts val="3680"/>
              </a:lnSpc>
            </a:pPr>
            <a:endParaRPr lang="en-CA" sz="3201">
              <a:solidFill>
                <a:srgbClr val="000000"/>
              </a:solidFill>
            </a:endParaRPr>
          </a:p>
        </p:txBody>
      </p:sp>
      <p:sp>
        <p:nvSpPr>
          <p:cNvPr id="9" name="TextBox 9"/>
          <p:cNvSpPr txBox="1"/>
          <p:nvPr/>
        </p:nvSpPr>
        <p:spPr>
          <a:xfrm>
            <a:off x="1689100" y="5537200"/>
            <a:ext cx="7429500" cy="609600"/>
          </a:xfrm>
          <a:prstGeom prst="rect">
            <a:avLst/>
          </a:prstGeom>
          <a:noFill/>
        </p:spPr>
        <p:txBody>
          <a:bodyPr vert="horz" wrap="none" lIns="0" tIns="0" rIns="0" bIns="0" rtlCol="0">
            <a:spAutoFit/>
          </a:bodyPr>
          <a:lstStyle/>
          <a:p>
            <a:pPr>
              <a:lnSpc>
                <a:spcPts val="358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Cheat with a slow algorithm that</a:t>
            </a:r>
          </a:p>
          <a:p>
            <a:pPr>
              <a:lnSpc>
                <a:spcPts val="3580"/>
              </a:lnSpc>
            </a:pPr>
            <a:endParaRPr lang="en-CA" sz="3201">
              <a:solidFill>
                <a:srgbClr val="000000"/>
              </a:solidFill>
            </a:endParaRPr>
          </a:p>
        </p:txBody>
      </p:sp>
      <p:sp>
        <p:nvSpPr>
          <p:cNvPr id="10" name="TextBox 10"/>
          <p:cNvSpPr txBox="1"/>
          <p:nvPr/>
        </p:nvSpPr>
        <p:spPr>
          <a:xfrm>
            <a:off x="1930400" y="5981700"/>
            <a:ext cx="7188200" cy="609600"/>
          </a:xfrm>
          <a:prstGeom prst="rect">
            <a:avLst/>
          </a:prstGeom>
          <a:noFill/>
        </p:spPr>
        <p:txBody>
          <a:bodyPr vert="horz" wrap="none" lIns="0" tIns="0" rIns="0" bIns="0" rtlCol="0">
            <a:spAutoFit/>
          </a:bodyPr>
          <a:lstStyle/>
          <a:p>
            <a:pPr>
              <a:lnSpc>
                <a:spcPts val="3240"/>
              </a:lnSpc>
            </a:pPr>
            <a:r>
              <a:rPr lang="en-CA" sz="3201">
                <a:solidFill>
                  <a:srgbClr val="000000"/>
                </a:solidFill>
                <a:latin typeface="Times New Roman"/>
                <a:cs typeface="Times New Roman"/>
              </a:rPr>
              <a:t>works fast on </a:t>
            </a:r>
            <a:r>
              <a:rPr lang="en-CA" sz="3201">
                <a:solidFill>
                  <a:srgbClr val="000000"/>
                </a:solidFill>
                <a:latin typeface="Times New Roman Italic"/>
                <a:cs typeface="Times New Roman Italic"/>
              </a:rPr>
              <a:t>some</a:t>
            </a:r>
            <a:r>
              <a:rPr lang="en-CA" sz="3201">
                <a:solidFill>
                  <a:srgbClr val="000000"/>
                </a:solidFill>
                <a:latin typeface="Times New Roman"/>
                <a:cs typeface="Times New Roman"/>
              </a:rPr>
              <a:t> input.</a:t>
            </a:r>
          </a:p>
          <a:p>
            <a:pPr>
              <a:lnSpc>
                <a:spcPts val="3240"/>
              </a:lnSpc>
            </a:pPr>
            <a:endParaRPr lang="en-CA" sz="3201">
              <a:solidFill>
                <a:srgbClr val="000000"/>
              </a:solidFill>
            </a:endParaRPr>
          </a:p>
        </p:txBody>
      </p:sp>
      <p:sp>
        <p:nvSpPr>
          <p:cNvPr id="11" name="TextBox 11"/>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12" name="TextBox 12"/>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13" name="TextBox 13"/>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4" name="TextBox 14"/>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L1.20</a:t>
            </a:r>
          </a:p>
          <a:p>
            <a:pPr>
              <a:lnSpc>
                <a:spcPts val="1610"/>
              </a:lnSpc>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5"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Machine-independent time</a:t>
            </a:r>
          </a:p>
          <a:p>
            <a:pPr>
              <a:lnSpc>
                <a:spcPts val="5060"/>
              </a:lnSpc>
            </a:pPr>
            <a:endParaRPr lang="en-CA" sz="4402">
              <a:solidFill>
                <a:srgbClr val="000000"/>
              </a:solidFill>
            </a:endParaRPr>
          </a:p>
        </p:txBody>
      </p:sp>
      <p:sp>
        <p:nvSpPr>
          <p:cNvPr id="3" name="TextBox 3"/>
          <p:cNvSpPr txBox="1"/>
          <p:nvPr/>
        </p:nvSpPr>
        <p:spPr>
          <a:xfrm>
            <a:off x="939800" y="1803400"/>
            <a:ext cx="8178800" cy="609600"/>
          </a:xfrm>
          <a:prstGeom prst="rect">
            <a:avLst/>
          </a:prstGeom>
          <a:noFill/>
        </p:spPr>
        <p:txBody>
          <a:bodyPr vert="horz" wrap="none" lIns="0" tIns="0" rIns="0" bIns="0" rtlCol="0">
            <a:spAutoFit/>
          </a:bodyPr>
          <a:lstStyle/>
          <a:p>
            <a:pPr>
              <a:lnSpc>
                <a:spcPts val="3680"/>
              </a:lnSpc>
            </a:pPr>
            <a:r>
              <a:rPr lang="en-CA" sz="3201">
                <a:solidFill>
                  <a:srgbClr val="000000"/>
                </a:solidFill>
                <a:latin typeface="Times New Roman Italic"/>
                <a:cs typeface="Times New Roman Italic"/>
              </a:rPr>
              <a:t>What is insertion sort’s worst-case time?</a:t>
            </a:r>
          </a:p>
          <a:p>
            <a:pPr>
              <a:lnSpc>
                <a:spcPts val="3680"/>
              </a:lnSpc>
            </a:pPr>
            <a:endParaRPr lang="en-CA" sz="3201">
              <a:solidFill>
                <a:srgbClr val="000000"/>
              </a:solidFill>
            </a:endParaRPr>
          </a:p>
        </p:txBody>
      </p:sp>
      <p:sp>
        <p:nvSpPr>
          <p:cNvPr id="4" name="TextBox 4"/>
          <p:cNvSpPr txBox="1"/>
          <p:nvPr/>
        </p:nvSpPr>
        <p:spPr>
          <a:xfrm>
            <a:off x="939800" y="2286000"/>
            <a:ext cx="81788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It depends on the speed of our computer:</a:t>
            </a:r>
          </a:p>
          <a:p>
            <a:pPr>
              <a:lnSpc>
                <a:spcPts val="3680"/>
              </a:lnSpc>
            </a:pPr>
            <a:endParaRPr lang="en-CA" sz="3201">
              <a:solidFill>
                <a:srgbClr val="000000"/>
              </a:solidFill>
            </a:endParaRPr>
          </a:p>
        </p:txBody>
      </p:sp>
      <p:sp>
        <p:nvSpPr>
          <p:cNvPr id="5" name="TextBox 5"/>
          <p:cNvSpPr txBox="1"/>
          <p:nvPr/>
        </p:nvSpPr>
        <p:spPr>
          <a:xfrm>
            <a:off x="1397000" y="2781300"/>
            <a:ext cx="77216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relative speed (on the same machine),</a:t>
            </a:r>
          </a:p>
          <a:p>
            <a:pPr>
              <a:lnSpc>
                <a:spcPts val="3680"/>
              </a:lnSpc>
            </a:pPr>
            <a:endParaRPr lang="en-CA" sz="3201">
              <a:solidFill>
                <a:srgbClr val="000000"/>
              </a:solidFill>
            </a:endParaRPr>
          </a:p>
        </p:txBody>
      </p:sp>
      <p:sp>
        <p:nvSpPr>
          <p:cNvPr id="6" name="TextBox 6"/>
          <p:cNvSpPr txBox="1"/>
          <p:nvPr/>
        </p:nvSpPr>
        <p:spPr>
          <a:xfrm>
            <a:off x="1397000" y="3263900"/>
            <a:ext cx="7721600" cy="609600"/>
          </a:xfrm>
          <a:prstGeom prst="rect">
            <a:avLst/>
          </a:prstGeom>
          <a:noFill/>
        </p:spPr>
        <p:txBody>
          <a:bodyPr vert="horz" wrap="none" lIns="0" tIns="0" rIns="0" bIns="0" rtlCol="0">
            <a:spAutoFit/>
          </a:bodyPr>
          <a:lstStyle/>
          <a:p>
            <a:pPr>
              <a:lnSpc>
                <a:spcPts val="368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absolute speed (on different machines).</a:t>
            </a:r>
          </a:p>
          <a:p>
            <a:pPr>
              <a:lnSpc>
                <a:spcPts val="3680"/>
              </a:lnSpc>
            </a:pPr>
            <a:endParaRPr lang="en-CA" sz="3201" dirty="0">
              <a:solidFill>
                <a:srgbClr val="000000"/>
              </a:solidFill>
            </a:endParaRPr>
          </a:p>
        </p:txBody>
      </p:sp>
      <p:sp>
        <p:nvSpPr>
          <p:cNvPr id="7" name="TextBox 7"/>
          <p:cNvSpPr txBox="1"/>
          <p:nvPr/>
        </p:nvSpPr>
        <p:spPr>
          <a:xfrm>
            <a:off x="939800" y="3937000"/>
            <a:ext cx="8178800" cy="609600"/>
          </a:xfrm>
          <a:prstGeom prst="rect">
            <a:avLst/>
          </a:prstGeom>
          <a:noFill/>
        </p:spPr>
        <p:txBody>
          <a:bodyPr vert="horz" wrap="none" lIns="0" tIns="0" rIns="0" bIns="0" rtlCol="0">
            <a:spAutoFit/>
          </a:bodyPr>
          <a:lstStyle/>
          <a:p>
            <a:pPr>
              <a:lnSpc>
                <a:spcPts val="3680"/>
              </a:lnSpc>
            </a:pPr>
            <a:r>
              <a:rPr lang="en-CA" sz="3211" b="1">
                <a:solidFill>
                  <a:srgbClr val="CC0000"/>
                </a:solidFill>
                <a:latin typeface="Times New Roman Bold"/>
                <a:cs typeface="Times New Roman Bold"/>
              </a:rPr>
              <a:t>B</a:t>
            </a:r>
            <a:r>
              <a:rPr lang="en-CA" sz="2412" b="1">
                <a:solidFill>
                  <a:srgbClr val="CC0000"/>
                </a:solidFill>
                <a:latin typeface="Times New Roman Bold"/>
                <a:cs typeface="Times New Roman Bold"/>
              </a:rPr>
              <a:t>IG </a:t>
            </a:r>
            <a:r>
              <a:rPr lang="en-CA" sz="3211" b="1">
                <a:solidFill>
                  <a:srgbClr val="CC0000"/>
                </a:solidFill>
                <a:latin typeface="Times New Roman Bold"/>
                <a:cs typeface="Times New Roman Bold"/>
              </a:rPr>
              <a:t>I</a:t>
            </a:r>
            <a:r>
              <a:rPr lang="en-CA" sz="2412" b="1">
                <a:solidFill>
                  <a:srgbClr val="CC0000"/>
                </a:solidFill>
                <a:latin typeface="Times New Roman Bold"/>
                <a:cs typeface="Times New Roman Bold"/>
              </a:rPr>
              <a:t>DEA</a:t>
            </a:r>
            <a:r>
              <a:rPr lang="en-CA" sz="3211" b="1">
                <a:solidFill>
                  <a:srgbClr val="CC0000"/>
                </a:solidFill>
                <a:latin typeface="Times New Roman Bold"/>
                <a:cs typeface="Times New Roman Bold"/>
              </a:rPr>
              <a:t>:</a:t>
            </a:r>
          </a:p>
          <a:p>
            <a:pPr>
              <a:lnSpc>
                <a:spcPts val="3680"/>
              </a:lnSpc>
            </a:pPr>
            <a:endParaRPr lang="en-CA" sz="2668">
              <a:solidFill>
                <a:srgbClr val="000000"/>
              </a:solidFill>
            </a:endParaRPr>
          </a:p>
        </p:txBody>
      </p:sp>
      <p:sp>
        <p:nvSpPr>
          <p:cNvPr id="8" name="TextBox 8"/>
          <p:cNvSpPr txBox="1"/>
          <p:nvPr/>
        </p:nvSpPr>
        <p:spPr>
          <a:xfrm>
            <a:off x="939800" y="4419600"/>
            <a:ext cx="8178800" cy="609600"/>
          </a:xfrm>
          <a:prstGeom prst="rect">
            <a:avLst/>
          </a:prstGeom>
          <a:noFill/>
        </p:spPr>
        <p:txBody>
          <a:bodyPr vert="horz" wrap="none" lIns="0" tIns="0" rIns="0" bIns="0" rtlCol="0">
            <a:spAutoFit/>
          </a:bodyPr>
          <a:lstStyle/>
          <a:p>
            <a:pPr>
              <a:lnSpc>
                <a:spcPts val="346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Ignore machine-dependent constants.</a:t>
            </a:r>
          </a:p>
          <a:p>
            <a:pPr>
              <a:lnSpc>
                <a:spcPts val="3460"/>
              </a:lnSpc>
            </a:pPr>
            <a:endParaRPr lang="en-CA" sz="3201">
              <a:solidFill>
                <a:srgbClr val="000000"/>
              </a:solidFill>
            </a:endParaRPr>
          </a:p>
        </p:txBody>
      </p:sp>
      <p:sp>
        <p:nvSpPr>
          <p:cNvPr id="9" name="TextBox 9"/>
          <p:cNvSpPr txBox="1"/>
          <p:nvPr/>
        </p:nvSpPr>
        <p:spPr>
          <a:xfrm>
            <a:off x="939800" y="4889500"/>
            <a:ext cx="8178800" cy="609600"/>
          </a:xfrm>
          <a:prstGeom prst="rect">
            <a:avLst/>
          </a:prstGeom>
          <a:noFill/>
        </p:spPr>
        <p:txBody>
          <a:bodyPr vert="horz" wrap="none" lIns="0" tIns="0" rIns="0" bIns="0" rtlCol="0">
            <a:spAutoFit/>
          </a:bodyPr>
          <a:lstStyle/>
          <a:p>
            <a:pPr>
              <a:lnSpc>
                <a:spcPts val="368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Look at </a:t>
            </a:r>
            <a:r>
              <a:rPr lang="en-CA" sz="3201" dirty="0">
                <a:solidFill>
                  <a:srgbClr val="CC0000"/>
                </a:solidFill>
                <a:latin typeface="Times New Roman Bold Italic"/>
                <a:cs typeface="Times New Roman Bold Italic"/>
              </a:rPr>
              <a:t>growth</a:t>
            </a:r>
            <a:r>
              <a:rPr lang="en-CA" sz="3201" dirty="0">
                <a:solidFill>
                  <a:srgbClr val="000000"/>
                </a:solidFill>
                <a:latin typeface="Times New Roman"/>
                <a:cs typeface="Times New Roman"/>
              </a:rPr>
              <a:t> of </a:t>
            </a:r>
            <a:r>
              <a:rPr lang="en-CA" sz="3201" dirty="0">
                <a:solidFill>
                  <a:srgbClr val="7F7F00"/>
                </a:solidFill>
                <a:latin typeface="Times New Roman Italic"/>
                <a:cs typeface="Times New Roman Italic"/>
              </a:rPr>
              <a:t>T</a:t>
            </a:r>
            <a:r>
              <a:rPr lang="en-CA" sz="3201" dirty="0">
                <a:solidFill>
                  <a:srgbClr val="7F7F00"/>
                </a:solidFill>
                <a:latin typeface="Times New Roman"/>
                <a:cs typeface="Times New Roman"/>
              </a:rPr>
              <a:t>(</a:t>
            </a:r>
            <a:r>
              <a:rPr lang="en-CA" sz="3201" dirty="0">
                <a:solidFill>
                  <a:srgbClr val="7F7F00"/>
                </a:solidFill>
                <a:latin typeface="Times New Roman Italic"/>
                <a:cs typeface="Times New Roman Italic"/>
              </a:rPr>
              <a:t>n</a:t>
            </a:r>
            <a:r>
              <a:rPr lang="en-CA" sz="3201" dirty="0">
                <a:solidFill>
                  <a:srgbClr val="7F7F00"/>
                </a:solidFill>
                <a:latin typeface="Times New Roman"/>
                <a:cs typeface="Times New Roman"/>
              </a:rPr>
              <a:t>)</a:t>
            </a:r>
            <a:r>
              <a:rPr lang="en-CA" sz="3201" dirty="0">
                <a:solidFill>
                  <a:srgbClr val="000000"/>
                </a:solidFill>
                <a:latin typeface="Times New Roman"/>
                <a:cs typeface="Times New Roman"/>
              </a:rPr>
              <a:t> as </a:t>
            </a:r>
            <a:r>
              <a:rPr lang="en-CA" sz="3201" dirty="0">
                <a:solidFill>
                  <a:srgbClr val="7F7F00"/>
                </a:solidFill>
                <a:latin typeface="Times New Roman Italic"/>
                <a:cs typeface="Times New Roman Italic"/>
              </a:rPr>
              <a:t>n</a:t>
            </a:r>
            <a:r>
              <a:rPr lang="en-CA" sz="3201" dirty="0">
                <a:solidFill>
                  <a:srgbClr val="7F7F00"/>
                </a:solidFill>
                <a:latin typeface="Times New Roman"/>
                <a:cs typeface="Times New Roman"/>
              </a:rPr>
              <a:t> → ∞</a:t>
            </a:r>
            <a:r>
              <a:rPr lang="en-CA" sz="3201" dirty="0">
                <a:solidFill>
                  <a:srgbClr val="000000"/>
                </a:solidFill>
                <a:latin typeface="Times New Roman"/>
                <a:cs typeface="Times New Roman"/>
              </a:rPr>
              <a:t> .</a:t>
            </a:r>
          </a:p>
          <a:p>
            <a:pPr>
              <a:lnSpc>
                <a:spcPts val="3680"/>
              </a:lnSpc>
            </a:pPr>
            <a:endParaRPr lang="en-CA" sz="3201" dirty="0">
              <a:solidFill>
                <a:srgbClr val="000000"/>
              </a:solidFill>
            </a:endParaRPr>
          </a:p>
        </p:txBody>
      </p:sp>
      <p:sp>
        <p:nvSpPr>
          <p:cNvPr id="10" name="TextBox 10"/>
          <p:cNvSpPr txBox="1"/>
          <p:nvPr/>
        </p:nvSpPr>
        <p:spPr>
          <a:xfrm>
            <a:off x="1534964" y="5419650"/>
            <a:ext cx="6454587" cy="948978"/>
          </a:xfrm>
          <a:prstGeom prst="rect">
            <a:avLst/>
          </a:prstGeom>
          <a:noFill/>
        </p:spPr>
        <p:txBody>
          <a:bodyPr vert="horz" wrap="none" lIns="0" tIns="0" rIns="0" bIns="0" rtlCol="0">
            <a:spAutoFit/>
          </a:bodyPr>
          <a:lstStyle/>
          <a:p>
            <a:pPr>
              <a:lnSpc>
                <a:spcPts val="3680"/>
              </a:lnSpc>
            </a:pPr>
            <a:r>
              <a:rPr lang="en-CA" sz="3211" b="1" dirty="0">
                <a:solidFill>
                  <a:srgbClr val="CC0000"/>
                </a:solidFill>
                <a:latin typeface="Times New Roman Bold"/>
                <a:cs typeface="Times New Roman Bold"/>
              </a:rPr>
              <a:t>“Asymptotic (</a:t>
            </a:r>
            <a:r>
              <a:rPr lang="en-US" sz="3211" b="1" dirty="0">
                <a:solidFill>
                  <a:srgbClr val="CC0000"/>
                </a:solidFill>
                <a:latin typeface="Times New Roman Bold"/>
                <a:cs typeface="Times New Roman Bold"/>
              </a:rPr>
              <a:t>Near to real</a:t>
            </a:r>
            <a:r>
              <a:rPr lang="en-CA" sz="3211" b="1" dirty="0">
                <a:solidFill>
                  <a:srgbClr val="CC0000"/>
                </a:solidFill>
                <a:latin typeface="Times New Roman Bold"/>
                <a:cs typeface="Times New Roman Bold"/>
              </a:rPr>
              <a:t>)</a:t>
            </a:r>
            <a:r>
              <a:rPr lang="en-CA" sz="3211" b="1" dirty="0">
                <a:solidFill>
                  <a:srgbClr val="000000"/>
                </a:solidFill>
                <a:latin typeface="Times New Roman Bold"/>
                <a:cs typeface="Times New Roman Bold"/>
              </a:rPr>
              <a:t> </a:t>
            </a:r>
            <a:r>
              <a:rPr lang="en-CA" sz="3211" b="1" dirty="0">
                <a:solidFill>
                  <a:srgbClr val="CC0000"/>
                </a:solidFill>
                <a:latin typeface="Times New Roman Bold"/>
                <a:cs typeface="Times New Roman Bold"/>
              </a:rPr>
              <a:t>Analysis”</a:t>
            </a:r>
          </a:p>
          <a:p>
            <a:pPr>
              <a:lnSpc>
                <a:spcPts val="3680"/>
              </a:lnSpc>
            </a:pPr>
            <a:endParaRPr lang="en-CA" sz="3201" dirty="0">
              <a:solidFill>
                <a:srgbClr val="000000"/>
              </a:solidFill>
            </a:endParaRPr>
          </a:p>
        </p:txBody>
      </p:sp>
      <p:sp>
        <p:nvSpPr>
          <p:cNvPr id="11" name="TextBox 11"/>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12" name="TextBox 12"/>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13" name="TextBox 13"/>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4" name="TextBox 14"/>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L1.21</a:t>
            </a:r>
          </a:p>
          <a:p>
            <a:pPr>
              <a:lnSpc>
                <a:spcPts val="1610"/>
              </a:lnSpc>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3" name="TextBox 2"/>
          <p:cNvSpPr txBox="1"/>
          <p:nvPr/>
        </p:nvSpPr>
        <p:spPr>
          <a:xfrm>
            <a:off x="1524000" y="546100"/>
            <a:ext cx="7594600" cy="838200"/>
          </a:xfrm>
          <a:prstGeom prst="rect">
            <a:avLst/>
          </a:prstGeom>
          <a:noFill/>
        </p:spPr>
        <p:txBody>
          <a:bodyPr vert="horz" wrap="none" lIns="0" tIns="0" rIns="0" bIns="0" rtlCol="0">
            <a:spAutoFit/>
          </a:bodyPr>
          <a:lstStyle/>
          <a:p>
            <a:pPr>
              <a:lnSpc>
                <a:spcPts val="5060"/>
              </a:lnSpc>
            </a:pPr>
            <a:r>
              <a:rPr lang="en-CA" sz="4402">
                <a:solidFill>
                  <a:srgbClr val="000000"/>
                </a:solidFill>
                <a:latin typeface="Times New Roman"/>
                <a:cs typeface="Times New Roman"/>
              </a:rPr>
              <a:t>Θ</a:t>
            </a:r>
            <a:r>
              <a:rPr lang="en-CA" sz="4412" b="1">
                <a:solidFill>
                  <a:srgbClr val="000000"/>
                </a:solidFill>
                <a:latin typeface="Times New Roman Bold"/>
                <a:cs typeface="Times New Roman Bold"/>
              </a:rPr>
              <a:t>-notation</a:t>
            </a:r>
          </a:p>
          <a:p>
            <a:pPr>
              <a:lnSpc>
                <a:spcPts val="5060"/>
              </a:lnSpc>
            </a:pPr>
            <a:endParaRPr lang="en-CA" sz="4402">
              <a:solidFill>
                <a:srgbClr val="000000"/>
              </a:solidFill>
            </a:endParaRPr>
          </a:p>
        </p:txBody>
      </p:sp>
      <p:sp>
        <p:nvSpPr>
          <p:cNvPr id="3" name="TextBox 3"/>
          <p:cNvSpPr txBox="1"/>
          <p:nvPr/>
        </p:nvSpPr>
        <p:spPr>
          <a:xfrm>
            <a:off x="457200" y="1892300"/>
            <a:ext cx="86614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Bold Italic"/>
                <a:cs typeface="Times New Roman Bold Italic"/>
              </a:rPr>
              <a:t>Math:</a:t>
            </a:r>
          </a:p>
          <a:p>
            <a:pPr>
              <a:lnSpc>
                <a:spcPts val="3680"/>
              </a:lnSpc>
            </a:pPr>
            <a:endParaRPr lang="en-CA" sz="3201">
              <a:solidFill>
                <a:srgbClr val="000000"/>
              </a:solidFill>
            </a:endParaRPr>
          </a:p>
        </p:txBody>
      </p:sp>
      <p:sp>
        <p:nvSpPr>
          <p:cNvPr id="4" name="TextBox 4"/>
          <p:cNvSpPr txBox="1"/>
          <p:nvPr/>
        </p:nvSpPr>
        <p:spPr>
          <a:xfrm>
            <a:off x="457200" y="2286000"/>
            <a:ext cx="8661400" cy="1079500"/>
          </a:xfrm>
          <a:prstGeom prst="rect">
            <a:avLst/>
          </a:prstGeom>
          <a:noFill/>
        </p:spPr>
        <p:txBody>
          <a:bodyPr vert="horz" wrap="none" lIns="0" tIns="0" rIns="0" bIns="0" rtlCol="0">
            <a:spAutoFit/>
          </a:bodyPr>
          <a:lstStyle/>
          <a:p>
            <a:pPr>
              <a:lnSpc>
                <a:spcPts val="3600"/>
              </a:lnSpc>
            </a:pPr>
            <a:r>
              <a:rPr lang="en-CA" sz="2804" dirty="0" err="1">
                <a:solidFill>
                  <a:srgbClr val="7F7F00"/>
                </a:solidFill>
                <a:latin typeface="Times New Roman"/>
                <a:cs typeface="Times New Roman"/>
              </a:rPr>
              <a:t>Θ</a:t>
            </a:r>
            <a:r>
              <a:rPr lang="en-CA" sz="2804" dirty="0">
                <a:solidFill>
                  <a:srgbClr val="7F7F00"/>
                </a:solidFill>
                <a:latin typeface="Times New Roman"/>
                <a:cs typeface="Times New Roman"/>
              </a:rPr>
              <a:t>(</a:t>
            </a:r>
            <a:r>
              <a:rPr lang="en-CA" sz="2804" dirty="0">
                <a:solidFill>
                  <a:srgbClr val="7F7F00"/>
                </a:solidFill>
                <a:latin typeface="Times New Roman Italic"/>
                <a:cs typeface="Times New Roman Italic"/>
              </a:rPr>
              <a:t>g</a:t>
            </a:r>
            <a:r>
              <a:rPr lang="en-CA" sz="2804" dirty="0">
                <a:solidFill>
                  <a:srgbClr val="7F7F00"/>
                </a:solidFill>
                <a:latin typeface="Times New Roman"/>
                <a:cs typeface="Times New Roman"/>
              </a:rPr>
              <a:t>(</a:t>
            </a:r>
            <a:r>
              <a:rPr lang="en-CA" sz="2804" dirty="0">
                <a:solidFill>
                  <a:srgbClr val="7F7F00"/>
                </a:solidFill>
                <a:latin typeface="Times New Roman Italic"/>
                <a:cs typeface="Times New Roman Italic"/>
              </a:rPr>
              <a:t>n</a:t>
            </a:r>
            <a:r>
              <a:rPr lang="en-CA" sz="2804" dirty="0">
                <a:solidFill>
                  <a:srgbClr val="7F7F00"/>
                </a:solidFill>
                <a:latin typeface="Times New Roman"/>
                <a:cs typeface="Times New Roman"/>
              </a:rPr>
              <a:t>)) = </a:t>
            </a:r>
            <a:r>
              <a:rPr lang="en-CA" sz="3201" dirty="0">
                <a:solidFill>
                  <a:srgbClr val="7F7F00"/>
                </a:solidFill>
                <a:latin typeface="Times New Roman"/>
                <a:cs typeface="Times New Roman"/>
              </a:rPr>
              <a:t>{ </a:t>
            </a:r>
            <a:r>
              <a:rPr lang="en-CA" sz="2804" dirty="0">
                <a:solidFill>
                  <a:srgbClr val="7F7F00"/>
                </a:solidFill>
                <a:latin typeface="Times New Roman Italic"/>
                <a:cs typeface="Times New Roman Italic"/>
              </a:rPr>
              <a:t>f </a:t>
            </a:r>
            <a:r>
              <a:rPr lang="en-CA" sz="2804" dirty="0">
                <a:solidFill>
                  <a:srgbClr val="7F7F00"/>
                </a:solidFill>
                <a:latin typeface="Times New Roman"/>
                <a:cs typeface="Times New Roman"/>
              </a:rPr>
              <a:t>(</a:t>
            </a:r>
            <a:r>
              <a:rPr lang="en-CA" sz="2804" dirty="0">
                <a:solidFill>
                  <a:srgbClr val="7F7F00"/>
                </a:solidFill>
                <a:latin typeface="Times New Roman Italic"/>
                <a:cs typeface="Times New Roman Italic"/>
              </a:rPr>
              <a:t>n</a:t>
            </a:r>
            <a:r>
              <a:rPr lang="en-CA" sz="2804" dirty="0">
                <a:solidFill>
                  <a:srgbClr val="7F7F00"/>
                </a:solidFill>
                <a:latin typeface="Times New Roman"/>
                <a:cs typeface="Times New Roman"/>
              </a:rPr>
              <a:t>) :</a:t>
            </a:r>
            <a:r>
              <a:rPr lang="en-CA" sz="2804" dirty="0">
                <a:solidFill>
                  <a:srgbClr val="000000"/>
                </a:solidFill>
                <a:latin typeface="Times New Roman"/>
                <a:cs typeface="Times New Roman"/>
              </a:rPr>
              <a:t> there exist positive constants </a:t>
            </a:r>
            <a:r>
              <a:rPr lang="en-CA" sz="2804" dirty="0">
                <a:solidFill>
                  <a:srgbClr val="7F7F00"/>
                </a:solidFill>
                <a:latin typeface="Times New Roman Italic"/>
                <a:cs typeface="Times New Roman Italic"/>
              </a:rPr>
              <a:t>c</a:t>
            </a:r>
            <a:r>
              <a:rPr lang="en-CA" sz="1903" dirty="0">
                <a:solidFill>
                  <a:srgbClr val="7F7F00"/>
                </a:solidFill>
                <a:latin typeface="Times New Roman"/>
                <a:cs typeface="Times New Roman"/>
              </a:rPr>
              <a:t>1</a:t>
            </a:r>
            <a:r>
              <a:rPr lang="en-CA" sz="2804" dirty="0">
                <a:solidFill>
                  <a:srgbClr val="000000"/>
                </a:solidFill>
                <a:latin typeface="Times New Roman"/>
                <a:cs typeface="Times New Roman"/>
              </a:rPr>
              <a:t>, </a:t>
            </a:r>
            <a:r>
              <a:rPr lang="en-CA" sz="2804" dirty="0">
                <a:solidFill>
                  <a:srgbClr val="7F7F00"/>
                </a:solidFill>
                <a:latin typeface="Times New Roman Italic"/>
                <a:cs typeface="Times New Roman Italic"/>
              </a:rPr>
              <a:t>c</a:t>
            </a:r>
            <a:r>
              <a:rPr lang="en-CA" sz="1903" dirty="0">
                <a:solidFill>
                  <a:srgbClr val="7F7F00"/>
                </a:solidFill>
                <a:latin typeface="Times New Roman"/>
                <a:cs typeface="Times New Roman"/>
              </a:rPr>
              <a:t>2</a:t>
            </a:r>
            <a:r>
              <a:rPr lang="en-CA" sz="2804" dirty="0">
                <a:solidFill>
                  <a:srgbClr val="000000"/>
                </a:solidFill>
                <a:latin typeface="Times New Roman"/>
                <a:cs typeface="Times New Roman"/>
              </a:rPr>
              <a:t>, and</a:t>
            </a:r>
            <a:br>
              <a:rPr lang="en-CA" sz="2697" dirty="0">
                <a:solidFill>
                  <a:srgbClr val="000000"/>
                </a:solidFill>
                <a:latin typeface="Times New Roman"/>
              </a:rPr>
            </a:br>
            <a:r>
              <a:rPr lang="en-CA" sz="2804" dirty="0">
                <a:solidFill>
                  <a:srgbClr val="7F7F00"/>
                </a:solidFill>
                <a:latin typeface="Times New Roman Italic"/>
                <a:cs typeface="Times New Roman Italic"/>
              </a:rPr>
              <a:t>n</a:t>
            </a:r>
            <a:r>
              <a:rPr lang="en-CA" sz="1903" dirty="0">
                <a:solidFill>
                  <a:srgbClr val="7F7F00"/>
                </a:solidFill>
                <a:latin typeface="Times New Roman"/>
                <a:cs typeface="Times New Roman"/>
              </a:rPr>
              <a:t>0</a:t>
            </a:r>
            <a:r>
              <a:rPr lang="en-CA" sz="2804" dirty="0">
                <a:solidFill>
                  <a:srgbClr val="000000"/>
                </a:solidFill>
                <a:latin typeface="Times New Roman"/>
                <a:cs typeface="Times New Roman"/>
              </a:rPr>
              <a:t> such that </a:t>
            </a:r>
            <a:r>
              <a:rPr lang="en-CA" sz="2804" dirty="0">
                <a:solidFill>
                  <a:srgbClr val="7F7F00"/>
                </a:solidFill>
                <a:latin typeface="Times New Roman"/>
                <a:cs typeface="Times New Roman"/>
              </a:rPr>
              <a:t>0 ≤</a:t>
            </a:r>
            <a:r>
              <a:rPr lang="en-CA" sz="2804" dirty="0">
                <a:solidFill>
                  <a:srgbClr val="7F7F00"/>
                </a:solidFill>
                <a:latin typeface="Times New Roman Italic"/>
                <a:cs typeface="Times New Roman Italic"/>
              </a:rPr>
              <a:t> c</a:t>
            </a:r>
            <a:r>
              <a:rPr lang="en-CA" sz="1903" dirty="0">
                <a:solidFill>
                  <a:srgbClr val="7F7F00"/>
                </a:solidFill>
                <a:latin typeface="Times New Roman"/>
                <a:cs typeface="Times New Roman"/>
              </a:rPr>
              <a:t>1 </a:t>
            </a:r>
            <a:r>
              <a:rPr lang="en-CA" sz="2804" dirty="0">
                <a:solidFill>
                  <a:srgbClr val="7F7F00"/>
                </a:solidFill>
                <a:latin typeface="Times New Roman Italic"/>
                <a:cs typeface="Times New Roman Italic"/>
              </a:rPr>
              <a:t>g</a:t>
            </a:r>
            <a:r>
              <a:rPr lang="en-CA" sz="2804" dirty="0">
                <a:solidFill>
                  <a:srgbClr val="7F7F00"/>
                </a:solidFill>
                <a:latin typeface="Times New Roman"/>
                <a:cs typeface="Times New Roman"/>
              </a:rPr>
              <a:t>(</a:t>
            </a:r>
            <a:r>
              <a:rPr lang="en-CA" sz="2804" dirty="0">
                <a:solidFill>
                  <a:srgbClr val="7F7F00"/>
                </a:solidFill>
                <a:latin typeface="Times New Roman Italic"/>
                <a:cs typeface="Times New Roman Italic"/>
              </a:rPr>
              <a:t>n</a:t>
            </a:r>
            <a:r>
              <a:rPr lang="en-CA" sz="2804" dirty="0">
                <a:solidFill>
                  <a:srgbClr val="7F7F00"/>
                </a:solidFill>
                <a:latin typeface="Times New Roman"/>
                <a:cs typeface="Times New Roman"/>
              </a:rPr>
              <a:t>) ≤</a:t>
            </a:r>
            <a:r>
              <a:rPr lang="en-CA" sz="2804" dirty="0">
                <a:solidFill>
                  <a:srgbClr val="7F7F00"/>
                </a:solidFill>
                <a:latin typeface="Times New Roman Italic"/>
                <a:cs typeface="Times New Roman Italic"/>
              </a:rPr>
              <a:t> f </a:t>
            </a:r>
            <a:r>
              <a:rPr lang="en-CA" sz="2804" dirty="0">
                <a:solidFill>
                  <a:srgbClr val="7F7F00"/>
                </a:solidFill>
                <a:latin typeface="Times New Roman"/>
                <a:cs typeface="Times New Roman"/>
              </a:rPr>
              <a:t>(</a:t>
            </a:r>
            <a:r>
              <a:rPr lang="en-CA" sz="2804" dirty="0">
                <a:solidFill>
                  <a:srgbClr val="7F7F00"/>
                </a:solidFill>
                <a:latin typeface="Times New Roman Italic"/>
                <a:cs typeface="Times New Roman Italic"/>
              </a:rPr>
              <a:t>n</a:t>
            </a:r>
            <a:r>
              <a:rPr lang="en-CA" sz="2804" dirty="0">
                <a:solidFill>
                  <a:srgbClr val="7F7F00"/>
                </a:solidFill>
                <a:latin typeface="Times New Roman"/>
                <a:cs typeface="Times New Roman"/>
              </a:rPr>
              <a:t>) ≤</a:t>
            </a:r>
            <a:r>
              <a:rPr lang="en-CA" sz="2804" dirty="0">
                <a:solidFill>
                  <a:srgbClr val="7F7F00"/>
                </a:solidFill>
                <a:latin typeface="Times New Roman Italic"/>
                <a:cs typeface="Times New Roman Italic"/>
              </a:rPr>
              <a:t> c</a:t>
            </a:r>
            <a:r>
              <a:rPr lang="en-CA" sz="1903" dirty="0">
                <a:solidFill>
                  <a:srgbClr val="7F7F00"/>
                </a:solidFill>
                <a:latin typeface="Times New Roman"/>
                <a:cs typeface="Times New Roman"/>
              </a:rPr>
              <a:t>2 </a:t>
            </a:r>
            <a:r>
              <a:rPr lang="en-CA" sz="2804" dirty="0">
                <a:solidFill>
                  <a:srgbClr val="7F7F00"/>
                </a:solidFill>
                <a:latin typeface="Times New Roman Italic"/>
                <a:cs typeface="Times New Roman Italic"/>
              </a:rPr>
              <a:t>g</a:t>
            </a:r>
            <a:r>
              <a:rPr lang="en-CA" sz="2804" dirty="0">
                <a:solidFill>
                  <a:srgbClr val="7F7F00"/>
                </a:solidFill>
                <a:latin typeface="Times New Roman"/>
                <a:cs typeface="Times New Roman"/>
              </a:rPr>
              <a:t>(</a:t>
            </a:r>
            <a:r>
              <a:rPr lang="en-CA" sz="2804" dirty="0">
                <a:solidFill>
                  <a:srgbClr val="7F7F00"/>
                </a:solidFill>
                <a:latin typeface="Times New Roman Italic"/>
                <a:cs typeface="Times New Roman Italic"/>
              </a:rPr>
              <a:t>n</a:t>
            </a:r>
            <a:r>
              <a:rPr lang="en-CA" sz="2804" dirty="0">
                <a:solidFill>
                  <a:srgbClr val="7F7F00"/>
                </a:solidFill>
                <a:latin typeface="Times New Roman"/>
                <a:cs typeface="Times New Roman"/>
              </a:rPr>
              <a:t>)</a:t>
            </a:r>
          </a:p>
          <a:p>
            <a:pPr>
              <a:lnSpc>
                <a:spcPts val="3600"/>
              </a:lnSpc>
            </a:pPr>
            <a:endParaRPr lang="en-CA" sz="2697" dirty="0">
              <a:solidFill>
                <a:srgbClr val="000000"/>
              </a:solidFill>
            </a:endParaRPr>
          </a:p>
        </p:txBody>
      </p:sp>
      <p:sp>
        <p:nvSpPr>
          <p:cNvPr id="5" name="TextBox 5"/>
          <p:cNvSpPr txBox="1"/>
          <p:nvPr/>
        </p:nvSpPr>
        <p:spPr>
          <a:xfrm>
            <a:off x="3086100" y="3276600"/>
            <a:ext cx="6032500" cy="609600"/>
          </a:xfrm>
          <a:prstGeom prst="rect">
            <a:avLst/>
          </a:prstGeom>
          <a:noFill/>
        </p:spPr>
        <p:txBody>
          <a:bodyPr vert="horz" wrap="none" lIns="0" tIns="0" rIns="0" bIns="0" rtlCol="0">
            <a:spAutoFit/>
          </a:bodyPr>
          <a:lstStyle/>
          <a:p>
            <a:pPr>
              <a:lnSpc>
                <a:spcPts val="2880"/>
              </a:lnSpc>
            </a:pPr>
            <a:r>
              <a:rPr lang="en-CA" sz="2804">
                <a:solidFill>
                  <a:srgbClr val="000000"/>
                </a:solidFill>
                <a:latin typeface="Times New Roman"/>
                <a:cs typeface="Times New Roman"/>
              </a:rPr>
              <a:t>for all </a:t>
            </a:r>
            <a:r>
              <a:rPr lang="en-CA" sz="2804">
                <a:solidFill>
                  <a:srgbClr val="7F7F00"/>
                </a:solidFill>
                <a:latin typeface="Times New Roman Italic"/>
                <a:cs typeface="Times New Roman Italic"/>
              </a:rPr>
              <a:t>n</a:t>
            </a:r>
            <a:r>
              <a:rPr lang="en-CA" sz="2804">
                <a:solidFill>
                  <a:srgbClr val="7F7F00"/>
                </a:solidFill>
                <a:latin typeface="Times New Roman"/>
                <a:cs typeface="Times New Roman"/>
              </a:rPr>
              <a:t> ≥</a:t>
            </a:r>
            <a:r>
              <a:rPr lang="en-CA" sz="2804">
                <a:solidFill>
                  <a:srgbClr val="7F7F00"/>
                </a:solidFill>
                <a:latin typeface="Times New Roman Italic"/>
                <a:cs typeface="Times New Roman Italic"/>
              </a:rPr>
              <a:t> n</a:t>
            </a:r>
            <a:r>
              <a:rPr lang="en-CA" sz="1903">
                <a:solidFill>
                  <a:srgbClr val="7F7F00"/>
                </a:solidFill>
                <a:latin typeface="Times New Roman"/>
                <a:cs typeface="Times New Roman"/>
              </a:rPr>
              <a:t>0</a:t>
            </a:r>
            <a:r>
              <a:rPr lang="en-CA" sz="3201">
                <a:solidFill>
                  <a:srgbClr val="7F7F00"/>
                </a:solidFill>
                <a:latin typeface="Times New Roman"/>
                <a:cs typeface="Times New Roman"/>
              </a:rPr>
              <a:t> }</a:t>
            </a:r>
          </a:p>
          <a:p>
            <a:pPr>
              <a:lnSpc>
                <a:spcPts val="2880"/>
              </a:lnSpc>
            </a:pPr>
            <a:endParaRPr lang="en-CA" sz="2797">
              <a:solidFill>
                <a:srgbClr val="000000"/>
              </a:solidFill>
            </a:endParaRPr>
          </a:p>
        </p:txBody>
      </p:sp>
      <p:sp>
        <p:nvSpPr>
          <p:cNvPr id="6" name="TextBox 6"/>
          <p:cNvSpPr txBox="1"/>
          <p:nvPr/>
        </p:nvSpPr>
        <p:spPr>
          <a:xfrm>
            <a:off x="457200" y="3695700"/>
            <a:ext cx="86614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Bold Italic"/>
                <a:cs typeface="Times New Roman Bold Italic"/>
              </a:rPr>
              <a:t>Engineering:</a:t>
            </a:r>
          </a:p>
          <a:p>
            <a:pPr>
              <a:lnSpc>
                <a:spcPts val="3680"/>
              </a:lnSpc>
            </a:pPr>
            <a:endParaRPr lang="en-CA" sz="3201">
              <a:solidFill>
                <a:srgbClr val="000000"/>
              </a:solidFill>
            </a:endParaRPr>
          </a:p>
        </p:txBody>
      </p:sp>
      <p:sp>
        <p:nvSpPr>
          <p:cNvPr id="7" name="TextBox 7"/>
          <p:cNvSpPr txBox="1"/>
          <p:nvPr/>
        </p:nvSpPr>
        <p:spPr>
          <a:xfrm>
            <a:off x="457200" y="4152900"/>
            <a:ext cx="8661400" cy="609600"/>
          </a:xfrm>
          <a:prstGeom prst="rect">
            <a:avLst/>
          </a:prstGeom>
          <a:noFill/>
        </p:spPr>
        <p:txBody>
          <a:bodyPr vert="horz" wrap="none" lIns="0" tIns="0" rIns="0" bIns="0" rtlCol="0">
            <a:spAutoFit/>
          </a:bodyPr>
          <a:lstStyle/>
          <a:p>
            <a:pPr>
              <a:lnSpc>
                <a:spcPts val="358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Drop low-order terms; ignore leading constants.</a:t>
            </a:r>
          </a:p>
          <a:p>
            <a:pPr>
              <a:lnSpc>
                <a:spcPts val="3580"/>
              </a:lnSpc>
            </a:pPr>
            <a:endParaRPr lang="en-CA" sz="3201" dirty="0">
              <a:solidFill>
                <a:srgbClr val="000000"/>
              </a:solidFill>
            </a:endParaRPr>
          </a:p>
        </p:txBody>
      </p:sp>
      <p:sp>
        <p:nvSpPr>
          <p:cNvPr id="8" name="TextBox 8"/>
          <p:cNvSpPr txBox="1"/>
          <p:nvPr/>
        </p:nvSpPr>
        <p:spPr>
          <a:xfrm>
            <a:off x="457200" y="4648200"/>
            <a:ext cx="7030771" cy="948978"/>
          </a:xfrm>
          <a:prstGeom prst="rect">
            <a:avLst/>
          </a:prstGeom>
          <a:noFill/>
        </p:spPr>
        <p:txBody>
          <a:bodyPr vert="horz" wrap="none" lIns="0" tIns="0" rIns="0" bIns="0" rtlCol="0">
            <a:spAutoFit/>
          </a:bodyPr>
          <a:lstStyle/>
          <a:p>
            <a:pPr>
              <a:lnSpc>
                <a:spcPts val="368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Example: </a:t>
            </a:r>
            <a:r>
              <a:rPr lang="en-CA" sz="3201" dirty="0">
                <a:solidFill>
                  <a:srgbClr val="7F7F00"/>
                </a:solidFill>
                <a:latin typeface="Times New Roman"/>
                <a:cs typeface="Times New Roman"/>
              </a:rPr>
              <a:t>3</a:t>
            </a:r>
            <a:r>
              <a:rPr lang="en-CA" sz="3201" dirty="0">
                <a:solidFill>
                  <a:srgbClr val="7F7F00"/>
                </a:solidFill>
                <a:latin typeface="Times New Roman Italic"/>
                <a:cs typeface="Times New Roman Italic"/>
              </a:rPr>
              <a:t>n</a:t>
            </a:r>
            <a:r>
              <a:rPr lang="en-CA" sz="2101" baseline="60000" dirty="0">
                <a:solidFill>
                  <a:srgbClr val="7F7F00"/>
                </a:solidFill>
                <a:latin typeface="Times New Roman"/>
                <a:cs typeface="Times New Roman"/>
              </a:rPr>
              <a:t>3</a:t>
            </a:r>
            <a:r>
              <a:rPr lang="en-CA" sz="2101" dirty="0">
                <a:solidFill>
                  <a:srgbClr val="7F7F00"/>
                </a:solidFill>
                <a:latin typeface="Times New Roman"/>
                <a:cs typeface="Times New Roman"/>
              </a:rPr>
              <a:t> </a:t>
            </a:r>
            <a:r>
              <a:rPr lang="en-CA" sz="3201" dirty="0">
                <a:solidFill>
                  <a:srgbClr val="7F7F00"/>
                </a:solidFill>
                <a:latin typeface="Times New Roman"/>
                <a:cs typeface="Times New Roman"/>
              </a:rPr>
              <a:t>+ 90</a:t>
            </a:r>
            <a:r>
              <a:rPr lang="en-CA" sz="3201" dirty="0">
                <a:solidFill>
                  <a:srgbClr val="7F7F00"/>
                </a:solidFill>
                <a:latin typeface="Times New Roman Italic"/>
                <a:cs typeface="Times New Roman Italic"/>
              </a:rPr>
              <a:t>n</a:t>
            </a:r>
            <a:r>
              <a:rPr lang="en-CA" sz="2101" baseline="60000" dirty="0">
                <a:solidFill>
                  <a:srgbClr val="7F7F00"/>
                </a:solidFill>
                <a:latin typeface="Times New Roman"/>
                <a:cs typeface="Times New Roman"/>
              </a:rPr>
              <a:t>2</a:t>
            </a:r>
            <a:r>
              <a:rPr lang="en-CA" sz="3201" dirty="0">
                <a:solidFill>
                  <a:srgbClr val="7F7F00"/>
                </a:solidFill>
                <a:latin typeface="Times New Roman"/>
                <a:cs typeface="Times New Roman"/>
              </a:rPr>
              <a:t> - 5</a:t>
            </a:r>
            <a:r>
              <a:rPr lang="en-CA" sz="3201" dirty="0">
                <a:solidFill>
                  <a:srgbClr val="7F7F00"/>
                </a:solidFill>
                <a:latin typeface="Times New Roman Italic"/>
                <a:cs typeface="Times New Roman Italic"/>
              </a:rPr>
              <a:t>n</a:t>
            </a:r>
            <a:r>
              <a:rPr lang="en-CA" sz="3201" dirty="0">
                <a:solidFill>
                  <a:srgbClr val="7F7F00"/>
                </a:solidFill>
                <a:latin typeface="Times New Roman"/>
                <a:cs typeface="Times New Roman"/>
              </a:rPr>
              <a:t> + 6046 = Θ(</a:t>
            </a:r>
            <a:r>
              <a:rPr lang="en-CA" sz="3201" dirty="0">
                <a:solidFill>
                  <a:srgbClr val="7F7F00"/>
                </a:solidFill>
                <a:latin typeface="Times New Roman Italic"/>
                <a:cs typeface="Times New Roman Italic"/>
              </a:rPr>
              <a:t>n</a:t>
            </a:r>
            <a:r>
              <a:rPr lang="en-CA" sz="2101" baseline="60000" dirty="0">
                <a:solidFill>
                  <a:srgbClr val="7F7F00"/>
                </a:solidFill>
                <a:latin typeface="Times New Roman"/>
                <a:cs typeface="Times New Roman"/>
              </a:rPr>
              <a:t>3</a:t>
            </a:r>
            <a:r>
              <a:rPr lang="en-CA" sz="3201" dirty="0">
                <a:solidFill>
                  <a:srgbClr val="7F7F00"/>
                </a:solidFill>
                <a:latin typeface="Times New Roman"/>
                <a:cs typeface="Times New Roman"/>
              </a:rPr>
              <a:t>)</a:t>
            </a:r>
          </a:p>
          <a:p>
            <a:pPr>
              <a:lnSpc>
                <a:spcPts val="3680"/>
              </a:lnSpc>
            </a:pPr>
            <a:endParaRPr lang="en-CA" sz="3093" dirty="0">
              <a:solidFill>
                <a:srgbClr val="000000"/>
              </a:solidFill>
            </a:endParaRPr>
          </a:p>
        </p:txBody>
      </p:sp>
      <p:sp>
        <p:nvSpPr>
          <p:cNvPr id="9" name="TextBox 9"/>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10" name="TextBox 10"/>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11" name="TextBox 11"/>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2" name="TextBox 12"/>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L1.22</a:t>
            </a:r>
          </a:p>
          <a:p>
            <a:pPr>
              <a:lnSpc>
                <a:spcPts val="1610"/>
              </a:lnSpc>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8"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Asymptotic performance</a:t>
            </a:r>
          </a:p>
          <a:p>
            <a:pPr>
              <a:lnSpc>
                <a:spcPts val="5060"/>
              </a:lnSpc>
            </a:pPr>
            <a:endParaRPr lang="en-CA" sz="4402">
              <a:solidFill>
                <a:srgbClr val="000000"/>
              </a:solidFill>
            </a:endParaRPr>
          </a:p>
        </p:txBody>
      </p:sp>
      <p:sp>
        <p:nvSpPr>
          <p:cNvPr id="3" name="TextBox 3"/>
          <p:cNvSpPr txBox="1"/>
          <p:nvPr/>
        </p:nvSpPr>
        <p:spPr>
          <a:xfrm>
            <a:off x="647700" y="1473200"/>
            <a:ext cx="7377597" cy="1461939"/>
          </a:xfrm>
          <a:prstGeom prst="rect">
            <a:avLst/>
          </a:prstGeom>
          <a:noFill/>
        </p:spPr>
        <p:txBody>
          <a:bodyPr vert="horz" wrap="none" lIns="0" tIns="0" rIns="0" bIns="0" rtlCol="0">
            <a:spAutoFit/>
          </a:bodyPr>
          <a:lstStyle/>
          <a:p>
            <a:pPr indent="19">
              <a:lnSpc>
                <a:spcPts val="3800"/>
              </a:lnSpc>
            </a:pPr>
            <a:r>
              <a:rPr lang="en-CA" sz="3201" dirty="0">
                <a:solidFill>
                  <a:srgbClr val="000000"/>
                </a:solidFill>
                <a:latin typeface="Times New Roman"/>
                <a:cs typeface="Times New Roman"/>
              </a:rPr>
              <a:t>When </a:t>
            </a:r>
            <a:r>
              <a:rPr lang="en-CA" sz="3201" dirty="0">
                <a:solidFill>
                  <a:srgbClr val="7F7F00"/>
                </a:solidFill>
                <a:latin typeface="Times New Roman Italic"/>
                <a:cs typeface="Times New Roman Italic"/>
              </a:rPr>
              <a:t>n</a:t>
            </a:r>
            <a:r>
              <a:rPr lang="en-CA" sz="3201" dirty="0">
                <a:solidFill>
                  <a:srgbClr val="000000"/>
                </a:solidFill>
                <a:latin typeface="Times New Roman"/>
                <a:cs typeface="Times New Roman"/>
              </a:rPr>
              <a:t> gets large enough, a </a:t>
            </a:r>
            <a:r>
              <a:rPr lang="en-CA" sz="3201" dirty="0">
                <a:solidFill>
                  <a:srgbClr val="7F7F00"/>
                </a:solidFill>
                <a:latin typeface="Times New Roman"/>
                <a:cs typeface="Times New Roman"/>
              </a:rPr>
              <a:t>Θ(</a:t>
            </a:r>
            <a:r>
              <a:rPr lang="en-CA" sz="3201" dirty="0">
                <a:solidFill>
                  <a:srgbClr val="7F7F00"/>
                </a:solidFill>
                <a:latin typeface="Times New Roman Italic"/>
                <a:cs typeface="Times New Roman Italic"/>
              </a:rPr>
              <a:t>n</a:t>
            </a:r>
            <a:r>
              <a:rPr lang="en-CA" sz="2101" baseline="60000" dirty="0">
                <a:solidFill>
                  <a:srgbClr val="7F7F00"/>
                </a:solidFill>
                <a:latin typeface="Times New Roman"/>
                <a:cs typeface="Times New Roman"/>
              </a:rPr>
              <a:t>2</a:t>
            </a:r>
            <a:r>
              <a:rPr lang="en-CA" sz="3201" dirty="0">
                <a:solidFill>
                  <a:srgbClr val="7F7F00"/>
                </a:solidFill>
                <a:latin typeface="Times New Roman"/>
                <a:cs typeface="Times New Roman"/>
              </a:rPr>
              <a:t>)</a:t>
            </a:r>
            <a:r>
              <a:rPr lang="en-CA" sz="3201" dirty="0">
                <a:solidFill>
                  <a:srgbClr val="000000"/>
                </a:solidFill>
                <a:latin typeface="Times New Roman"/>
                <a:cs typeface="Times New Roman"/>
              </a:rPr>
              <a:t> algorithm</a:t>
            </a:r>
            <a:br>
              <a:rPr lang="en-CA" sz="3165" dirty="0">
                <a:solidFill>
                  <a:srgbClr val="000000"/>
                </a:solidFill>
                <a:latin typeface="Times New Roman"/>
              </a:rPr>
            </a:br>
            <a:r>
              <a:rPr lang="en-CA" sz="3201" dirty="0">
                <a:solidFill>
                  <a:srgbClr val="CC0000"/>
                </a:solidFill>
                <a:latin typeface="Times New Roman Italic"/>
                <a:cs typeface="Times New Roman Italic"/>
              </a:rPr>
              <a:t>always</a:t>
            </a:r>
            <a:r>
              <a:rPr lang="en-CA" sz="3201" dirty="0">
                <a:solidFill>
                  <a:srgbClr val="000000"/>
                </a:solidFill>
                <a:latin typeface="Times New Roman"/>
                <a:cs typeface="Times New Roman"/>
              </a:rPr>
              <a:t> beats a </a:t>
            </a:r>
            <a:r>
              <a:rPr lang="en-CA" sz="3201" dirty="0">
                <a:solidFill>
                  <a:srgbClr val="7F7F00"/>
                </a:solidFill>
                <a:latin typeface="Times New Roman"/>
                <a:cs typeface="Times New Roman"/>
              </a:rPr>
              <a:t>Θ(</a:t>
            </a:r>
            <a:r>
              <a:rPr lang="en-CA" sz="3201" dirty="0">
                <a:solidFill>
                  <a:srgbClr val="7F7F00"/>
                </a:solidFill>
                <a:latin typeface="Times New Roman Italic"/>
                <a:cs typeface="Times New Roman Italic"/>
              </a:rPr>
              <a:t>n</a:t>
            </a:r>
            <a:r>
              <a:rPr lang="en-CA" sz="2101" baseline="60000" dirty="0">
                <a:solidFill>
                  <a:srgbClr val="7F7F00"/>
                </a:solidFill>
                <a:latin typeface="Times New Roman"/>
                <a:cs typeface="Times New Roman"/>
              </a:rPr>
              <a:t>3</a:t>
            </a:r>
            <a:r>
              <a:rPr lang="en-CA" sz="3201" dirty="0">
                <a:solidFill>
                  <a:srgbClr val="7F7F00"/>
                </a:solidFill>
                <a:latin typeface="Times New Roman"/>
                <a:cs typeface="Times New Roman"/>
              </a:rPr>
              <a:t>)</a:t>
            </a:r>
            <a:r>
              <a:rPr lang="en-CA" sz="3201" dirty="0">
                <a:solidFill>
                  <a:srgbClr val="000000"/>
                </a:solidFill>
                <a:latin typeface="Times New Roman"/>
                <a:cs typeface="Times New Roman"/>
              </a:rPr>
              <a:t> algorithm.</a:t>
            </a:r>
          </a:p>
          <a:p>
            <a:pPr>
              <a:lnSpc>
                <a:spcPts val="3800"/>
              </a:lnSpc>
            </a:pPr>
            <a:endParaRPr lang="en-CA" sz="3165" dirty="0">
              <a:solidFill>
                <a:srgbClr val="000000"/>
              </a:solidFill>
            </a:endParaRPr>
          </a:p>
        </p:txBody>
      </p:sp>
      <p:sp>
        <p:nvSpPr>
          <p:cNvPr id="4" name="TextBox 4"/>
          <p:cNvSpPr txBox="1"/>
          <p:nvPr/>
        </p:nvSpPr>
        <p:spPr>
          <a:xfrm>
            <a:off x="4864100" y="2565400"/>
            <a:ext cx="4254500" cy="533400"/>
          </a:xfrm>
          <a:prstGeom prst="rect">
            <a:avLst/>
          </a:prstGeom>
          <a:noFill/>
        </p:spPr>
        <p:txBody>
          <a:bodyPr vert="horz" wrap="none" lIns="0" tIns="0" rIns="0" bIns="0" rtlCol="0">
            <a:spAutoFit/>
          </a:bodyPr>
          <a:lstStyle/>
          <a:p>
            <a:pPr>
              <a:lnSpc>
                <a:spcPts val="3220"/>
              </a:lnSpc>
            </a:pPr>
            <a:r>
              <a:rPr lang="en-CA" sz="2804" dirty="0">
                <a:solidFill>
                  <a:srgbClr val="CC0000"/>
                </a:solidFill>
                <a:latin typeface="Times New Roman"/>
                <a:cs typeface="Times New Roman"/>
              </a:rPr>
              <a:t>•</a:t>
            </a:r>
            <a:r>
              <a:rPr lang="en-CA" sz="2804" dirty="0">
                <a:solidFill>
                  <a:srgbClr val="000000"/>
                </a:solidFill>
                <a:latin typeface="Times New Roman"/>
                <a:cs typeface="Times New Roman"/>
              </a:rPr>
              <a:t> We shouldn’t ignore</a:t>
            </a:r>
          </a:p>
          <a:p>
            <a:pPr>
              <a:lnSpc>
                <a:spcPts val="3220"/>
              </a:lnSpc>
            </a:pPr>
            <a:endParaRPr lang="en-CA" sz="2804" dirty="0">
              <a:solidFill>
                <a:srgbClr val="000000"/>
              </a:solidFill>
            </a:endParaRPr>
          </a:p>
        </p:txBody>
      </p:sp>
      <p:sp>
        <p:nvSpPr>
          <p:cNvPr id="5" name="TextBox 5"/>
          <p:cNvSpPr txBox="1"/>
          <p:nvPr/>
        </p:nvSpPr>
        <p:spPr>
          <a:xfrm>
            <a:off x="5080000" y="2971800"/>
            <a:ext cx="4038600" cy="889000"/>
          </a:xfrm>
          <a:prstGeom prst="rect">
            <a:avLst/>
          </a:prstGeom>
          <a:noFill/>
        </p:spPr>
        <p:txBody>
          <a:bodyPr vert="horz" wrap="none" lIns="0" tIns="0" rIns="0" bIns="0" rtlCol="0">
            <a:spAutoFit/>
          </a:bodyPr>
          <a:lstStyle/>
          <a:p>
            <a:pPr>
              <a:lnSpc>
                <a:spcPts val="2800"/>
              </a:lnSpc>
            </a:pPr>
            <a:r>
              <a:rPr lang="en-CA" sz="2804" dirty="0">
                <a:solidFill>
                  <a:srgbClr val="000000"/>
                </a:solidFill>
                <a:latin typeface="Times New Roman"/>
                <a:cs typeface="Times New Roman"/>
              </a:rPr>
              <a:t>asymptotically slower</a:t>
            </a:r>
            <a:br>
              <a:rPr lang="en-CA" sz="2804" dirty="0">
                <a:solidFill>
                  <a:srgbClr val="000000"/>
                </a:solidFill>
                <a:latin typeface="Times New Roman"/>
              </a:rPr>
            </a:br>
            <a:r>
              <a:rPr lang="en-CA" sz="2804" dirty="0">
                <a:solidFill>
                  <a:srgbClr val="000000"/>
                </a:solidFill>
                <a:latin typeface="Times New Roman"/>
                <a:cs typeface="Times New Roman"/>
              </a:rPr>
              <a:t>algorithms, however.</a:t>
            </a:r>
          </a:p>
          <a:p>
            <a:pPr>
              <a:lnSpc>
                <a:spcPts val="2800"/>
              </a:lnSpc>
            </a:pPr>
            <a:endParaRPr lang="en-CA" sz="2804" dirty="0">
              <a:solidFill>
                <a:srgbClr val="000000"/>
              </a:solidFill>
            </a:endParaRPr>
          </a:p>
        </p:txBody>
      </p:sp>
      <p:sp>
        <p:nvSpPr>
          <p:cNvPr id="6" name="TextBox 6"/>
          <p:cNvSpPr txBox="1"/>
          <p:nvPr/>
        </p:nvSpPr>
        <p:spPr>
          <a:xfrm>
            <a:off x="4864100" y="3733800"/>
            <a:ext cx="4254500" cy="533400"/>
          </a:xfrm>
          <a:prstGeom prst="rect">
            <a:avLst/>
          </a:prstGeom>
          <a:noFill/>
        </p:spPr>
        <p:txBody>
          <a:bodyPr vert="horz" wrap="none" lIns="0" tIns="0" rIns="0" bIns="0" rtlCol="0">
            <a:spAutoFit/>
          </a:bodyPr>
          <a:lstStyle/>
          <a:p>
            <a:pPr>
              <a:lnSpc>
                <a:spcPts val="3220"/>
              </a:lnSpc>
            </a:pPr>
            <a:r>
              <a:rPr lang="en-CA" sz="2804">
                <a:solidFill>
                  <a:srgbClr val="CC0000"/>
                </a:solidFill>
                <a:latin typeface="Times New Roman"/>
                <a:cs typeface="Times New Roman"/>
              </a:rPr>
              <a:t>•</a:t>
            </a:r>
            <a:r>
              <a:rPr lang="en-CA" sz="2804">
                <a:solidFill>
                  <a:srgbClr val="000000"/>
                </a:solidFill>
                <a:latin typeface="Times New Roman"/>
                <a:cs typeface="Times New Roman"/>
              </a:rPr>
              <a:t> Real-world design</a:t>
            </a:r>
          </a:p>
          <a:p>
            <a:pPr>
              <a:lnSpc>
                <a:spcPts val="3220"/>
              </a:lnSpc>
            </a:pPr>
            <a:endParaRPr lang="en-CA" sz="2804">
              <a:solidFill>
                <a:srgbClr val="000000"/>
              </a:solidFill>
            </a:endParaRPr>
          </a:p>
        </p:txBody>
      </p:sp>
      <p:sp>
        <p:nvSpPr>
          <p:cNvPr id="7" name="TextBox 7"/>
          <p:cNvSpPr txBox="1"/>
          <p:nvPr/>
        </p:nvSpPr>
        <p:spPr>
          <a:xfrm>
            <a:off x="5080000" y="4152900"/>
            <a:ext cx="4038600" cy="533400"/>
          </a:xfrm>
          <a:prstGeom prst="rect">
            <a:avLst/>
          </a:prstGeom>
          <a:noFill/>
        </p:spPr>
        <p:txBody>
          <a:bodyPr vert="horz" wrap="none" lIns="0" tIns="0" rIns="0" bIns="0" rtlCol="0">
            <a:spAutoFit/>
          </a:bodyPr>
          <a:lstStyle/>
          <a:p>
            <a:pPr>
              <a:lnSpc>
                <a:spcPts val="2710"/>
              </a:lnSpc>
            </a:pPr>
            <a:r>
              <a:rPr lang="en-CA" sz="2804">
                <a:solidFill>
                  <a:srgbClr val="000000"/>
                </a:solidFill>
                <a:latin typeface="Times New Roman"/>
                <a:cs typeface="Times New Roman"/>
              </a:rPr>
              <a:t>situations often call for a</a:t>
            </a:r>
          </a:p>
          <a:p>
            <a:pPr>
              <a:lnSpc>
                <a:spcPts val="2710"/>
              </a:lnSpc>
            </a:pPr>
            <a:endParaRPr lang="en-CA" sz="2804">
              <a:solidFill>
                <a:srgbClr val="000000"/>
              </a:solidFill>
            </a:endParaRPr>
          </a:p>
        </p:txBody>
      </p:sp>
      <p:sp>
        <p:nvSpPr>
          <p:cNvPr id="8" name="TextBox 8"/>
          <p:cNvSpPr txBox="1"/>
          <p:nvPr/>
        </p:nvSpPr>
        <p:spPr>
          <a:xfrm>
            <a:off x="76200" y="4495800"/>
            <a:ext cx="2489200" cy="685800"/>
          </a:xfrm>
          <a:prstGeom prst="rect">
            <a:avLst/>
          </a:prstGeom>
          <a:noFill/>
        </p:spPr>
        <p:txBody>
          <a:bodyPr vert="horz" wrap="none" lIns="0" tIns="0" rIns="0" bIns="0" rtlCol="0">
            <a:spAutoFit/>
          </a:bodyPr>
          <a:lstStyle/>
          <a:p>
            <a:pPr>
              <a:lnSpc>
                <a:spcPts val="2700"/>
              </a:lnSpc>
            </a:pPr>
            <a:r>
              <a:rPr lang="en-CA" sz="3201">
                <a:solidFill>
                  <a:srgbClr val="9A9A00"/>
                </a:solidFill>
                <a:latin typeface="Times New Roman Italic"/>
                <a:cs typeface="Times New Roman Italic"/>
              </a:rPr>
              <a:t>T</a:t>
            </a:r>
            <a:r>
              <a:rPr lang="en-CA" sz="3201">
                <a:solidFill>
                  <a:srgbClr val="9A9A00"/>
                </a:solidFill>
                <a:latin typeface="Times New Roman"/>
                <a:cs typeface="Times New Roman"/>
              </a:rPr>
              <a:t>(</a:t>
            </a:r>
            <a:r>
              <a:rPr lang="en-CA" sz="3201">
                <a:solidFill>
                  <a:srgbClr val="9A9A00"/>
                </a:solidFill>
                <a:latin typeface="Times New Roman Italic"/>
                <a:cs typeface="Times New Roman Italic"/>
              </a:rPr>
              <a:t>n</a:t>
            </a:r>
            <a:r>
              <a:rPr lang="en-CA" sz="3201">
                <a:solidFill>
                  <a:srgbClr val="9A9A00"/>
                </a:solidFill>
                <a:latin typeface="Times New Roman"/>
                <a:cs typeface="Times New Roman"/>
              </a:rPr>
              <a:t>)</a:t>
            </a:r>
          </a:p>
          <a:p>
            <a:pPr>
              <a:lnSpc>
                <a:spcPts val="2710"/>
              </a:lnSpc>
            </a:pPr>
            <a:endParaRPr lang="en-CA" sz="3201">
              <a:solidFill>
                <a:srgbClr val="000000"/>
              </a:solidFill>
            </a:endParaRPr>
          </a:p>
        </p:txBody>
      </p:sp>
      <p:sp>
        <p:nvSpPr>
          <p:cNvPr id="9" name="TextBox 9"/>
          <p:cNvSpPr txBox="1"/>
          <p:nvPr/>
        </p:nvSpPr>
        <p:spPr>
          <a:xfrm>
            <a:off x="2667000" y="5930900"/>
            <a:ext cx="647700" cy="685800"/>
          </a:xfrm>
          <a:prstGeom prst="rect">
            <a:avLst/>
          </a:prstGeom>
          <a:noFill/>
        </p:spPr>
        <p:txBody>
          <a:bodyPr vert="horz" wrap="none" lIns="0" tIns="0" rIns="0" bIns="0" rtlCol="0">
            <a:spAutoFit/>
          </a:bodyPr>
          <a:lstStyle/>
          <a:p>
            <a:pPr>
              <a:lnSpc>
                <a:spcPts val="3700"/>
              </a:lnSpc>
            </a:pPr>
            <a:r>
              <a:rPr lang="en-CA" sz="3201">
                <a:solidFill>
                  <a:srgbClr val="9A9A00"/>
                </a:solidFill>
                <a:latin typeface="Times New Roman Italic"/>
                <a:cs typeface="Times New Roman Italic"/>
              </a:rPr>
              <a:t>n</a:t>
            </a:r>
          </a:p>
          <a:p>
            <a:pPr>
              <a:lnSpc>
                <a:spcPts val="3680"/>
              </a:lnSpc>
            </a:pPr>
            <a:endParaRPr lang="en-CA" sz="3201">
              <a:solidFill>
                <a:srgbClr val="000000"/>
              </a:solidFill>
            </a:endParaRPr>
          </a:p>
        </p:txBody>
      </p:sp>
      <p:sp>
        <p:nvSpPr>
          <p:cNvPr id="10" name="TextBox 10"/>
          <p:cNvSpPr txBox="1"/>
          <p:nvPr/>
        </p:nvSpPr>
        <p:spPr>
          <a:xfrm>
            <a:off x="3429000" y="5918200"/>
            <a:ext cx="1320800" cy="508000"/>
          </a:xfrm>
          <a:prstGeom prst="rect">
            <a:avLst/>
          </a:prstGeom>
          <a:noFill/>
        </p:spPr>
        <p:txBody>
          <a:bodyPr vert="horz" wrap="none" lIns="0" tIns="0" rIns="0" bIns="0" rtlCol="0">
            <a:spAutoFit/>
          </a:bodyPr>
          <a:lstStyle/>
          <a:p>
            <a:pPr>
              <a:lnSpc>
                <a:spcPts val="2700"/>
              </a:lnSpc>
            </a:pPr>
            <a:r>
              <a:rPr lang="en-CA" sz="2402">
                <a:solidFill>
                  <a:srgbClr val="9A9A00"/>
                </a:solidFill>
                <a:latin typeface="Times New Roman Italic"/>
                <a:cs typeface="Times New Roman Italic"/>
              </a:rPr>
              <a:t>n</a:t>
            </a:r>
            <a:r>
              <a:rPr lang="en-CA" sz="1603">
                <a:solidFill>
                  <a:srgbClr val="9A9A00"/>
                </a:solidFill>
                <a:latin typeface="Times New Roman"/>
                <a:cs typeface="Times New Roman"/>
              </a:rPr>
              <a:t>0</a:t>
            </a:r>
          </a:p>
          <a:p>
            <a:pPr>
              <a:lnSpc>
                <a:spcPts val="2760"/>
              </a:lnSpc>
            </a:pPr>
            <a:endParaRPr lang="en-CA" sz="2002">
              <a:solidFill>
                <a:srgbClr val="000000"/>
              </a:solidFill>
            </a:endParaRPr>
          </a:p>
        </p:txBody>
      </p:sp>
      <p:sp>
        <p:nvSpPr>
          <p:cNvPr id="11" name="TextBox 11"/>
          <p:cNvSpPr txBox="1"/>
          <p:nvPr/>
        </p:nvSpPr>
        <p:spPr>
          <a:xfrm>
            <a:off x="5080000" y="4495800"/>
            <a:ext cx="3937000" cy="952500"/>
          </a:xfrm>
          <a:prstGeom prst="rect">
            <a:avLst/>
          </a:prstGeom>
          <a:noFill/>
        </p:spPr>
        <p:txBody>
          <a:bodyPr vert="horz" wrap="none" lIns="0" tIns="0" rIns="0" bIns="0" rtlCol="0">
            <a:spAutoFit/>
          </a:bodyPr>
          <a:lstStyle/>
          <a:p>
            <a:pPr>
              <a:lnSpc>
                <a:spcPts val="2800"/>
              </a:lnSpc>
            </a:pPr>
            <a:r>
              <a:rPr lang="en-CA" sz="2804">
                <a:solidFill>
                  <a:srgbClr val="000000"/>
                </a:solidFill>
                <a:latin typeface="Times New Roman"/>
                <a:cs typeface="Times New Roman"/>
              </a:rPr>
              <a:t>careful balancing of</a:t>
            </a:r>
            <a:br>
              <a:rPr lang="en-CA" sz="2804">
                <a:solidFill>
                  <a:srgbClr val="000000"/>
                </a:solidFill>
                <a:latin typeface="Times New Roman"/>
              </a:rPr>
            </a:br>
            <a:r>
              <a:rPr lang="en-CA" sz="2804">
                <a:solidFill>
                  <a:srgbClr val="000000"/>
                </a:solidFill>
                <a:latin typeface="Times New Roman"/>
                <a:cs typeface="Times New Roman"/>
              </a:rPr>
              <a:t>engineering objectives.</a:t>
            </a:r>
          </a:p>
          <a:p>
            <a:pPr>
              <a:lnSpc>
                <a:spcPts val="2860"/>
              </a:lnSpc>
            </a:pPr>
            <a:endParaRPr lang="en-CA" sz="2804">
              <a:solidFill>
                <a:srgbClr val="000000"/>
              </a:solidFill>
            </a:endParaRPr>
          </a:p>
        </p:txBody>
      </p:sp>
      <p:sp>
        <p:nvSpPr>
          <p:cNvPr id="12" name="TextBox 12"/>
          <p:cNvSpPr txBox="1"/>
          <p:nvPr/>
        </p:nvSpPr>
        <p:spPr>
          <a:xfrm>
            <a:off x="4864100" y="5270500"/>
            <a:ext cx="4152900" cy="596900"/>
          </a:xfrm>
          <a:prstGeom prst="rect">
            <a:avLst/>
          </a:prstGeom>
          <a:noFill/>
        </p:spPr>
        <p:txBody>
          <a:bodyPr vert="horz" wrap="none" lIns="0" tIns="0" rIns="0" bIns="0" rtlCol="0">
            <a:spAutoFit/>
          </a:bodyPr>
          <a:lstStyle/>
          <a:p>
            <a:pPr>
              <a:lnSpc>
                <a:spcPts val="3200"/>
              </a:lnSpc>
            </a:pPr>
            <a:r>
              <a:rPr lang="en-CA" sz="2804">
                <a:solidFill>
                  <a:srgbClr val="CC0000"/>
                </a:solidFill>
                <a:latin typeface="Times New Roman"/>
                <a:cs typeface="Times New Roman"/>
              </a:rPr>
              <a:t>•</a:t>
            </a:r>
            <a:r>
              <a:rPr lang="en-CA" sz="2804">
                <a:solidFill>
                  <a:srgbClr val="000000"/>
                </a:solidFill>
                <a:latin typeface="Times New Roman"/>
                <a:cs typeface="Times New Roman"/>
              </a:rPr>
              <a:t> Asymptotic analysis is a</a:t>
            </a:r>
          </a:p>
          <a:p>
            <a:pPr>
              <a:lnSpc>
                <a:spcPts val="3220"/>
              </a:lnSpc>
            </a:pPr>
            <a:endParaRPr lang="en-CA" sz="2804">
              <a:solidFill>
                <a:srgbClr val="000000"/>
              </a:solidFill>
            </a:endParaRPr>
          </a:p>
        </p:txBody>
      </p:sp>
      <p:sp>
        <p:nvSpPr>
          <p:cNvPr id="13" name="TextBox 13"/>
          <p:cNvSpPr txBox="1"/>
          <p:nvPr/>
        </p:nvSpPr>
        <p:spPr>
          <a:xfrm>
            <a:off x="5080000" y="5676900"/>
            <a:ext cx="3937000" cy="952500"/>
          </a:xfrm>
          <a:prstGeom prst="rect">
            <a:avLst/>
          </a:prstGeom>
          <a:noFill/>
        </p:spPr>
        <p:txBody>
          <a:bodyPr vert="horz" wrap="none" lIns="0" tIns="0" rIns="0" bIns="0" rtlCol="0">
            <a:spAutoFit/>
          </a:bodyPr>
          <a:lstStyle/>
          <a:p>
            <a:pPr>
              <a:lnSpc>
                <a:spcPts val="2800"/>
              </a:lnSpc>
            </a:pPr>
            <a:r>
              <a:rPr lang="en-CA" sz="2804">
                <a:solidFill>
                  <a:srgbClr val="000000"/>
                </a:solidFill>
                <a:latin typeface="Times New Roman"/>
                <a:cs typeface="Times New Roman"/>
              </a:rPr>
              <a:t>useful tool to help to</a:t>
            </a:r>
            <a:br>
              <a:rPr lang="en-CA" sz="2804">
                <a:solidFill>
                  <a:srgbClr val="000000"/>
                </a:solidFill>
                <a:latin typeface="Times New Roman"/>
              </a:rPr>
            </a:br>
            <a:r>
              <a:rPr lang="en-CA" sz="2804">
                <a:solidFill>
                  <a:srgbClr val="000000"/>
                </a:solidFill>
                <a:latin typeface="Times New Roman"/>
                <a:cs typeface="Times New Roman"/>
              </a:rPr>
              <a:t>structure our thinking.</a:t>
            </a:r>
          </a:p>
          <a:p>
            <a:pPr>
              <a:lnSpc>
                <a:spcPts val="2835"/>
              </a:lnSpc>
            </a:pPr>
            <a:endParaRPr lang="en-CA" sz="2804">
              <a:solidFill>
                <a:srgbClr val="000000"/>
              </a:solidFill>
            </a:endParaRPr>
          </a:p>
        </p:txBody>
      </p:sp>
      <p:sp>
        <p:nvSpPr>
          <p:cNvPr id="14" name="TextBox 14"/>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15" name="TextBox 15"/>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16" name="TextBox 16"/>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7" name="TextBox 17"/>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L1.23</a:t>
            </a:r>
          </a:p>
          <a:p>
            <a:pPr>
              <a:lnSpc>
                <a:spcPts val="1610"/>
              </a:lnSpc>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25"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Insertion sort analysis</a:t>
            </a:r>
          </a:p>
          <a:p>
            <a:pPr>
              <a:lnSpc>
                <a:spcPts val="5060"/>
              </a:lnSpc>
            </a:pPr>
            <a:endParaRPr lang="en-CA" sz="4402">
              <a:solidFill>
                <a:srgbClr val="000000"/>
              </a:solidFill>
            </a:endParaRPr>
          </a:p>
        </p:txBody>
      </p:sp>
      <p:sp>
        <p:nvSpPr>
          <p:cNvPr id="3" name="TextBox 3"/>
          <p:cNvSpPr txBox="1"/>
          <p:nvPr/>
        </p:nvSpPr>
        <p:spPr>
          <a:xfrm>
            <a:off x="749300" y="1485900"/>
            <a:ext cx="83693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Bold Italic"/>
                <a:cs typeface="Times New Roman Bold Italic"/>
              </a:rPr>
              <a:t>Worst case:</a:t>
            </a:r>
            <a:r>
              <a:rPr lang="en-CA" sz="3201">
                <a:solidFill>
                  <a:srgbClr val="000000"/>
                </a:solidFill>
                <a:latin typeface="Times New Roman"/>
                <a:cs typeface="Times New Roman"/>
              </a:rPr>
              <a:t> Input reverse sorted.</a:t>
            </a:r>
          </a:p>
          <a:p>
            <a:pPr>
              <a:lnSpc>
                <a:spcPts val="3680"/>
              </a:lnSpc>
            </a:pPr>
            <a:endParaRPr lang="en-CA" sz="3201">
              <a:solidFill>
                <a:srgbClr val="000000"/>
              </a:solidFill>
            </a:endParaRPr>
          </a:p>
        </p:txBody>
      </p:sp>
      <p:sp>
        <p:nvSpPr>
          <p:cNvPr id="4" name="TextBox 4"/>
          <p:cNvSpPr txBox="1"/>
          <p:nvPr/>
        </p:nvSpPr>
        <p:spPr>
          <a:xfrm>
            <a:off x="2552700" y="1917700"/>
            <a:ext cx="6565900" cy="457200"/>
          </a:xfrm>
          <a:prstGeom prst="rect">
            <a:avLst/>
          </a:prstGeom>
          <a:noFill/>
        </p:spPr>
        <p:txBody>
          <a:bodyPr vert="horz" wrap="none" lIns="0" tIns="0" rIns="0" bIns="0" rtlCol="0">
            <a:spAutoFit/>
          </a:bodyPr>
          <a:lstStyle/>
          <a:p>
            <a:pPr>
              <a:lnSpc>
                <a:spcPts val="2160"/>
              </a:lnSpc>
            </a:pPr>
            <a:r>
              <a:rPr lang="en-CA" sz="2401">
                <a:solidFill>
                  <a:srgbClr val="9A9A00"/>
                </a:solidFill>
                <a:latin typeface="Times New Roman Italic"/>
                <a:cs typeface="Times New Roman Italic"/>
              </a:rPr>
              <a:t>n</a:t>
            </a:r>
          </a:p>
          <a:p>
            <a:pPr>
              <a:lnSpc>
                <a:spcPts val="2160"/>
              </a:lnSpc>
            </a:pPr>
            <a:endParaRPr lang="en-CA" sz="2401">
              <a:solidFill>
                <a:srgbClr val="000000"/>
              </a:solidFill>
            </a:endParaRPr>
          </a:p>
        </p:txBody>
      </p:sp>
      <p:sp>
        <p:nvSpPr>
          <p:cNvPr id="5" name="TextBox 5"/>
          <p:cNvSpPr txBox="1"/>
          <p:nvPr/>
        </p:nvSpPr>
        <p:spPr>
          <a:xfrm>
            <a:off x="1193800" y="2209800"/>
            <a:ext cx="1130300" cy="685800"/>
          </a:xfrm>
          <a:prstGeom prst="rect">
            <a:avLst/>
          </a:prstGeom>
          <a:noFill/>
        </p:spPr>
        <p:txBody>
          <a:bodyPr vert="horz" wrap="none" lIns="0" tIns="0" rIns="0" bIns="0" rtlCol="0">
            <a:spAutoFit/>
          </a:bodyPr>
          <a:lstStyle/>
          <a:p>
            <a:pPr>
              <a:lnSpc>
                <a:spcPts val="3200"/>
              </a:lnSpc>
            </a:pPr>
            <a:r>
              <a:rPr lang="en-CA" sz="3202">
                <a:solidFill>
                  <a:srgbClr val="9A9A00"/>
                </a:solidFill>
                <a:latin typeface="Times New Roman Italic"/>
                <a:cs typeface="Times New Roman Italic"/>
              </a:rPr>
              <a:t>T</a:t>
            </a:r>
            <a:r>
              <a:rPr lang="en-CA" sz="3202">
                <a:solidFill>
                  <a:srgbClr val="9A9A00"/>
                </a:solidFill>
                <a:latin typeface="Times New Roman"/>
                <a:cs typeface="Times New Roman"/>
              </a:rPr>
              <a:t>(</a:t>
            </a:r>
            <a:r>
              <a:rPr lang="en-CA" sz="3202">
                <a:solidFill>
                  <a:srgbClr val="9A9A00"/>
                </a:solidFill>
                <a:latin typeface="Times New Roman Italic"/>
                <a:cs typeface="Times New Roman Italic"/>
              </a:rPr>
              <a:t>n</a:t>
            </a:r>
            <a:r>
              <a:rPr lang="en-CA" sz="3202">
                <a:solidFill>
                  <a:srgbClr val="9A9A00"/>
                </a:solidFill>
                <a:latin typeface="Times New Roman"/>
                <a:cs typeface="Times New Roman"/>
              </a:rPr>
              <a:t>)=</a:t>
            </a:r>
          </a:p>
          <a:p>
            <a:pPr>
              <a:lnSpc>
                <a:spcPts val="3210"/>
              </a:lnSpc>
            </a:pPr>
            <a:endParaRPr lang="en-CA" sz="3202">
              <a:solidFill>
                <a:srgbClr val="000000"/>
              </a:solidFill>
            </a:endParaRPr>
          </a:p>
        </p:txBody>
      </p:sp>
      <p:sp>
        <p:nvSpPr>
          <p:cNvPr id="6" name="TextBox 6"/>
          <p:cNvSpPr txBox="1"/>
          <p:nvPr/>
        </p:nvSpPr>
        <p:spPr>
          <a:xfrm>
            <a:off x="2425700" y="2260600"/>
            <a:ext cx="419100" cy="939800"/>
          </a:xfrm>
          <a:prstGeom prst="rect">
            <a:avLst/>
          </a:prstGeom>
          <a:noFill/>
        </p:spPr>
        <p:txBody>
          <a:bodyPr vert="horz" wrap="none" lIns="0" tIns="0" rIns="0" bIns="0" rtlCol="0">
            <a:spAutoFit/>
          </a:bodyPr>
          <a:lstStyle/>
          <a:p>
            <a:pPr>
              <a:lnSpc>
                <a:spcPts val="3500"/>
              </a:lnSpc>
            </a:pPr>
            <a:r>
              <a:rPr lang="en-CA" sz="4403">
                <a:solidFill>
                  <a:srgbClr val="9A9A00"/>
                </a:solidFill>
                <a:latin typeface="Times New Roman"/>
                <a:cs typeface="Times New Roman"/>
              </a:rPr>
              <a:t>∑</a:t>
            </a:r>
          </a:p>
          <a:p>
            <a:pPr>
              <a:lnSpc>
                <a:spcPts val="3520"/>
              </a:lnSpc>
            </a:pPr>
            <a:endParaRPr lang="en-CA" sz="4403">
              <a:solidFill>
                <a:srgbClr val="000000"/>
              </a:solidFill>
            </a:endParaRPr>
          </a:p>
        </p:txBody>
      </p:sp>
      <p:sp>
        <p:nvSpPr>
          <p:cNvPr id="7" name="TextBox 7"/>
          <p:cNvSpPr txBox="1"/>
          <p:nvPr/>
        </p:nvSpPr>
        <p:spPr>
          <a:xfrm>
            <a:off x="4724400" y="2222500"/>
            <a:ext cx="787400" cy="508000"/>
          </a:xfrm>
          <a:prstGeom prst="rect">
            <a:avLst/>
          </a:prstGeom>
          <a:noFill/>
        </p:spPr>
        <p:txBody>
          <a:bodyPr vert="horz" wrap="none" lIns="0" tIns="0" rIns="0" bIns="0" rtlCol="0">
            <a:spAutoFit/>
          </a:bodyPr>
          <a:lstStyle/>
          <a:p>
            <a:pPr>
              <a:lnSpc>
                <a:spcPts val="2200"/>
              </a:lnSpc>
            </a:pPr>
            <a:r>
              <a:rPr lang="en-CA" sz="2401">
                <a:solidFill>
                  <a:srgbClr val="9A9A00"/>
                </a:solidFill>
                <a:latin typeface="Times New Roman"/>
                <a:cs typeface="Times New Roman"/>
              </a:rPr>
              <a:t>2</a:t>
            </a:r>
          </a:p>
          <a:p>
            <a:pPr>
              <a:lnSpc>
                <a:spcPts val="2240"/>
              </a:lnSpc>
            </a:pPr>
            <a:endParaRPr lang="en-CA" sz="2401">
              <a:solidFill>
                <a:srgbClr val="000000"/>
              </a:solidFill>
            </a:endParaRPr>
          </a:p>
        </p:txBody>
      </p:sp>
      <p:sp>
        <p:nvSpPr>
          <p:cNvPr id="8" name="TextBox 8"/>
          <p:cNvSpPr txBox="1"/>
          <p:nvPr/>
        </p:nvSpPr>
        <p:spPr>
          <a:xfrm>
            <a:off x="2870200" y="2273300"/>
            <a:ext cx="2641600" cy="711200"/>
          </a:xfrm>
          <a:prstGeom prst="rect">
            <a:avLst/>
          </a:prstGeom>
          <a:noFill/>
        </p:spPr>
        <p:txBody>
          <a:bodyPr vert="horz" wrap="none" lIns="0" tIns="0" rIns="0" bIns="0" rtlCol="0">
            <a:spAutoFit/>
          </a:bodyPr>
          <a:lstStyle/>
          <a:p>
            <a:pPr>
              <a:lnSpc>
                <a:spcPts val="2700"/>
              </a:lnSpc>
              <a:tabLst>
                <a:tab pos="2057400" algn="l"/>
              </a:tabLst>
            </a:pPr>
            <a:r>
              <a:rPr lang="en-CA" sz="3202" dirty="0">
                <a:solidFill>
                  <a:srgbClr val="9A9A00"/>
                </a:solidFill>
                <a:latin typeface="Times New Roman"/>
                <a:cs typeface="Times New Roman"/>
              </a:rPr>
              <a:t>Θ(</a:t>
            </a:r>
            <a:r>
              <a:rPr lang="en-CA" sz="3202" dirty="0">
                <a:solidFill>
                  <a:srgbClr val="9A9A00"/>
                </a:solidFill>
                <a:latin typeface="Times New Roman Italic"/>
                <a:cs typeface="Times New Roman Italic"/>
              </a:rPr>
              <a:t>j</a:t>
            </a:r>
            <a:r>
              <a:rPr lang="en-CA" sz="3202" dirty="0">
                <a:solidFill>
                  <a:srgbClr val="9A9A00"/>
                </a:solidFill>
                <a:latin typeface="Times New Roman"/>
                <a:cs typeface="Times New Roman"/>
              </a:rPr>
              <a:t>)=Θ</a:t>
            </a:r>
            <a:r>
              <a:rPr lang="en-CA" sz="3675" dirty="0">
                <a:solidFill>
                  <a:srgbClr val="9A9A00"/>
                </a:solidFill>
                <a:latin typeface="Times New Roman"/>
                <a:cs typeface="Times New Roman"/>
              </a:rPr>
              <a:t>(</a:t>
            </a:r>
            <a:r>
              <a:rPr lang="en-CA" sz="3202" dirty="0">
                <a:solidFill>
                  <a:srgbClr val="9A9A00"/>
                </a:solidFill>
                <a:latin typeface="Times New Roman Italic"/>
                <a:cs typeface="Times New Roman Italic"/>
              </a:rPr>
              <a:t>n</a:t>
            </a:r>
            <a:r>
              <a:rPr lang="en-CA" sz="3675" dirty="0">
                <a:solidFill>
                  <a:srgbClr val="9A9A00"/>
                </a:solidFill>
                <a:latin typeface="Times New Roman"/>
                <a:cs typeface="Times New Roman"/>
              </a:rPr>
              <a:t>	)</a:t>
            </a:r>
          </a:p>
          <a:p>
            <a:pPr>
              <a:lnSpc>
                <a:spcPts val="2680"/>
              </a:lnSpc>
            </a:pPr>
            <a:endParaRPr lang="en-CA" sz="3675" dirty="0">
              <a:solidFill>
                <a:srgbClr val="000000"/>
              </a:solidFill>
            </a:endParaRPr>
          </a:p>
        </p:txBody>
      </p:sp>
      <p:sp>
        <p:nvSpPr>
          <p:cNvPr id="9" name="TextBox 9"/>
          <p:cNvSpPr txBox="1"/>
          <p:nvPr/>
        </p:nvSpPr>
        <p:spPr>
          <a:xfrm>
            <a:off x="5613400" y="2209800"/>
            <a:ext cx="3403600" cy="685800"/>
          </a:xfrm>
          <a:prstGeom prst="rect">
            <a:avLst/>
          </a:prstGeom>
          <a:noFill/>
        </p:spPr>
        <p:txBody>
          <a:bodyPr vert="horz" wrap="none" lIns="0" tIns="0" rIns="0" bIns="0" rtlCol="0">
            <a:spAutoFit/>
          </a:bodyPr>
          <a:lstStyle/>
          <a:p>
            <a:pPr>
              <a:lnSpc>
                <a:spcPts val="2900"/>
              </a:lnSpc>
            </a:pPr>
            <a:r>
              <a:rPr lang="en-CA" sz="3201">
                <a:solidFill>
                  <a:srgbClr val="000000"/>
                </a:solidFill>
                <a:latin typeface="Times New Roman"/>
                <a:cs typeface="Times New Roman"/>
              </a:rPr>
              <a:t>[arithmetic series]</a:t>
            </a:r>
          </a:p>
          <a:p>
            <a:pPr>
              <a:lnSpc>
                <a:spcPts val="2880"/>
              </a:lnSpc>
            </a:pPr>
            <a:endParaRPr lang="en-CA" sz="3201">
              <a:solidFill>
                <a:srgbClr val="000000"/>
              </a:solidFill>
            </a:endParaRPr>
          </a:p>
        </p:txBody>
      </p:sp>
      <p:sp>
        <p:nvSpPr>
          <p:cNvPr id="10" name="TextBox 10"/>
          <p:cNvSpPr txBox="1"/>
          <p:nvPr/>
        </p:nvSpPr>
        <p:spPr>
          <a:xfrm>
            <a:off x="2438400" y="2679700"/>
            <a:ext cx="609600" cy="368300"/>
          </a:xfrm>
          <a:prstGeom prst="rect">
            <a:avLst/>
          </a:prstGeom>
          <a:noFill/>
        </p:spPr>
        <p:txBody>
          <a:bodyPr vert="horz" wrap="none" lIns="0" tIns="0" rIns="0" bIns="0" rtlCol="0">
            <a:spAutoFit/>
          </a:bodyPr>
          <a:lstStyle/>
          <a:p>
            <a:pPr>
              <a:lnSpc>
                <a:spcPts val="2160"/>
              </a:lnSpc>
            </a:pPr>
            <a:r>
              <a:rPr lang="en-CA" sz="2401">
                <a:solidFill>
                  <a:srgbClr val="9A9A00"/>
                </a:solidFill>
                <a:latin typeface="Times New Roman Italic"/>
                <a:cs typeface="Times New Roman Italic"/>
              </a:rPr>
              <a:t>j</a:t>
            </a:r>
            <a:r>
              <a:rPr lang="en-CA" sz="2401">
                <a:solidFill>
                  <a:srgbClr val="9A9A00"/>
                </a:solidFill>
                <a:latin typeface="Times New Roman"/>
                <a:cs typeface="Times New Roman"/>
              </a:rPr>
              <a:t>=2</a:t>
            </a:r>
          </a:p>
          <a:p>
            <a:pPr>
              <a:lnSpc>
                <a:spcPts val="2160"/>
              </a:lnSpc>
            </a:pPr>
            <a:endParaRPr/>
          </a:p>
        </p:txBody>
      </p:sp>
      <p:sp>
        <p:nvSpPr>
          <p:cNvPr id="11" name="TextBox 11"/>
          <p:cNvSpPr txBox="1"/>
          <p:nvPr/>
        </p:nvSpPr>
        <p:spPr>
          <a:xfrm>
            <a:off x="749300" y="3162300"/>
            <a:ext cx="8369300" cy="609600"/>
          </a:xfrm>
          <a:prstGeom prst="rect">
            <a:avLst/>
          </a:prstGeom>
          <a:noFill/>
        </p:spPr>
        <p:txBody>
          <a:bodyPr vert="horz" wrap="none" lIns="0" tIns="0" rIns="0" bIns="0" rtlCol="0">
            <a:spAutoFit/>
          </a:bodyPr>
          <a:lstStyle/>
          <a:p>
            <a:pPr>
              <a:lnSpc>
                <a:spcPts val="2880"/>
              </a:lnSpc>
            </a:pPr>
            <a:r>
              <a:rPr lang="en-CA" sz="3201" dirty="0">
                <a:solidFill>
                  <a:srgbClr val="CC0000"/>
                </a:solidFill>
                <a:latin typeface="Times New Roman Bold Italic"/>
                <a:cs typeface="Times New Roman Bold Italic"/>
              </a:rPr>
              <a:t>Average case:</a:t>
            </a:r>
            <a:r>
              <a:rPr lang="en-CA" sz="3201" dirty="0">
                <a:solidFill>
                  <a:srgbClr val="000000"/>
                </a:solidFill>
                <a:latin typeface="Times New Roman"/>
                <a:cs typeface="Times New Roman"/>
              </a:rPr>
              <a:t> All permutations equally likely.</a:t>
            </a:r>
          </a:p>
          <a:p>
            <a:pPr>
              <a:lnSpc>
                <a:spcPts val="2880"/>
              </a:lnSpc>
            </a:pPr>
            <a:endParaRPr lang="en-CA" sz="3201" dirty="0">
              <a:solidFill>
                <a:srgbClr val="000000"/>
              </a:solidFill>
            </a:endParaRPr>
          </a:p>
        </p:txBody>
      </p:sp>
      <p:sp>
        <p:nvSpPr>
          <p:cNvPr id="12" name="TextBox 12"/>
          <p:cNvSpPr txBox="1"/>
          <p:nvPr/>
        </p:nvSpPr>
        <p:spPr>
          <a:xfrm>
            <a:off x="2552700" y="3517900"/>
            <a:ext cx="6565900" cy="457200"/>
          </a:xfrm>
          <a:prstGeom prst="rect">
            <a:avLst/>
          </a:prstGeom>
          <a:noFill/>
        </p:spPr>
        <p:txBody>
          <a:bodyPr vert="horz" wrap="none" lIns="0" tIns="0" rIns="0" bIns="0" rtlCol="0">
            <a:spAutoFit/>
          </a:bodyPr>
          <a:lstStyle/>
          <a:p>
            <a:pPr>
              <a:lnSpc>
                <a:spcPts val="2160"/>
              </a:lnSpc>
            </a:pPr>
            <a:r>
              <a:rPr lang="en-CA" sz="2401">
                <a:solidFill>
                  <a:srgbClr val="9A9A00"/>
                </a:solidFill>
                <a:latin typeface="Times New Roman Italic"/>
                <a:cs typeface="Times New Roman Italic"/>
              </a:rPr>
              <a:t>n</a:t>
            </a:r>
          </a:p>
          <a:p>
            <a:pPr>
              <a:lnSpc>
                <a:spcPts val="2160"/>
              </a:lnSpc>
            </a:pPr>
            <a:endParaRPr lang="en-CA" sz="2401">
              <a:solidFill>
                <a:srgbClr val="000000"/>
              </a:solidFill>
            </a:endParaRPr>
          </a:p>
        </p:txBody>
      </p:sp>
      <p:sp>
        <p:nvSpPr>
          <p:cNvPr id="13" name="TextBox 13"/>
          <p:cNvSpPr txBox="1"/>
          <p:nvPr/>
        </p:nvSpPr>
        <p:spPr>
          <a:xfrm>
            <a:off x="1193800" y="3822700"/>
            <a:ext cx="1130300" cy="685800"/>
          </a:xfrm>
          <a:prstGeom prst="rect">
            <a:avLst/>
          </a:prstGeom>
          <a:noFill/>
        </p:spPr>
        <p:txBody>
          <a:bodyPr vert="horz" wrap="none" lIns="0" tIns="0" rIns="0" bIns="0" rtlCol="0">
            <a:spAutoFit/>
          </a:bodyPr>
          <a:lstStyle/>
          <a:p>
            <a:pPr>
              <a:lnSpc>
                <a:spcPts val="3200"/>
              </a:lnSpc>
            </a:pPr>
            <a:r>
              <a:rPr lang="en-CA" sz="3202">
                <a:solidFill>
                  <a:srgbClr val="9A9A00"/>
                </a:solidFill>
                <a:latin typeface="Times New Roman Italic"/>
                <a:cs typeface="Times New Roman Italic"/>
              </a:rPr>
              <a:t>T</a:t>
            </a:r>
            <a:r>
              <a:rPr lang="en-CA" sz="3202">
                <a:solidFill>
                  <a:srgbClr val="9A9A00"/>
                </a:solidFill>
                <a:latin typeface="Times New Roman"/>
                <a:cs typeface="Times New Roman"/>
              </a:rPr>
              <a:t>(</a:t>
            </a:r>
            <a:r>
              <a:rPr lang="en-CA" sz="3202">
                <a:solidFill>
                  <a:srgbClr val="9A9A00"/>
                </a:solidFill>
                <a:latin typeface="Times New Roman Italic"/>
                <a:cs typeface="Times New Roman Italic"/>
              </a:rPr>
              <a:t>n</a:t>
            </a:r>
            <a:r>
              <a:rPr lang="en-CA" sz="3202">
                <a:solidFill>
                  <a:srgbClr val="9A9A00"/>
                </a:solidFill>
                <a:latin typeface="Times New Roman"/>
                <a:cs typeface="Times New Roman"/>
              </a:rPr>
              <a:t>)=</a:t>
            </a:r>
          </a:p>
          <a:p>
            <a:pPr>
              <a:lnSpc>
                <a:spcPts val="3220"/>
              </a:lnSpc>
            </a:pPr>
            <a:endParaRPr lang="en-CA" sz="3202">
              <a:solidFill>
                <a:srgbClr val="000000"/>
              </a:solidFill>
            </a:endParaRPr>
          </a:p>
        </p:txBody>
      </p:sp>
      <p:sp>
        <p:nvSpPr>
          <p:cNvPr id="14" name="TextBox 14"/>
          <p:cNvSpPr txBox="1"/>
          <p:nvPr/>
        </p:nvSpPr>
        <p:spPr>
          <a:xfrm>
            <a:off x="2425700" y="3873500"/>
            <a:ext cx="419100" cy="939800"/>
          </a:xfrm>
          <a:prstGeom prst="rect">
            <a:avLst/>
          </a:prstGeom>
          <a:noFill/>
        </p:spPr>
        <p:txBody>
          <a:bodyPr vert="horz" wrap="none" lIns="0" tIns="0" rIns="0" bIns="0" rtlCol="0">
            <a:spAutoFit/>
          </a:bodyPr>
          <a:lstStyle/>
          <a:p>
            <a:pPr>
              <a:lnSpc>
                <a:spcPts val="3500"/>
              </a:lnSpc>
            </a:pPr>
            <a:r>
              <a:rPr lang="en-CA" sz="4403">
                <a:solidFill>
                  <a:srgbClr val="9A9A00"/>
                </a:solidFill>
                <a:latin typeface="Times New Roman"/>
                <a:cs typeface="Times New Roman"/>
              </a:rPr>
              <a:t>∑</a:t>
            </a:r>
          </a:p>
          <a:p>
            <a:pPr>
              <a:lnSpc>
                <a:spcPts val="3520"/>
              </a:lnSpc>
            </a:pPr>
            <a:endParaRPr lang="en-CA" sz="4403">
              <a:solidFill>
                <a:srgbClr val="000000"/>
              </a:solidFill>
            </a:endParaRPr>
          </a:p>
        </p:txBody>
      </p:sp>
      <p:sp>
        <p:nvSpPr>
          <p:cNvPr id="15" name="TextBox 15"/>
          <p:cNvSpPr txBox="1"/>
          <p:nvPr/>
        </p:nvSpPr>
        <p:spPr>
          <a:xfrm>
            <a:off x="5143500" y="3797300"/>
            <a:ext cx="3860800" cy="508000"/>
          </a:xfrm>
          <a:prstGeom prst="rect">
            <a:avLst/>
          </a:prstGeom>
          <a:noFill/>
        </p:spPr>
        <p:txBody>
          <a:bodyPr vert="horz" wrap="none" lIns="0" tIns="0" rIns="0" bIns="0" rtlCol="0">
            <a:spAutoFit/>
          </a:bodyPr>
          <a:lstStyle/>
          <a:p>
            <a:pPr>
              <a:lnSpc>
                <a:spcPts val="2400"/>
              </a:lnSpc>
            </a:pPr>
            <a:r>
              <a:rPr lang="en-CA" sz="2401">
                <a:solidFill>
                  <a:srgbClr val="9A9A00"/>
                </a:solidFill>
                <a:latin typeface="Times New Roman"/>
                <a:cs typeface="Times New Roman"/>
              </a:rPr>
              <a:t>2</a:t>
            </a:r>
          </a:p>
          <a:p>
            <a:pPr>
              <a:lnSpc>
                <a:spcPts val="2460"/>
              </a:lnSpc>
            </a:pPr>
            <a:endParaRPr lang="en-CA" sz="2401">
              <a:solidFill>
                <a:srgbClr val="000000"/>
              </a:solidFill>
            </a:endParaRPr>
          </a:p>
        </p:txBody>
      </p:sp>
      <p:sp>
        <p:nvSpPr>
          <p:cNvPr id="16" name="TextBox 16"/>
          <p:cNvSpPr txBox="1"/>
          <p:nvPr/>
        </p:nvSpPr>
        <p:spPr>
          <a:xfrm>
            <a:off x="2870200" y="3873500"/>
            <a:ext cx="6134100" cy="711200"/>
          </a:xfrm>
          <a:prstGeom prst="rect">
            <a:avLst/>
          </a:prstGeom>
          <a:noFill/>
        </p:spPr>
        <p:txBody>
          <a:bodyPr vert="horz" wrap="none" lIns="0" tIns="0" rIns="0" bIns="0" rtlCol="0">
            <a:spAutoFit/>
          </a:bodyPr>
          <a:lstStyle/>
          <a:p>
            <a:pPr>
              <a:lnSpc>
                <a:spcPts val="2700"/>
              </a:lnSpc>
              <a:tabLst>
                <a:tab pos="2476500" algn="l"/>
              </a:tabLst>
            </a:pPr>
            <a:r>
              <a:rPr lang="en-CA" sz="2978" dirty="0">
                <a:solidFill>
                  <a:srgbClr val="9A9A00"/>
                </a:solidFill>
                <a:latin typeface="Times New Roman"/>
                <a:cs typeface="Times New Roman"/>
              </a:rPr>
              <a:t>Θ(</a:t>
            </a:r>
            <a:r>
              <a:rPr lang="en-CA" sz="2978" dirty="0">
                <a:solidFill>
                  <a:srgbClr val="9A9A00"/>
                </a:solidFill>
                <a:latin typeface="Times New Roman Italic"/>
                <a:cs typeface="Times New Roman Italic"/>
              </a:rPr>
              <a:t>j </a:t>
            </a:r>
            <a:r>
              <a:rPr lang="en-CA" sz="2978" dirty="0">
                <a:solidFill>
                  <a:srgbClr val="9A9A00"/>
                </a:solidFill>
                <a:latin typeface="Times New Roman"/>
                <a:cs typeface="Times New Roman"/>
              </a:rPr>
              <a:t>/ 2)=Θ</a:t>
            </a:r>
            <a:r>
              <a:rPr lang="en-CA" sz="3675" dirty="0">
                <a:solidFill>
                  <a:srgbClr val="9A9A00"/>
                </a:solidFill>
                <a:latin typeface="Times New Roman"/>
                <a:cs typeface="Times New Roman"/>
              </a:rPr>
              <a:t>(</a:t>
            </a:r>
            <a:r>
              <a:rPr lang="en-CA" sz="3202" dirty="0">
                <a:solidFill>
                  <a:srgbClr val="9A9A00"/>
                </a:solidFill>
                <a:latin typeface="Times New Roman Italic"/>
                <a:cs typeface="Times New Roman Italic"/>
              </a:rPr>
              <a:t>n</a:t>
            </a:r>
            <a:r>
              <a:rPr lang="en-CA" sz="3675" dirty="0">
                <a:solidFill>
                  <a:srgbClr val="9A9A00"/>
                </a:solidFill>
                <a:latin typeface="Times New Roman"/>
                <a:cs typeface="Times New Roman"/>
              </a:rPr>
              <a:t>	)</a:t>
            </a:r>
          </a:p>
          <a:p>
            <a:pPr>
              <a:lnSpc>
                <a:spcPts val="2680"/>
              </a:lnSpc>
            </a:pPr>
            <a:endParaRPr lang="en-CA" sz="3675" dirty="0">
              <a:solidFill>
                <a:srgbClr val="000000"/>
              </a:solidFill>
            </a:endParaRPr>
          </a:p>
        </p:txBody>
      </p:sp>
      <p:sp>
        <p:nvSpPr>
          <p:cNvPr id="17" name="TextBox 17"/>
          <p:cNvSpPr txBox="1"/>
          <p:nvPr/>
        </p:nvSpPr>
        <p:spPr>
          <a:xfrm>
            <a:off x="2438400" y="4292600"/>
            <a:ext cx="647700" cy="431800"/>
          </a:xfrm>
          <a:prstGeom prst="rect">
            <a:avLst/>
          </a:prstGeom>
          <a:noFill/>
        </p:spPr>
        <p:txBody>
          <a:bodyPr vert="horz" wrap="none" lIns="0" tIns="0" rIns="0" bIns="0" rtlCol="0">
            <a:spAutoFit/>
          </a:bodyPr>
          <a:lstStyle/>
          <a:p>
            <a:pPr>
              <a:lnSpc>
                <a:spcPts val="2160"/>
              </a:lnSpc>
            </a:pPr>
            <a:r>
              <a:rPr lang="en-CA" sz="2401">
                <a:solidFill>
                  <a:srgbClr val="9A9A00"/>
                </a:solidFill>
                <a:latin typeface="Times New Roman Italic"/>
                <a:cs typeface="Times New Roman Italic"/>
              </a:rPr>
              <a:t>j</a:t>
            </a:r>
            <a:r>
              <a:rPr lang="en-CA" sz="2401">
                <a:solidFill>
                  <a:srgbClr val="9A9A00"/>
                </a:solidFill>
                <a:latin typeface="Times New Roman"/>
                <a:cs typeface="Times New Roman"/>
              </a:rPr>
              <a:t>=2</a:t>
            </a:r>
          </a:p>
          <a:p>
            <a:pPr>
              <a:lnSpc>
                <a:spcPts val="2160"/>
              </a:lnSpc>
            </a:pPr>
            <a:endParaRPr/>
          </a:p>
        </p:txBody>
      </p:sp>
      <p:sp>
        <p:nvSpPr>
          <p:cNvPr id="18" name="TextBox 18"/>
          <p:cNvSpPr txBox="1"/>
          <p:nvPr/>
        </p:nvSpPr>
        <p:spPr>
          <a:xfrm>
            <a:off x="749300" y="4787900"/>
            <a:ext cx="8369300" cy="609600"/>
          </a:xfrm>
          <a:prstGeom prst="rect">
            <a:avLst/>
          </a:prstGeom>
          <a:noFill/>
        </p:spPr>
        <p:txBody>
          <a:bodyPr vert="horz" wrap="none" lIns="0" tIns="0" rIns="0" bIns="0" rtlCol="0">
            <a:spAutoFit/>
          </a:bodyPr>
          <a:lstStyle/>
          <a:p>
            <a:pPr>
              <a:lnSpc>
                <a:spcPts val="3350"/>
              </a:lnSpc>
            </a:pPr>
            <a:r>
              <a:rPr lang="en-CA" sz="3201">
                <a:solidFill>
                  <a:srgbClr val="000000"/>
                </a:solidFill>
                <a:latin typeface="Times New Roman Italic"/>
                <a:cs typeface="Times New Roman Italic"/>
              </a:rPr>
              <a:t>Is insertion sort a fast sorting algorithm?</a:t>
            </a:r>
          </a:p>
          <a:p>
            <a:pPr>
              <a:lnSpc>
                <a:spcPts val="3350"/>
              </a:lnSpc>
            </a:pPr>
            <a:endParaRPr lang="en-CA" sz="3201">
              <a:solidFill>
                <a:srgbClr val="000000"/>
              </a:solidFill>
            </a:endParaRPr>
          </a:p>
        </p:txBody>
      </p:sp>
      <p:sp>
        <p:nvSpPr>
          <p:cNvPr id="19" name="TextBox 19"/>
          <p:cNvSpPr txBox="1"/>
          <p:nvPr/>
        </p:nvSpPr>
        <p:spPr>
          <a:xfrm>
            <a:off x="749300" y="5245100"/>
            <a:ext cx="83693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Moderately so, for small </a:t>
            </a:r>
            <a:r>
              <a:rPr lang="en-CA" sz="3201">
                <a:solidFill>
                  <a:srgbClr val="9A9A00"/>
                </a:solidFill>
                <a:latin typeface="Times New Roman Italic"/>
                <a:cs typeface="Times New Roman Italic"/>
              </a:rPr>
              <a:t>n</a:t>
            </a:r>
            <a:r>
              <a:rPr lang="en-CA" sz="3201">
                <a:solidFill>
                  <a:srgbClr val="000000"/>
                </a:solidFill>
                <a:latin typeface="Times New Roman"/>
                <a:cs typeface="Times New Roman"/>
              </a:rPr>
              <a:t>.</a:t>
            </a:r>
          </a:p>
          <a:p>
            <a:pPr>
              <a:lnSpc>
                <a:spcPts val="3680"/>
              </a:lnSpc>
            </a:pPr>
            <a:endParaRPr lang="en-CA" sz="3201">
              <a:solidFill>
                <a:srgbClr val="000000"/>
              </a:solidFill>
            </a:endParaRPr>
          </a:p>
        </p:txBody>
      </p:sp>
      <p:sp>
        <p:nvSpPr>
          <p:cNvPr id="20" name="TextBox 20"/>
          <p:cNvSpPr txBox="1"/>
          <p:nvPr/>
        </p:nvSpPr>
        <p:spPr>
          <a:xfrm>
            <a:off x="749300" y="5727700"/>
            <a:ext cx="83693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Not at all, for large </a:t>
            </a:r>
            <a:r>
              <a:rPr lang="en-CA" sz="3201">
                <a:solidFill>
                  <a:srgbClr val="9A9A00"/>
                </a:solidFill>
                <a:latin typeface="Times New Roman Italic"/>
                <a:cs typeface="Times New Roman Italic"/>
              </a:rPr>
              <a:t>n</a:t>
            </a:r>
            <a:r>
              <a:rPr lang="en-CA" sz="3201">
                <a:solidFill>
                  <a:srgbClr val="000000"/>
                </a:solidFill>
                <a:latin typeface="Times New Roman"/>
                <a:cs typeface="Times New Roman"/>
              </a:rPr>
              <a:t>.</a:t>
            </a:r>
          </a:p>
          <a:p>
            <a:pPr>
              <a:lnSpc>
                <a:spcPts val="3680"/>
              </a:lnSpc>
            </a:pPr>
            <a:endParaRPr lang="en-CA" sz="3201">
              <a:solidFill>
                <a:srgbClr val="000000"/>
              </a:solidFill>
            </a:endParaRPr>
          </a:p>
        </p:txBody>
      </p:sp>
      <p:sp>
        <p:nvSpPr>
          <p:cNvPr id="21" name="TextBox 21"/>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22" name="TextBox 22"/>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23" name="TextBox 23"/>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24" name="TextBox 24"/>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L1.24</a:t>
            </a:r>
          </a:p>
          <a:p>
            <a:pPr>
              <a:lnSpc>
                <a:spcPts val="1610"/>
              </a:lnSpc>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12724"/>
            <a:ext cx="9118600" cy="6832600"/>
          </a:xfrm>
          <a:prstGeom prst="rect">
            <a:avLst/>
          </a:prstGeom>
        </p:spPr>
      </p:pic>
      <p:sp>
        <p:nvSpPr>
          <p:cNvPr id="12" name="TextBox 2"/>
          <p:cNvSpPr txBox="1"/>
          <p:nvPr/>
        </p:nvSpPr>
        <p:spPr>
          <a:xfrm>
            <a:off x="1524000" y="533400"/>
            <a:ext cx="4578176" cy="1308050"/>
          </a:xfrm>
          <a:prstGeom prst="rect">
            <a:avLst/>
          </a:prstGeom>
          <a:noFill/>
        </p:spPr>
        <p:txBody>
          <a:bodyPr vert="horz" wrap="none" lIns="0" tIns="0" rIns="0" bIns="0" rtlCol="0">
            <a:spAutoFit/>
          </a:bodyPr>
          <a:lstStyle/>
          <a:p>
            <a:pPr>
              <a:lnSpc>
                <a:spcPts val="5060"/>
              </a:lnSpc>
            </a:pPr>
            <a:r>
              <a:rPr lang="en-CA" sz="5400" b="1" u="sng" dirty="0">
                <a:solidFill>
                  <a:srgbClr val="FF0000"/>
                </a:solidFill>
                <a:latin typeface="Times New Roman Bold"/>
                <a:cs typeface="Times New Roman Bold"/>
              </a:rPr>
              <a:t>Recursion first </a:t>
            </a:r>
          </a:p>
          <a:p>
            <a:pPr>
              <a:lnSpc>
                <a:spcPts val="5060"/>
              </a:lnSpc>
            </a:pPr>
            <a:r>
              <a:rPr lang="en-CA" sz="4412" b="1" dirty="0">
                <a:solidFill>
                  <a:srgbClr val="000000"/>
                </a:solidFill>
                <a:latin typeface="Times New Roman Bold"/>
                <a:cs typeface="Times New Roman Bold"/>
              </a:rPr>
              <a:t>Merge sort</a:t>
            </a:r>
            <a:endParaRPr lang="en-CA" sz="4402" dirty="0">
              <a:solidFill>
                <a:srgbClr val="000000"/>
              </a:solidFill>
            </a:endParaRPr>
          </a:p>
        </p:txBody>
      </p:sp>
      <p:sp>
        <p:nvSpPr>
          <p:cNvPr id="3" name="TextBox 3"/>
          <p:cNvSpPr txBox="1"/>
          <p:nvPr/>
        </p:nvSpPr>
        <p:spPr>
          <a:xfrm>
            <a:off x="1524000" y="1955800"/>
            <a:ext cx="7594600" cy="609600"/>
          </a:xfrm>
          <a:prstGeom prst="rect">
            <a:avLst/>
          </a:prstGeom>
          <a:noFill/>
        </p:spPr>
        <p:txBody>
          <a:bodyPr vert="horz" wrap="none" lIns="0" tIns="0" rIns="0" bIns="0" rtlCol="0">
            <a:spAutoFit/>
          </a:bodyPr>
          <a:lstStyle/>
          <a:p>
            <a:pPr>
              <a:lnSpc>
                <a:spcPts val="3680"/>
              </a:lnSpc>
            </a:pPr>
            <a:r>
              <a:rPr lang="en-CA" sz="3211" b="1">
                <a:solidFill>
                  <a:srgbClr val="000000"/>
                </a:solidFill>
                <a:latin typeface="Times New Roman Bold"/>
                <a:cs typeface="Times New Roman Bold"/>
              </a:rPr>
              <a:t>M</a:t>
            </a:r>
            <a:r>
              <a:rPr lang="en-CA" sz="2412" b="1">
                <a:solidFill>
                  <a:srgbClr val="000000"/>
                </a:solidFill>
                <a:latin typeface="Times New Roman Bold"/>
                <a:cs typeface="Times New Roman Bold"/>
              </a:rPr>
              <a:t>ERGE</a:t>
            </a:r>
            <a:r>
              <a:rPr lang="en-CA" sz="3211" b="1">
                <a:solidFill>
                  <a:srgbClr val="000000"/>
                </a:solidFill>
                <a:latin typeface="Times New Roman Bold"/>
                <a:cs typeface="Times New Roman Bold"/>
              </a:rPr>
              <a:t>-S</a:t>
            </a:r>
            <a:r>
              <a:rPr lang="en-CA" sz="2412" b="1">
                <a:solidFill>
                  <a:srgbClr val="000000"/>
                </a:solidFill>
                <a:latin typeface="Times New Roman Bold"/>
                <a:cs typeface="Times New Roman Bold"/>
              </a:rPr>
              <a:t>ORT</a:t>
            </a:r>
            <a:r>
              <a:rPr lang="en-CA" sz="3201">
                <a:solidFill>
                  <a:srgbClr val="9A9A00"/>
                </a:solidFill>
                <a:latin typeface="Times New Roman Italic"/>
                <a:cs typeface="Times New Roman Italic"/>
              </a:rPr>
              <a:t> A</a:t>
            </a:r>
            <a:r>
              <a:rPr lang="en-CA" sz="3201">
                <a:solidFill>
                  <a:srgbClr val="9A9A00"/>
                </a:solidFill>
                <a:latin typeface="Times New Roman"/>
                <a:cs typeface="Times New Roman"/>
              </a:rPr>
              <a:t>[1 . . </a:t>
            </a:r>
            <a:r>
              <a:rPr lang="en-CA" sz="3201">
                <a:solidFill>
                  <a:srgbClr val="9A9A00"/>
                </a:solidFill>
                <a:latin typeface="Times New Roman Italic"/>
                <a:cs typeface="Times New Roman Italic"/>
              </a:rPr>
              <a:t>n</a:t>
            </a:r>
            <a:r>
              <a:rPr lang="en-CA" sz="3201">
                <a:solidFill>
                  <a:srgbClr val="9A9A00"/>
                </a:solidFill>
                <a:latin typeface="Times New Roman"/>
                <a:cs typeface="Times New Roman"/>
              </a:rPr>
              <a:t>]</a:t>
            </a:r>
          </a:p>
          <a:p>
            <a:pPr>
              <a:lnSpc>
                <a:spcPts val="3680"/>
              </a:lnSpc>
            </a:pPr>
            <a:endParaRPr lang="en-CA" sz="2934">
              <a:solidFill>
                <a:srgbClr val="000000"/>
              </a:solidFill>
            </a:endParaRPr>
          </a:p>
        </p:txBody>
      </p:sp>
      <p:sp>
        <p:nvSpPr>
          <p:cNvPr id="4" name="TextBox 4"/>
          <p:cNvSpPr txBox="1"/>
          <p:nvPr/>
        </p:nvSpPr>
        <p:spPr>
          <a:xfrm>
            <a:off x="2057400" y="2451100"/>
            <a:ext cx="7061200" cy="609600"/>
          </a:xfrm>
          <a:prstGeom prst="rect">
            <a:avLst/>
          </a:prstGeom>
          <a:noFill/>
        </p:spPr>
        <p:txBody>
          <a:bodyPr vert="horz" wrap="none" lIns="0" tIns="0" rIns="0" bIns="0" rtlCol="0">
            <a:spAutoFit/>
          </a:bodyPr>
          <a:lstStyle/>
          <a:p>
            <a:pPr>
              <a:lnSpc>
                <a:spcPts val="3680"/>
              </a:lnSpc>
            </a:pPr>
            <a:r>
              <a:rPr lang="en-CA" sz="3040">
                <a:solidFill>
                  <a:srgbClr val="CC0000"/>
                </a:solidFill>
                <a:latin typeface="Times New Roman"/>
                <a:cs typeface="Times New Roman"/>
              </a:rPr>
              <a:t>1.</a:t>
            </a:r>
            <a:r>
              <a:rPr lang="en-CA" sz="3040">
                <a:solidFill>
                  <a:srgbClr val="000000"/>
                </a:solidFill>
                <a:latin typeface="Times New Roman"/>
                <a:cs typeface="Times New Roman"/>
              </a:rPr>
              <a:t> If </a:t>
            </a:r>
            <a:r>
              <a:rPr lang="en-CA" sz="3040">
                <a:solidFill>
                  <a:srgbClr val="9A9A00"/>
                </a:solidFill>
                <a:latin typeface="Times New Roman Italic"/>
                <a:cs typeface="Times New Roman Italic"/>
              </a:rPr>
              <a:t>n</a:t>
            </a:r>
            <a:r>
              <a:rPr lang="en-CA" sz="3040">
                <a:solidFill>
                  <a:srgbClr val="9A9A00"/>
                </a:solidFill>
                <a:latin typeface="Times New Roman"/>
                <a:cs typeface="Times New Roman"/>
              </a:rPr>
              <a:t> = 1</a:t>
            </a:r>
            <a:r>
              <a:rPr lang="en-CA" sz="3040">
                <a:solidFill>
                  <a:srgbClr val="000000"/>
                </a:solidFill>
                <a:latin typeface="Times New Roman"/>
                <a:cs typeface="Times New Roman"/>
              </a:rPr>
              <a:t>, done.</a:t>
            </a:r>
          </a:p>
          <a:p>
            <a:pPr>
              <a:lnSpc>
                <a:spcPts val="3680"/>
              </a:lnSpc>
            </a:pPr>
            <a:endParaRPr lang="en-CA" sz="3201">
              <a:solidFill>
                <a:srgbClr val="000000"/>
              </a:solidFill>
            </a:endParaRPr>
          </a:p>
        </p:txBody>
      </p:sp>
      <p:sp>
        <p:nvSpPr>
          <p:cNvPr id="5" name="TextBox 5"/>
          <p:cNvSpPr txBox="1"/>
          <p:nvPr/>
        </p:nvSpPr>
        <p:spPr>
          <a:xfrm>
            <a:off x="2057400" y="3009900"/>
            <a:ext cx="5637762" cy="1231106"/>
          </a:xfrm>
          <a:prstGeom prst="rect">
            <a:avLst/>
          </a:prstGeom>
          <a:noFill/>
        </p:spPr>
        <p:txBody>
          <a:bodyPr vert="horz" wrap="none" lIns="0" tIns="0" rIns="0" bIns="0" rtlCol="0">
            <a:spAutoFit/>
          </a:bodyPr>
          <a:lstStyle/>
          <a:p>
            <a:pPr>
              <a:lnSpc>
                <a:spcPts val="3200"/>
              </a:lnSpc>
              <a:tabLst>
                <a:tab pos="457200" algn="l"/>
              </a:tabLst>
            </a:pPr>
            <a:r>
              <a:rPr lang="en-CA" sz="3040" dirty="0">
                <a:solidFill>
                  <a:srgbClr val="CC0000"/>
                </a:solidFill>
                <a:latin typeface="Times New Roman"/>
                <a:cs typeface="Times New Roman"/>
              </a:rPr>
              <a:t>2.</a:t>
            </a:r>
            <a:r>
              <a:rPr lang="en-CA" sz="3040" dirty="0">
                <a:solidFill>
                  <a:srgbClr val="000000"/>
                </a:solidFill>
                <a:latin typeface="Times New Roman"/>
                <a:cs typeface="Times New Roman"/>
              </a:rPr>
              <a:t> Recursively sort </a:t>
            </a:r>
            <a:r>
              <a:rPr lang="en-CA" sz="3040" dirty="0">
                <a:solidFill>
                  <a:srgbClr val="9A9A00"/>
                </a:solidFill>
                <a:latin typeface="Times New Roman Italic"/>
                <a:cs typeface="Times New Roman Italic"/>
              </a:rPr>
              <a:t>A</a:t>
            </a:r>
            <a:r>
              <a:rPr lang="en-CA" sz="3040" dirty="0">
                <a:solidFill>
                  <a:srgbClr val="9A9A00"/>
                </a:solidFill>
                <a:latin typeface="Times New Roman"/>
                <a:cs typeface="Times New Roman"/>
              </a:rPr>
              <a:t>[ 1 . . </a:t>
            </a:r>
            <a:r>
              <a:rPr lang="en-CA" sz="2282" dirty="0">
                <a:solidFill>
                  <a:srgbClr val="9A9A00"/>
                </a:solidFill>
                <a:latin typeface="Times New Roman"/>
                <a:cs typeface="Times New Roman"/>
              </a:rPr>
              <a:t>⎡</a:t>
            </a:r>
            <a:r>
              <a:rPr lang="en-CA" sz="3040" dirty="0">
                <a:solidFill>
                  <a:srgbClr val="9A9A00"/>
                </a:solidFill>
                <a:latin typeface="Times New Roman Italic"/>
                <a:cs typeface="Times New Roman Italic"/>
              </a:rPr>
              <a:t>n</a:t>
            </a:r>
            <a:r>
              <a:rPr lang="en-CA" sz="3040" dirty="0">
                <a:solidFill>
                  <a:srgbClr val="9A9A00"/>
                </a:solidFill>
                <a:latin typeface="Times New Roman"/>
                <a:cs typeface="Times New Roman"/>
              </a:rPr>
              <a:t>/2</a:t>
            </a:r>
            <a:r>
              <a:rPr lang="en-CA" sz="2282" dirty="0">
                <a:solidFill>
                  <a:srgbClr val="9A9A00"/>
                </a:solidFill>
                <a:latin typeface="Times New Roman"/>
                <a:cs typeface="Times New Roman"/>
              </a:rPr>
              <a:t>⎤</a:t>
            </a:r>
            <a:r>
              <a:rPr lang="en-CA" sz="3040" dirty="0">
                <a:solidFill>
                  <a:srgbClr val="9A9A00"/>
                </a:solidFill>
                <a:latin typeface="Times New Roman"/>
                <a:cs typeface="Times New Roman"/>
              </a:rPr>
              <a:t> ]</a:t>
            </a:r>
            <a:br>
              <a:rPr lang="en-CA" sz="3134" dirty="0">
                <a:solidFill>
                  <a:srgbClr val="000000"/>
                </a:solidFill>
                <a:latin typeface="Times New Roman"/>
              </a:rPr>
            </a:br>
            <a:r>
              <a:rPr lang="en-CA" sz="3040" dirty="0">
                <a:solidFill>
                  <a:srgbClr val="000000"/>
                </a:solidFill>
                <a:latin typeface="Times New Roman"/>
                <a:cs typeface="Times New Roman"/>
              </a:rPr>
              <a:t>	and </a:t>
            </a:r>
            <a:r>
              <a:rPr lang="en-CA" sz="3040" dirty="0">
                <a:solidFill>
                  <a:srgbClr val="9A9A00"/>
                </a:solidFill>
                <a:latin typeface="Times New Roman Italic"/>
                <a:cs typeface="Times New Roman Italic"/>
              </a:rPr>
              <a:t>	A</a:t>
            </a:r>
            <a:r>
              <a:rPr lang="en-CA" sz="3040" dirty="0">
                <a:solidFill>
                  <a:srgbClr val="9A9A00"/>
                </a:solidFill>
                <a:latin typeface="Times New Roman"/>
                <a:cs typeface="Times New Roman"/>
              </a:rPr>
              <a:t>	[ </a:t>
            </a:r>
            <a:r>
              <a:rPr lang="en-CA" sz="2282" dirty="0">
                <a:solidFill>
                  <a:srgbClr val="9A9A00"/>
                </a:solidFill>
                <a:latin typeface="Times New Roman"/>
                <a:cs typeface="Times New Roman"/>
              </a:rPr>
              <a:t>⎡</a:t>
            </a:r>
            <a:r>
              <a:rPr lang="en-CA" sz="3040" dirty="0">
                <a:solidFill>
                  <a:srgbClr val="9A9A00"/>
                </a:solidFill>
                <a:latin typeface="Times New Roman Italic"/>
                <a:cs typeface="Times New Roman Italic"/>
              </a:rPr>
              <a:t>n</a:t>
            </a:r>
            <a:r>
              <a:rPr lang="en-CA" sz="3040" dirty="0">
                <a:solidFill>
                  <a:srgbClr val="9A9A00"/>
                </a:solidFill>
                <a:latin typeface="Times New Roman"/>
                <a:cs typeface="Times New Roman"/>
              </a:rPr>
              <a:t>/2</a:t>
            </a:r>
            <a:r>
              <a:rPr lang="en-CA" sz="2282" dirty="0">
                <a:solidFill>
                  <a:srgbClr val="9A9A00"/>
                </a:solidFill>
                <a:latin typeface="Times New Roman"/>
                <a:cs typeface="Times New Roman"/>
              </a:rPr>
              <a:t>	⎤</a:t>
            </a:r>
            <a:r>
              <a:rPr lang="en-CA" sz="3040" dirty="0">
                <a:solidFill>
                  <a:srgbClr val="9A9A00"/>
                </a:solidFill>
                <a:latin typeface="Times New Roman"/>
                <a:cs typeface="Times New Roman"/>
              </a:rPr>
              <a:t>+1 . .</a:t>
            </a:r>
            <a:r>
              <a:rPr lang="en-CA" sz="3040" dirty="0">
                <a:solidFill>
                  <a:srgbClr val="9A9A00"/>
                </a:solidFill>
                <a:latin typeface="Times New Roman Italic"/>
                <a:cs typeface="Times New Roman Italic"/>
              </a:rPr>
              <a:t>	n </a:t>
            </a:r>
            <a:r>
              <a:rPr lang="en-CA" sz="3040" dirty="0">
                <a:solidFill>
                  <a:srgbClr val="9A9A00"/>
                </a:solidFill>
                <a:latin typeface="Times New Roman"/>
                <a:cs typeface="Times New Roman"/>
              </a:rPr>
              <a:t>] </a:t>
            </a:r>
            <a:r>
              <a:rPr lang="en-CA" sz="3040" dirty="0">
                <a:solidFill>
                  <a:srgbClr val="000000"/>
                </a:solidFill>
                <a:latin typeface="Times New Roman"/>
                <a:cs typeface="Times New Roman"/>
              </a:rPr>
              <a:t>	.</a:t>
            </a:r>
          </a:p>
          <a:p>
            <a:pPr>
              <a:lnSpc>
                <a:spcPts val="3200"/>
              </a:lnSpc>
            </a:pPr>
            <a:endParaRPr lang="en-CA" sz="3134" dirty="0">
              <a:solidFill>
                <a:srgbClr val="000000"/>
              </a:solidFill>
            </a:endParaRPr>
          </a:p>
        </p:txBody>
      </p:sp>
      <p:sp>
        <p:nvSpPr>
          <p:cNvPr id="6" name="TextBox 6"/>
          <p:cNvSpPr txBox="1"/>
          <p:nvPr/>
        </p:nvSpPr>
        <p:spPr>
          <a:xfrm>
            <a:off x="2057400" y="3886200"/>
            <a:ext cx="7061200" cy="609600"/>
          </a:xfrm>
          <a:prstGeom prst="rect">
            <a:avLst/>
          </a:prstGeom>
          <a:noFill/>
        </p:spPr>
        <p:txBody>
          <a:bodyPr vert="horz" wrap="none" lIns="0" tIns="0" rIns="0" bIns="0" rtlCol="0">
            <a:spAutoFit/>
          </a:bodyPr>
          <a:lstStyle/>
          <a:p>
            <a:pPr>
              <a:lnSpc>
                <a:spcPts val="3680"/>
              </a:lnSpc>
            </a:pPr>
            <a:r>
              <a:rPr lang="en-CA" sz="3040" dirty="0">
                <a:solidFill>
                  <a:srgbClr val="CC0000"/>
                </a:solidFill>
                <a:latin typeface="Times New Roman"/>
                <a:cs typeface="Times New Roman"/>
              </a:rPr>
              <a:t>3. “</a:t>
            </a:r>
            <a:r>
              <a:rPr lang="en-CA" sz="3040" dirty="0">
                <a:solidFill>
                  <a:srgbClr val="CC0000"/>
                </a:solidFill>
                <a:latin typeface="Times New Roman Bold Italic"/>
                <a:cs typeface="Times New Roman Bold Italic"/>
              </a:rPr>
              <a:t>Merge</a:t>
            </a:r>
            <a:r>
              <a:rPr lang="en-CA" sz="3040" dirty="0">
                <a:solidFill>
                  <a:srgbClr val="CC0000"/>
                </a:solidFill>
                <a:latin typeface="Times New Roman"/>
                <a:cs typeface="Times New Roman"/>
              </a:rPr>
              <a:t>”</a:t>
            </a:r>
            <a:r>
              <a:rPr lang="en-CA" sz="3040" dirty="0">
                <a:solidFill>
                  <a:srgbClr val="000000"/>
                </a:solidFill>
                <a:latin typeface="Times New Roman"/>
                <a:cs typeface="Times New Roman"/>
              </a:rPr>
              <a:t> the </a:t>
            </a:r>
            <a:r>
              <a:rPr lang="en-CA" sz="3040" dirty="0">
                <a:solidFill>
                  <a:srgbClr val="9A9A00"/>
                </a:solidFill>
                <a:latin typeface="Times New Roman"/>
                <a:cs typeface="Times New Roman"/>
              </a:rPr>
              <a:t>2</a:t>
            </a:r>
            <a:r>
              <a:rPr lang="en-CA" sz="3040" dirty="0">
                <a:solidFill>
                  <a:srgbClr val="000000"/>
                </a:solidFill>
                <a:latin typeface="Times New Roman"/>
                <a:cs typeface="Times New Roman"/>
              </a:rPr>
              <a:t> sorted lists.</a:t>
            </a:r>
          </a:p>
          <a:p>
            <a:pPr>
              <a:lnSpc>
                <a:spcPts val="3680"/>
              </a:lnSpc>
            </a:pPr>
            <a:endParaRPr lang="en-CA" sz="3201" dirty="0">
              <a:solidFill>
                <a:srgbClr val="000000"/>
              </a:solidFill>
            </a:endParaRPr>
          </a:p>
        </p:txBody>
      </p:sp>
      <p:sp>
        <p:nvSpPr>
          <p:cNvPr id="7" name="TextBox 7"/>
          <p:cNvSpPr txBox="1"/>
          <p:nvPr/>
        </p:nvSpPr>
        <p:spPr>
          <a:xfrm>
            <a:off x="2540000" y="4851400"/>
            <a:ext cx="6578600" cy="609600"/>
          </a:xfrm>
          <a:prstGeom prst="rect">
            <a:avLst/>
          </a:prstGeom>
          <a:noFill/>
        </p:spPr>
        <p:txBody>
          <a:bodyPr vert="horz" wrap="none" lIns="0" tIns="0" rIns="0" bIns="0" rtlCol="0">
            <a:spAutoFit/>
          </a:bodyPr>
          <a:lstStyle/>
          <a:p>
            <a:pPr>
              <a:lnSpc>
                <a:spcPts val="3505"/>
              </a:lnSpc>
            </a:pPr>
            <a:r>
              <a:rPr lang="en-CA" sz="3201" dirty="0">
                <a:solidFill>
                  <a:srgbClr val="CC0000"/>
                </a:solidFill>
                <a:latin typeface="Times New Roman Bold Italic"/>
                <a:cs typeface="Times New Roman Bold Italic"/>
              </a:rPr>
              <a:t>Key subroutine:</a:t>
            </a:r>
            <a:r>
              <a:rPr lang="en-CA" sz="3211" b="1" dirty="0">
                <a:solidFill>
                  <a:srgbClr val="000000"/>
                </a:solidFill>
                <a:latin typeface="Times New Roman Bold"/>
                <a:cs typeface="Times New Roman Bold"/>
              </a:rPr>
              <a:t> M</a:t>
            </a:r>
            <a:r>
              <a:rPr lang="en-CA" sz="2412" b="1" dirty="0">
                <a:solidFill>
                  <a:srgbClr val="000000"/>
                </a:solidFill>
                <a:latin typeface="Times New Roman Bold"/>
                <a:cs typeface="Times New Roman Bold"/>
              </a:rPr>
              <a:t>ERGE</a:t>
            </a:r>
          </a:p>
          <a:p>
            <a:pPr>
              <a:lnSpc>
                <a:spcPts val="3505"/>
              </a:lnSpc>
            </a:pPr>
            <a:endParaRPr lang="en-CA" sz="3048" dirty="0">
              <a:solidFill>
                <a:srgbClr val="000000"/>
              </a:solidFill>
            </a:endParaRPr>
          </a:p>
        </p:txBody>
      </p:sp>
      <p:sp>
        <p:nvSpPr>
          <p:cNvPr id="8" name="TextBox 8"/>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9" name="TextBox 9"/>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10" name="TextBox 10"/>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1" name="TextBox 11"/>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L1.25</a:t>
            </a:r>
          </a:p>
          <a:p>
            <a:pPr>
              <a:lnSpc>
                <a:spcPts val="1610"/>
              </a:lnSpc>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5"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6" name="TextBox 6"/>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7" name="TextBox 7"/>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8" name="TextBox 8"/>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9" name="TextBox 9"/>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10" name="TextBox 10"/>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11" name="TextBox 11"/>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12" name="TextBox 12"/>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13" name="TextBox 13"/>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4" name="TextBox 14"/>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L1.26</a:t>
            </a:r>
          </a:p>
          <a:p>
            <a:pPr>
              <a:lnSpc>
                <a:spcPts val="1610"/>
              </a:lnSpc>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6"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6" name="TextBox 6"/>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7" name="TextBox 7"/>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8" name="TextBox 8"/>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9" name="TextBox 9"/>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10" name="TextBox 10"/>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11" name="TextBox 11"/>
          <p:cNvSpPr txBox="1"/>
          <p:nvPr/>
        </p:nvSpPr>
        <p:spPr>
          <a:xfrm>
            <a:off x="7874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12" name="TextBox 12"/>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13" name="TextBox 13"/>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14" name="TextBox 14"/>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5" name="TextBox 15"/>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L1.27</a:t>
            </a:r>
          </a:p>
          <a:p>
            <a:pPr>
              <a:lnSpc>
                <a:spcPts val="1610"/>
              </a:lnSpc>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23"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19304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6" name="TextBox 6"/>
          <p:cNvSpPr txBox="1"/>
          <p:nvPr/>
        </p:nvSpPr>
        <p:spPr>
          <a:xfrm>
            <a:off x="24765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7" name="TextBox 7"/>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8" name="TextBox 8"/>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9" name="TextBox 9"/>
          <p:cNvSpPr txBox="1"/>
          <p:nvPr/>
        </p:nvSpPr>
        <p:spPr>
          <a:xfrm>
            <a:off x="19304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0" name="TextBox 10"/>
          <p:cNvSpPr txBox="1"/>
          <p:nvPr/>
        </p:nvSpPr>
        <p:spPr>
          <a:xfrm>
            <a:off x="24765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1" name="TextBox 11"/>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12" name="TextBox 12"/>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13" name="TextBox 13"/>
          <p:cNvSpPr txBox="1"/>
          <p:nvPr/>
        </p:nvSpPr>
        <p:spPr>
          <a:xfrm>
            <a:off x="20066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14" name="TextBox 14"/>
          <p:cNvSpPr txBox="1"/>
          <p:nvPr/>
        </p:nvSpPr>
        <p:spPr>
          <a:xfrm>
            <a:off x="25527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15" name="TextBox 15"/>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16" name="TextBox 16"/>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17" name="TextBox 17"/>
          <p:cNvSpPr txBox="1"/>
          <p:nvPr/>
        </p:nvSpPr>
        <p:spPr>
          <a:xfrm>
            <a:off x="20066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18" name="TextBox 18"/>
          <p:cNvSpPr txBox="1"/>
          <p:nvPr/>
        </p:nvSpPr>
        <p:spPr>
          <a:xfrm>
            <a:off x="7874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19" name="TextBox 19"/>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20" name="TextBox 20"/>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21" name="TextBox 21"/>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22" name="TextBox 22"/>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L1.28</a:t>
            </a:r>
          </a:p>
          <a:p>
            <a:pPr>
              <a:lnSpc>
                <a:spcPts val="1610"/>
              </a:lnSpc>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24"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19304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6" name="TextBox 6"/>
          <p:cNvSpPr txBox="1"/>
          <p:nvPr/>
        </p:nvSpPr>
        <p:spPr>
          <a:xfrm>
            <a:off x="24765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7" name="TextBox 7"/>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8" name="TextBox 8"/>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9" name="TextBox 9"/>
          <p:cNvSpPr txBox="1"/>
          <p:nvPr/>
        </p:nvSpPr>
        <p:spPr>
          <a:xfrm>
            <a:off x="19304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0" name="TextBox 10"/>
          <p:cNvSpPr txBox="1"/>
          <p:nvPr/>
        </p:nvSpPr>
        <p:spPr>
          <a:xfrm>
            <a:off x="24765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1" name="TextBox 11"/>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12" name="TextBox 12"/>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13" name="TextBox 13"/>
          <p:cNvSpPr txBox="1"/>
          <p:nvPr/>
        </p:nvSpPr>
        <p:spPr>
          <a:xfrm>
            <a:off x="20066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14" name="TextBox 14"/>
          <p:cNvSpPr txBox="1"/>
          <p:nvPr/>
        </p:nvSpPr>
        <p:spPr>
          <a:xfrm>
            <a:off x="25527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15" name="TextBox 15"/>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16" name="TextBox 16"/>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17" name="TextBox 17"/>
          <p:cNvSpPr txBox="1"/>
          <p:nvPr/>
        </p:nvSpPr>
        <p:spPr>
          <a:xfrm>
            <a:off x="20066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18" name="TextBox 18"/>
          <p:cNvSpPr txBox="1"/>
          <p:nvPr/>
        </p:nvSpPr>
        <p:spPr>
          <a:xfrm>
            <a:off x="7874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19" name="TextBox 19"/>
          <p:cNvSpPr txBox="1"/>
          <p:nvPr/>
        </p:nvSpPr>
        <p:spPr>
          <a:xfrm>
            <a:off x="22479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20" name="TextBox 20"/>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21" name="TextBox 21"/>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22" name="TextBox 22"/>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23" name="TextBox 23"/>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L1.29</a:t>
            </a:r>
          </a:p>
          <a:p>
            <a:pPr>
              <a:lnSpc>
                <a:spcPts val="1610"/>
              </a:lnSpc>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30"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19304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6" name="TextBox 6"/>
          <p:cNvSpPr txBox="1"/>
          <p:nvPr/>
        </p:nvSpPr>
        <p:spPr>
          <a:xfrm>
            <a:off x="24765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7" name="TextBox 7"/>
          <p:cNvSpPr txBox="1"/>
          <p:nvPr/>
        </p:nvSpPr>
        <p:spPr>
          <a:xfrm>
            <a:off x="3390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8" name="TextBox 8"/>
          <p:cNvSpPr txBox="1"/>
          <p:nvPr/>
        </p:nvSpPr>
        <p:spPr>
          <a:xfrm>
            <a:off x="3949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9" name="TextBox 9"/>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0" name="TextBox 10"/>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1" name="TextBox 11"/>
          <p:cNvSpPr txBox="1"/>
          <p:nvPr/>
        </p:nvSpPr>
        <p:spPr>
          <a:xfrm>
            <a:off x="19304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2" name="TextBox 12"/>
          <p:cNvSpPr txBox="1"/>
          <p:nvPr/>
        </p:nvSpPr>
        <p:spPr>
          <a:xfrm>
            <a:off x="24765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3" name="TextBox 13"/>
          <p:cNvSpPr txBox="1"/>
          <p:nvPr/>
        </p:nvSpPr>
        <p:spPr>
          <a:xfrm>
            <a:off x="3390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4" name="TextBox 14"/>
          <p:cNvSpPr txBox="1"/>
          <p:nvPr/>
        </p:nvSpPr>
        <p:spPr>
          <a:xfrm>
            <a:off x="3949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5" name="TextBox 15"/>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16" name="TextBox 16"/>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17" name="TextBox 17"/>
          <p:cNvSpPr txBox="1"/>
          <p:nvPr/>
        </p:nvSpPr>
        <p:spPr>
          <a:xfrm>
            <a:off x="20066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18" name="TextBox 18"/>
          <p:cNvSpPr txBox="1"/>
          <p:nvPr/>
        </p:nvSpPr>
        <p:spPr>
          <a:xfrm>
            <a:off x="25527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19" name="TextBox 19"/>
          <p:cNvSpPr txBox="1"/>
          <p:nvPr/>
        </p:nvSpPr>
        <p:spPr>
          <a:xfrm>
            <a:off x="3467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0" name="TextBox 20"/>
          <p:cNvSpPr txBox="1"/>
          <p:nvPr/>
        </p:nvSpPr>
        <p:spPr>
          <a:xfrm>
            <a:off x="40259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1" name="TextBox 21"/>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22" name="TextBox 22"/>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23" name="TextBox 23"/>
          <p:cNvSpPr txBox="1"/>
          <p:nvPr/>
        </p:nvSpPr>
        <p:spPr>
          <a:xfrm>
            <a:off x="20066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24" name="TextBox 24"/>
          <p:cNvSpPr txBox="1"/>
          <p:nvPr/>
        </p:nvSpPr>
        <p:spPr>
          <a:xfrm>
            <a:off x="7874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25" name="TextBox 25"/>
          <p:cNvSpPr txBox="1"/>
          <p:nvPr/>
        </p:nvSpPr>
        <p:spPr>
          <a:xfrm>
            <a:off x="22479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26" name="TextBox 26"/>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27" name="TextBox 27"/>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28" name="TextBox 28"/>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29" name="TextBox 29"/>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L1.30</a:t>
            </a:r>
          </a:p>
          <a:p>
            <a:pPr>
              <a:lnSpc>
                <a:spcPts val="1610"/>
              </a:lnSpc>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31"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19304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6" name="TextBox 6"/>
          <p:cNvSpPr txBox="1"/>
          <p:nvPr/>
        </p:nvSpPr>
        <p:spPr>
          <a:xfrm>
            <a:off x="24765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7" name="TextBox 7"/>
          <p:cNvSpPr txBox="1"/>
          <p:nvPr/>
        </p:nvSpPr>
        <p:spPr>
          <a:xfrm>
            <a:off x="3390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8" name="TextBox 8"/>
          <p:cNvSpPr txBox="1"/>
          <p:nvPr/>
        </p:nvSpPr>
        <p:spPr>
          <a:xfrm>
            <a:off x="3949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9" name="TextBox 9"/>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0" name="TextBox 10"/>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1" name="TextBox 11"/>
          <p:cNvSpPr txBox="1"/>
          <p:nvPr/>
        </p:nvSpPr>
        <p:spPr>
          <a:xfrm>
            <a:off x="19304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2" name="TextBox 12"/>
          <p:cNvSpPr txBox="1"/>
          <p:nvPr/>
        </p:nvSpPr>
        <p:spPr>
          <a:xfrm>
            <a:off x="24765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3" name="TextBox 13"/>
          <p:cNvSpPr txBox="1"/>
          <p:nvPr/>
        </p:nvSpPr>
        <p:spPr>
          <a:xfrm>
            <a:off x="3390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4" name="TextBox 14"/>
          <p:cNvSpPr txBox="1"/>
          <p:nvPr/>
        </p:nvSpPr>
        <p:spPr>
          <a:xfrm>
            <a:off x="3949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5" name="TextBox 15"/>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16" name="TextBox 16"/>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17" name="TextBox 17"/>
          <p:cNvSpPr txBox="1"/>
          <p:nvPr/>
        </p:nvSpPr>
        <p:spPr>
          <a:xfrm>
            <a:off x="20066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18" name="TextBox 18"/>
          <p:cNvSpPr txBox="1"/>
          <p:nvPr/>
        </p:nvSpPr>
        <p:spPr>
          <a:xfrm>
            <a:off x="25527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19" name="TextBox 19"/>
          <p:cNvSpPr txBox="1"/>
          <p:nvPr/>
        </p:nvSpPr>
        <p:spPr>
          <a:xfrm>
            <a:off x="3467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0" name="TextBox 20"/>
          <p:cNvSpPr txBox="1"/>
          <p:nvPr/>
        </p:nvSpPr>
        <p:spPr>
          <a:xfrm>
            <a:off x="40259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1" name="TextBox 21"/>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22" name="TextBox 22"/>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23" name="TextBox 23"/>
          <p:cNvSpPr txBox="1"/>
          <p:nvPr/>
        </p:nvSpPr>
        <p:spPr>
          <a:xfrm>
            <a:off x="20066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24" name="TextBox 24"/>
          <p:cNvSpPr txBox="1"/>
          <p:nvPr/>
        </p:nvSpPr>
        <p:spPr>
          <a:xfrm>
            <a:off x="7874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25" name="TextBox 25"/>
          <p:cNvSpPr txBox="1"/>
          <p:nvPr/>
        </p:nvSpPr>
        <p:spPr>
          <a:xfrm>
            <a:off x="22479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26" name="TextBox 26"/>
          <p:cNvSpPr txBox="1"/>
          <p:nvPr/>
        </p:nvSpPr>
        <p:spPr>
          <a:xfrm>
            <a:off x="37211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7" name="TextBox 27"/>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28" name="TextBox 28"/>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29" name="TextBox 2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30" name="TextBox 3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L1.31</a:t>
            </a:r>
          </a:p>
          <a:p>
            <a:pPr>
              <a:lnSpc>
                <a:spcPts val="1610"/>
              </a:lnSpc>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36"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19304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6" name="TextBox 6"/>
          <p:cNvSpPr txBox="1"/>
          <p:nvPr/>
        </p:nvSpPr>
        <p:spPr>
          <a:xfrm>
            <a:off x="24765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7" name="TextBox 7"/>
          <p:cNvSpPr txBox="1"/>
          <p:nvPr/>
        </p:nvSpPr>
        <p:spPr>
          <a:xfrm>
            <a:off x="3390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8" name="TextBox 8"/>
          <p:cNvSpPr txBox="1"/>
          <p:nvPr/>
        </p:nvSpPr>
        <p:spPr>
          <a:xfrm>
            <a:off x="3949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9" name="TextBox 9"/>
          <p:cNvSpPr txBox="1"/>
          <p:nvPr/>
        </p:nvSpPr>
        <p:spPr>
          <a:xfrm>
            <a:off x="48641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0" name="TextBox 10"/>
          <p:cNvSpPr txBox="1"/>
          <p:nvPr/>
        </p:nvSpPr>
        <p:spPr>
          <a:xfrm>
            <a:off x="54102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1" name="TextBox 11"/>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2" name="TextBox 12"/>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3" name="TextBox 13"/>
          <p:cNvSpPr txBox="1"/>
          <p:nvPr/>
        </p:nvSpPr>
        <p:spPr>
          <a:xfrm>
            <a:off x="19304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4" name="TextBox 14"/>
          <p:cNvSpPr txBox="1"/>
          <p:nvPr/>
        </p:nvSpPr>
        <p:spPr>
          <a:xfrm>
            <a:off x="24765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5" name="TextBox 15"/>
          <p:cNvSpPr txBox="1"/>
          <p:nvPr/>
        </p:nvSpPr>
        <p:spPr>
          <a:xfrm>
            <a:off x="3390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6" name="TextBox 16"/>
          <p:cNvSpPr txBox="1"/>
          <p:nvPr/>
        </p:nvSpPr>
        <p:spPr>
          <a:xfrm>
            <a:off x="3949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7" name="TextBox 17"/>
          <p:cNvSpPr txBox="1"/>
          <p:nvPr/>
        </p:nvSpPr>
        <p:spPr>
          <a:xfrm>
            <a:off x="48641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8" name="TextBox 18"/>
          <p:cNvSpPr txBox="1"/>
          <p:nvPr/>
        </p:nvSpPr>
        <p:spPr>
          <a:xfrm>
            <a:off x="54102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9" name="TextBox 19"/>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0" name="TextBox 20"/>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1" name="TextBox 21"/>
          <p:cNvSpPr txBox="1"/>
          <p:nvPr/>
        </p:nvSpPr>
        <p:spPr>
          <a:xfrm>
            <a:off x="20066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2" name="TextBox 22"/>
          <p:cNvSpPr txBox="1"/>
          <p:nvPr/>
        </p:nvSpPr>
        <p:spPr>
          <a:xfrm>
            <a:off x="25527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3" name="TextBox 23"/>
          <p:cNvSpPr txBox="1"/>
          <p:nvPr/>
        </p:nvSpPr>
        <p:spPr>
          <a:xfrm>
            <a:off x="3467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4" name="TextBox 24"/>
          <p:cNvSpPr txBox="1"/>
          <p:nvPr/>
        </p:nvSpPr>
        <p:spPr>
          <a:xfrm>
            <a:off x="40259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5" name="TextBox 25"/>
          <p:cNvSpPr txBox="1"/>
          <p:nvPr/>
        </p:nvSpPr>
        <p:spPr>
          <a:xfrm>
            <a:off x="54864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6" name="TextBox 26"/>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27" name="TextBox 27"/>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28" name="TextBox 28"/>
          <p:cNvSpPr txBox="1"/>
          <p:nvPr/>
        </p:nvSpPr>
        <p:spPr>
          <a:xfrm>
            <a:off x="20066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29" name="TextBox 29"/>
          <p:cNvSpPr txBox="1"/>
          <p:nvPr/>
        </p:nvSpPr>
        <p:spPr>
          <a:xfrm>
            <a:off x="7874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30" name="TextBox 30"/>
          <p:cNvSpPr txBox="1"/>
          <p:nvPr/>
        </p:nvSpPr>
        <p:spPr>
          <a:xfrm>
            <a:off x="22479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1" name="TextBox 31"/>
          <p:cNvSpPr txBox="1"/>
          <p:nvPr/>
        </p:nvSpPr>
        <p:spPr>
          <a:xfrm>
            <a:off x="37211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32" name="TextBox 32"/>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33" name="TextBox 33"/>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34" name="TextBox 34"/>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35" name="TextBox 35"/>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L1.32</a:t>
            </a:r>
          </a:p>
          <a:p>
            <a:pPr>
              <a:lnSpc>
                <a:spcPts val="1610"/>
              </a:lnSpc>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37"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19304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6" name="TextBox 6"/>
          <p:cNvSpPr txBox="1"/>
          <p:nvPr/>
        </p:nvSpPr>
        <p:spPr>
          <a:xfrm>
            <a:off x="24765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7" name="TextBox 7"/>
          <p:cNvSpPr txBox="1"/>
          <p:nvPr/>
        </p:nvSpPr>
        <p:spPr>
          <a:xfrm>
            <a:off x="3390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8" name="TextBox 8"/>
          <p:cNvSpPr txBox="1"/>
          <p:nvPr/>
        </p:nvSpPr>
        <p:spPr>
          <a:xfrm>
            <a:off x="3949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9" name="TextBox 9"/>
          <p:cNvSpPr txBox="1"/>
          <p:nvPr/>
        </p:nvSpPr>
        <p:spPr>
          <a:xfrm>
            <a:off x="48641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0" name="TextBox 10"/>
          <p:cNvSpPr txBox="1"/>
          <p:nvPr/>
        </p:nvSpPr>
        <p:spPr>
          <a:xfrm>
            <a:off x="54102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1" name="TextBox 11"/>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2" name="TextBox 12"/>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3" name="TextBox 13"/>
          <p:cNvSpPr txBox="1"/>
          <p:nvPr/>
        </p:nvSpPr>
        <p:spPr>
          <a:xfrm>
            <a:off x="19304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4" name="TextBox 14"/>
          <p:cNvSpPr txBox="1"/>
          <p:nvPr/>
        </p:nvSpPr>
        <p:spPr>
          <a:xfrm>
            <a:off x="24765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5" name="TextBox 15"/>
          <p:cNvSpPr txBox="1"/>
          <p:nvPr/>
        </p:nvSpPr>
        <p:spPr>
          <a:xfrm>
            <a:off x="3390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6" name="TextBox 16"/>
          <p:cNvSpPr txBox="1"/>
          <p:nvPr/>
        </p:nvSpPr>
        <p:spPr>
          <a:xfrm>
            <a:off x="3949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7" name="TextBox 17"/>
          <p:cNvSpPr txBox="1"/>
          <p:nvPr/>
        </p:nvSpPr>
        <p:spPr>
          <a:xfrm>
            <a:off x="48641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8" name="TextBox 18"/>
          <p:cNvSpPr txBox="1"/>
          <p:nvPr/>
        </p:nvSpPr>
        <p:spPr>
          <a:xfrm>
            <a:off x="54102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9" name="TextBox 19"/>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0" name="TextBox 20"/>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1" name="TextBox 21"/>
          <p:cNvSpPr txBox="1"/>
          <p:nvPr/>
        </p:nvSpPr>
        <p:spPr>
          <a:xfrm>
            <a:off x="20066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2" name="TextBox 22"/>
          <p:cNvSpPr txBox="1"/>
          <p:nvPr/>
        </p:nvSpPr>
        <p:spPr>
          <a:xfrm>
            <a:off x="25527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3" name="TextBox 23"/>
          <p:cNvSpPr txBox="1"/>
          <p:nvPr/>
        </p:nvSpPr>
        <p:spPr>
          <a:xfrm>
            <a:off x="3467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4" name="TextBox 24"/>
          <p:cNvSpPr txBox="1"/>
          <p:nvPr/>
        </p:nvSpPr>
        <p:spPr>
          <a:xfrm>
            <a:off x="40259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5" name="TextBox 25"/>
          <p:cNvSpPr txBox="1"/>
          <p:nvPr/>
        </p:nvSpPr>
        <p:spPr>
          <a:xfrm>
            <a:off x="54864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6" name="TextBox 26"/>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27" name="TextBox 27"/>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28" name="TextBox 28"/>
          <p:cNvSpPr txBox="1"/>
          <p:nvPr/>
        </p:nvSpPr>
        <p:spPr>
          <a:xfrm>
            <a:off x="20066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29" name="TextBox 29"/>
          <p:cNvSpPr txBox="1"/>
          <p:nvPr/>
        </p:nvSpPr>
        <p:spPr>
          <a:xfrm>
            <a:off x="7874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30" name="TextBox 30"/>
          <p:cNvSpPr txBox="1"/>
          <p:nvPr/>
        </p:nvSpPr>
        <p:spPr>
          <a:xfrm>
            <a:off x="22479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1" name="TextBox 31"/>
          <p:cNvSpPr txBox="1"/>
          <p:nvPr/>
        </p:nvSpPr>
        <p:spPr>
          <a:xfrm>
            <a:off x="37211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32" name="TextBox 32"/>
          <p:cNvSpPr txBox="1"/>
          <p:nvPr/>
        </p:nvSpPr>
        <p:spPr>
          <a:xfrm>
            <a:off x="51816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3" name="TextBox 33"/>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34" name="TextBox 34"/>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35" name="TextBox 35"/>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36" name="TextBox 36"/>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L1.33</a:t>
            </a:r>
          </a:p>
          <a:p>
            <a:pPr>
              <a:lnSpc>
                <a:spcPts val="1610"/>
              </a:lnSpc>
            </a:pP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41"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19304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6" name="TextBox 6"/>
          <p:cNvSpPr txBox="1"/>
          <p:nvPr/>
        </p:nvSpPr>
        <p:spPr>
          <a:xfrm>
            <a:off x="24765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7" name="TextBox 7"/>
          <p:cNvSpPr txBox="1"/>
          <p:nvPr/>
        </p:nvSpPr>
        <p:spPr>
          <a:xfrm>
            <a:off x="3390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8" name="TextBox 8"/>
          <p:cNvSpPr txBox="1"/>
          <p:nvPr/>
        </p:nvSpPr>
        <p:spPr>
          <a:xfrm>
            <a:off x="3949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9" name="TextBox 9"/>
          <p:cNvSpPr txBox="1"/>
          <p:nvPr/>
        </p:nvSpPr>
        <p:spPr>
          <a:xfrm>
            <a:off x="48641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0" name="TextBox 10"/>
          <p:cNvSpPr txBox="1"/>
          <p:nvPr/>
        </p:nvSpPr>
        <p:spPr>
          <a:xfrm>
            <a:off x="54102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1" name="TextBox 11"/>
          <p:cNvSpPr txBox="1"/>
          <p:nvPr/>
        </p:nvSpPr>
        <p:spPr>
          <a:xfrm>
            <a:off x="63246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2" name="TextBox 12"/>
          <p:cNvSpPr txBox="1"/>
          <p:nvPr/>
        </p:nvSpPr>
        <p:spPr>
          <a:xfrm>
            <a:off x="6870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3" name="TextBox 13"/>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4" name="TextBox 14"/>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5" name="TextBox 15"/>
          <p:cNvSpPr txBox="1"/>
          <p:nvPr/>
        </p:nvSpPr>
        <p:spPr>
          <a:xfrm>
            <a:off x="19304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6" name="TextBox 16"/>
          <p:cNvSpPr txBox="1"/>
          <p:nvPr/>
        </p:nvSpPr>
        <p:spPr>
          <a:xfrm>
            <a:off x="24765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7" name="TextBox 17"/>
          <p:cNvSpPr txBox="1"/>
          <p:nvPr/>
        </p:nvSpPr>
        <p:spPr>
          <a:xfrm>
            <a:off x="3390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8" name="TextBox 18"/>
          <p:cNvSpPr txBox="1"/>
          <p:nvPr/>
        </p:nvSpPr>
        <p:spPr>
          <a:xfrm>
            <a:off x="3949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9" name="TextBox 19"/>
          <p:cNvSpPr txBox="1"/>
          <p:nvPr/>
        </p:nvSpPr>
        <p:spPr>
          <a:xfrm>
            <a:off x="48641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0" name="TextBox 20"/>
          <p:cNvSpPr txBox="1"/>
          <p:nvPr/>
        </p:nvSpPr>
        <p:spPr>
          <a:xfrm>
            <a:off x="54102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1" name="TextBox 21"/>
          <p:cNvSpPr txBox="1"/>
          <p:nvPr/>
        </p:nvSpPr>
        <p:spPr>
          <a:xfrm>
            <a:off x="63246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2" name="TextBox 22"/>
          <p:cNvSpPr txBox="1"/>
          <p:nvPr/>
        </p:nvSpPr>
        <p:spPr>
          <a:xfrm>
            <a:off x="6870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3" name="TextBox 23"/>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4" name="TextBox 24"/>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5" name="TextBox 25"/>
          <p:cNvSpPr txBox="1"/>
          <p:nvPr/>
        </p:nvSpPr>
        <p:spPr>
          <a:xfrm>
            <a:off x="20066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6" name="TextBox 26"/>
          <p:cNvSpPr txBox="1"/>
          <p:nvPr/>
        </p:nvSpPr>
        <p:spPr>
          <a:xfrm>
            <a:off x="25527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7" name="TextBox 27"/>
          <p:cNvSpPr txBox="1"/>
          <p:nvPr/>
        </p:nvSpPr>
        <p:spPr>
          <a:xfrm>
            <a:off x="3467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8" name="TextBox 28"/>
          <p:cNvSpPr txBox="1"/>
          <p:nvPr/>
        </p:nvSpPr>
        <p:spPr>
          <a:xfrm>
            <a:off x="40259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9" name="TextBox 29"/>
          <p:cNvSpPr txBox="1"/>
          <p:nvPr/>
        </p:nvSpPr>
        <p:spPr>
          <a:xfrm>
            <a:off x="54864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0" name="TextBox 30"/>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1" name="TextBox 31"/>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32" name="TextBox 32"/>
          <p:cNvSpPr txBox="1"/>
          <p:nvPr/>
        </p:nvSpPr>
        <p:spPr>
          <a:xfrm>
            <a:off x="20066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3" name="TextBox 33"/>
          <p:cNvSpPr txBox="1"/>
          <p:nvPr/>
        </p:nvSpPr>
        <p:spPr>
          <a:xfrm>
            <a:off x="7874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34" name="TextBox 34"/>
          <p:cNvSpPr txBox="1"/>
          <p:nvPr/>
        </p:nvSpPr>
        <p:spPr>
          <a:xfrm>
            <a:off x="22479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5" name="TextBox 35"/>
          <p:cNvSpPr txBox="1"/>
          <p:nvPr/>
        </p:nvSpPr>
        <p:spPr>
          <a:xfrm>
            <a:off x="37211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36" name="TextBox 36"/>
          <p:cNvSpPr txBox="1"/>
          <p:nvPr/>
        </p:nvSpPr>
        <p:spPr>
          <a:xfrm>
            <a:off x="51816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7" name="TextBox 37"/>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38" name="TextBox 38"/>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39" name="TextBox 3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40" name="TextBox 4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L1.34</a:t>
            </a:r>
          </a:p>
          <a:p>
            <a:pPr>
              <a:lnSpc>
                <a:spcPts val="1610"/>
              </a:lnSpc>
            </a:pP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42"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19304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6" name="TextBox 6"/>
          <p:cNvSpPr txBox="1"/>
          <p:nvPr/>
        </p:nvSpPr>
        <p:spPr>
          <a:xfrm>
            <a:off x="24765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7" name="TextBox 7"/>
          <p:cNvSpPr txBox="1"/>
          <p:nvPr/>
        </p:nvSpPr>
        <p:spPr>
          <a:xfrm>
            <a:off x="3390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8" name="TextBox 8"/>
          <p:cNvSpPr txBox="1"/>
          <p:nvPr/>
        </p:nvSpPr>
        <p:spPr>
          <a:xfrm>
            <a:off x="3949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9" name="TextBox 9"/>
          <p:cNvSpPr txBox="1"/>
          <p:nvPr/>
        </p:nvSpPr>
        <p:spPr>
          <a:xfrm>
            <a:off x="48641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0" name="TextBox 10"/>
          <p:cNvSpPr txBox="1"/>
          <p:nvPr/>
        </p:nvSpPr>
        <p:spPr>
          <a:xfrm>
            <a:off x="54102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1" name="TextBox 11"/>
          <p:cNvSpPr txBox="1"/>
          <p:nvPr/>
        </p:nvSpPr>
        <p:spPr>
          <a:xfrm>
            <a:off x="63246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2" name="TextBox 12"/>
          <p:cNvSpPr txBox="1"/>
          <p:nvPr/>
        </p:nvSpPr>
        <p:spPr>
          <a:xfrm>
            <a:off x="6870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3" name="TextBox 13"/>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4" name="TextBox 14"/>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5" name="TextBox 15"/>
          <p:cNvSpPr txBox="1"/>
          <p:nvPr/>
        </p:nvSpPr>
        <p:spPr>
          <a:xfrm>
            <a:off x="19304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6" name="TextBox 16"/>
          <p:cNvSpPr txBox="1"/>
          <p:nvPr/>
        </p:nvSpPr>
        <p:spPr>
          <a:xfrm>
            <a:off x="24765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7" name="TextBox 17"/>
          <p:cNvSpPr txBox="1"/>
          <p:nvPr/>
        </p:nvSpPr>
        <p:spPr>
          <a:xfrm>
            <a:off x="3390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8" name="TextBox 18"/>
          <p:cNvSpPr txBox="1"/>
          <p:nvPr/>
        </p:nvSpPr>
        <p:spPr>
          <a:xfrm>
            <a:off x="3949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9" name="TextBox 19"/>
          <p:cNvSpPr txBox="1"/>
          <p:nvPr/>
        </p:nvSpPr>
        <p:spPr>
          <a:xfrm>
            <a:off x="48641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0" name="TextBox 20"/>
          <p:cNvSpPr txBox="1"/>
          <p:nvPr/>
        </p:nvSpPr>
        <p:spPr>
          <a:xfrm>
            <a:off x="54102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1" name="TextBox 21"/>
          <p:cNvSpPr txBox="1"/>
          <p:nvPr/>
        </p:nvSpPr>
        <p:spPr>
          <a:xfrm>
            <a:off x="63246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2" name="TextBox 22"/>
          <p:cNvSpPr txBox="1"/>
          <p:nvPr/>
        </p:nvSpPr>
        <p:spPr>
          <a:xfrm>
            <a:off x="6870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3" name="TextBox 23"/>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4" name="TextBox 24"/>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5" name="TextBox 25"/>
          <p:cNvSpPr txBox="1"/>
          <p:nvPr/>
        </p:nvSpPr>
        <p:spPr>
          <a:xfrm>
            <a:off x="20066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6" name="TextBox 26"/>
          <p:cNvSpPr txBox="1"/>
          <p:nvPr/>
        </p:nvSpPr>
        <p:spPr>
          <a:xfrm>
            <a:off x="25527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7" name="TextBox 27"/>
          <p:cNvSpPr txBox="1"/>
          <p:nvPr/>
        </p:nvSpPr>
        <p:spPr>
          <a:xfrm>
            <a:off x="3467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8" name="TextBox 28"/>
          <p:cNvSpPr txBox="1"/>
          <p:nvPr/>
        </p:nvSpPr>
        <p:spPr>
          <a:xfrm>
            <a:off x="40259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9" name="TextBox 29"/>
          <p:cNvSpPr txBox="1"/>
          <p:nvPr/>
        </p:nvSpPr>
        <p:spPr>
          <a:xfrm>
            <a:off x="54864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0" name="TextBox 30"/>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1" name="TextBox 31"/>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32" name="TextBox 32"/>
          <p:cNvSpPr txBox="1"/>
          <p:nvPr/>
        </p:nvSpPr>
        <p:spPr>
          <a:xfrm>
            <a:off x="20066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3" name="TextBox 33"/>
          <p:cNvSpPr txBox="1"/>
          <p:nvPr/>
        </p:nvSpPr>
        <p:spPr>
          <a:xfrm>
            <a:off x="7874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34" name="TextBox 34"/>
          <p:cNvSpPr txBox="1"/>
          <p:nvPr/>
        </p:nvSpPr>
        <p:spPr>
          <a:xfrm>
            <a:off x="22479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5" name="TextBox 35"/>
          <p:cNvSpPr txBox="1"/>
          <p:nvPr/>
        </p:nvSpPr>
        <p:spPr>
          <a:xfrm>
            <a:off x="37211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36" name="TextBox 36"/>
          <p:cNvSpPr txBox="1"/>
          <p:nvPr/>
        </p:nvSpPr>
        <p:spPr>
          <a:xfrm>
            <a:off x="51816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7" name="TextBox 37"/>
          <p:cNvSpPr txBox="1"/>
          <p:nvPr/>
        </p:nvSpPr>
        <p:spPr>
          <a:xfrm>
            <a:off x="6642100" y="43561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38" name="TextBox 38"/>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39" name="TextBox 39"/>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40" name="TextBox 40"/>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41" name="TextBox 41"/>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L1.35</a:t>
            </a:r>
          </a:p>
          <a:p>
            <a:pPr>
              <a:lnSpc>
                <a:spcPts val="1610"/>
              </a:lnSpc>
            </a:pP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45"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19304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6" name="TextBox 6"/>
          <p:cNvSpPr txBox="1"/>
          <p:nvPr/>
        </p:nvSpPr>
        <p:spPr>
          <a:xfrm>
            <a:off x="24765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7" name="TextBox 7"/>
          <p:cNvSpPr txBox="1"/>
          <p:nvPr/>
        </p:nvSpPr>
        <p:spPr>
          <a:xfrm>
            <a:off x="3390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8" name="TextBox 8"/>
          <p:cNvSpPr txBox="1"/>
          <p:nvPr/>
        </p:nvSpPr>
        <p:spPr>
          <a:xfrm>
            <a:off x="3949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9" name="TextBox 9"/>
          <p:cNvSpPr txBox="1"/>
          <p:nvPr/>
        </p:nvSpPr>
        <p:spPr>
          <a:xfrm>
            <a:off x="48641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0" name="TextBox 10"/>
          <p:cNvSpPr txBox="1"/>
          <p:nvPr/>
        </p:nvSpPr>
        <p:spPr>
          <a:xfrm>
            <a:off x="54102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1" name="TextBox 11"/>
          <p:cNvSpPr txBox="1"/>
          <p:nvPr/>
        </p:nvSpPr>
        <p:spPr>
          <a:xfrm>
            <a:off x="63246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2" name="TextBox 12"/>
          <p:cNvSpPr txBox="1"/>
          <p:nvPr/>
        </p:nvSpPr>
        <p:spPr>
          <a:xfrm>
            <a:off x="6870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3" name="TextBox 13"/>
          <p:cNvSpPr txBox="1"/>
          <p:nvPr/>
        </p:nvSpPr>
        <p:spPr>
          <a:xfrm>
            <a:off x="77851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4" name="TextBox 14"/>
          <p:cNvSpPr txBox="1"/>
          <p:nvPr/>
        </p:nvSpPr>
        <p:spPr>
          <a:xfrm>
            <a:off x="83312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5" name="TextBox 15"/>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6" name="TextBox 16"/>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7" name="TextBox 17"/>
          <p:cNvSpPr txBox="1"/>
          <p:nvPr/>
        </p:nvSpPr>
        <p:spPr>
          <a:xfrm>
            <a:off x="19304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8" name="TextBox 18"/>
          <p:cNvSpPr txBox="1"/>
          <p:nvPr/>
        </p:nvSpPr>
        <p:spPr>
          <a:xfrm>
            <a:off x="24765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9" name="TextBox 19"/>
          <p:cNvSpPr txBox="1"/>
          <p:nvPr/>
        </p:nvSpPr>
        <p:spPr>
          <a:xfrm>
            <a:off x="3390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0" name="TextBox 20"/>
          <p:cNvSpPr txBox="1"/>
          <p:nvPr/>
        </p:nvSpPr>
        <p:spPr>
          <a:xfrm>
            <a:off x="3949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1" name="TextBox 21"/>
          <p:cNvSpPr txBox="1"/>
          <p:nvPr/>
        </p:nvSpPr>
        <p:spPr>
          <a:xfrm>
            <a:off x="48641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2" name="TextBox 22"/>
          <p:cNvSpPr txBox="1"/>
          <p:nvPr/>
        </p:nvSpPr>
        <p:spPr>
          <a:xfrm>
            <a:off x="54102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3" name="TextBox 23"/>
          <p:cNvSpPr txBox="1"/>
          <p:nvPr/>
        </p:nvSpPr>
        <p:spPr>
          <a:xfrm>
            <a:off x="63246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4" name="TextBox 24"/>
          <p:cNvSpPr txBox="1"/>
          <p:nvPr/>
        </p:nvSpPr>
        <p:spPr>
          <a:xfrm>
            <a:off x="6870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5" name="TextBox 25"/>
          <p:cNvSpPr txBox="1"/>
          <p:nvPr/>
        </p:nvSpPr>
        <p:spPr>
          <a:xfrm>
            <a:off x="77851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6" name="TextBox 26"/>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7" name="TextBox 27"/>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8" name="TextBox 28"/>
          <p:cNvSpPr txBox="1"/>
          <p:nvPr/>
        </p:nvSpPr>
        <p:spPr>
          <a:xfrm>
            <a:off x="20066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9" name="TextBox 29"/>
          <p:cNvSpPr txBox="1"/>
          <p:nvPr/>
        </p:nvSpPr>
        <p:spPr>
          <a:xfrm>
            <a:off x="25527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0" name="TextBox 30"/>
          <p:cNvSpPr txBox="1"/>
          <p:nvPr/>
        </p:nvSpPr>
        <p:spPr>
          <a:xfrm>
            <a:off x="3467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31" name="TextBox 31"/>
          <p:cNvSpPr txBox="1"/>
          <p:nvPr/>
        </p:nvSpPr>
        <p:spPr>
          <a:xfrm>
            <a:off x="40259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2" name="TextBox 32"/>
          <p:cNvSpPr txBox="1"/>
          <p:nvPr/>
        </p:nvSpPr>
        <p:spPr>
          <a:xfrm>
            <a:off x="54864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3" name="TextBox 33"/>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4" name="TextBox 34"/>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35" name="TextBox 35"/>
          <p:cNvSpPr txBox="1"/>
          <p:nvPr/>
        </p:nvSpPr>
        <p:spPr>
          <a:xfrm>
            <a:off x="20066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6" name="TextBox 36"/>
          <p:cNvSpPr txBox="1"/>
          <p:nvPr/>
        </p:nvSpPr>
        <p:spPr>
          <a:xfrm>
            <a:off x="7874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37" name="TextBox 37"/>
          <p:cNvSpPr txBox="1"/>
          <p:nvPr/>
        </p:nvSpPr>
        <p:spPr>
          <a:xfrm>
            <a:off x="22479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8" name="TextBox 38"/>
          <p:cNvSpPr txBox="1"/>
          <p:nvPr/>
        </p:nvSpPr>
        <p:spPr>
          <a:xfrm>
            <a:off x="37211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39" name="TextBox 39"/>
          <p:cNvSpPr txBox="1"/>
          <p:nvPr/>
        </p:nvSpPr>
        <p:spPr>
          <a:xfrm>
            <a:off x="51816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40" name="TextBox 40"/>
          <p:cNvSpPr txBox="1"/>
          <p:nvPr/>
        </p:nvSpPr>
        <p:spPr>
          <a:xfrm>
            <a:off x="6642100" y="43561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41" name="TextBox 41"/>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42" name="TextBox 42"/>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43" name="TextBox 43"/>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44" name="TextBox 44"/>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L1.36</a:t>
            </a:r>
          </a:p>
          <a:p>
            <a:pPr>
              <a:lnSpc>
                <a:spcPts val="1610"/>
              </a:lnSpc>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46"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19304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6" name="TextBox 6"/>
          <p:cNvSpPr txBox="1"/>
          <p:nvPr/>
        </p:nvSpPr>
        <p:spPr>
          <a:xfrm>
            <a:off x="24765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7" name="TextBox 7"/>
          <p:cNvSpPr txBox="1"/>
          <p:nvPr/>
        </p:nvSpPr>
        <p:spPr>
          <a:xfrm>
            <a:off x="3390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8" name="TextBox 8"/>
          <p:cNvSpPr txBox="1"/>
          <p:nvPr/>
        </p:nvSpPr>
        <p:spPr>
          <a:xfrm>
            <a:off x="3949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9" name="TextBox 9"/>
          <p:cNvSpPr txBox="1"/>
          <p:nvPr/>
        </p:nvSpPr>
        <p:spPr>
          <a:xfrm>
            <a:off x="48641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0" name="TextBox 10"/>
          <p:cNvSpPr txBox="1"/>
          <p:nvPr/>
        </p:nvSpPr>
        <p:spPr>
          <a:xfrm>
            <a:off x="54102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1" name="TextBox 11"/>
          <p:cNvSpPr txBox="1"/>
          <p:nvPr/>
        </p:nvSpPr>
        <p:spPr>
          <a:xfrm>
            <a:off x="63246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2" name="TextBox 12"/>
          <p:cNvSpPr txBox="1"/>
          <p:nvPr/>
        </p:nvSpPr>
        <p:spPr>
          <a:xfrm>
            <a:off x="6870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3" name="TextBox 13"/>
          <p:cNvSpPr txBox="1"/>
          <p:nvPr/>
        </p:nvSpPr>
        <p:spPr>
          <a:xfrm>
            <a:off x="77851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4" name="TextBox 14"/>
          <p:cNvSpPr txBox="1"/>
          <p:nvPr/>
        </p:nvSpPr>
        <p:spPr>
          <a:xfrm>
            <a:off x="83312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5" name="TextBox 15"/>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6" name="TextBox 16"/>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7" name="TextBox 17"/>
          <p:cNvSpPr txBox="1"/>
          <p:nvPr/>
        </p:nvSpPr>
        <p:spPr>
          <a:xfrm>
            <a:off x="19304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8" name="TextBox 18"/>
          <p:cNvSpPr txBox="1"/>
          <p:nvPr/>
        </p:nvSpPr>
        <p:spPr>
          <a:xfrm>
            <a:off x="24765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9" name="TextBox 19"/>
          <p:cNvSpPr txBox="1"/>
          <p:nvPr/>
        </p:nvSpPr>
        <p:spPr>
          <a:xfrm>
            <a:off x="3390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0" name="TextBox 20"/>
          <p:cNvSpPr txBox="1"/>
          <p:nvPr/>
        </p:nvSpPr>
        <p:spPr>
          <a:xfrm>
            <a:off x="3949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1" name="TextBox 21"/>
          <p:cNvSpPr txBox="1"/>
          <p:nvPr/>
        </p:nvSpPr>
        <p:spPr>
          <a:xfrm>
            <a:off x="48641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2" name="TextBox 22"/>
          <p:cNvSpPr txBox="1"/>
          <p:nvPr/>
        </p:nvSpPr>
        <p:spPr>
          <a:xfrm>
            <a:off x="54102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3" name="TextBox 23"/>
          <p:cNvSpPr txBox="1"/>
          <p:nvPr/>
        </p:nvSpPr>
        <p:spPr>
          <a:xfrm>
            <a:off x="63246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4" name="TextBox 24"/>
          <p:cNvSpPr txBox="1"/>
          <p:nvPr/>
        </p:nvSpPr>
        <p:spPr>
          <a:xfrm>
            <a:off x="6870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5" name="TextBox 25"/>
          <p:cNvSpPr txBox="1"/>
          <p:nvPr/>
        </p:nvSpPr>
        <p:spPr>
          <a:xfrm>
            <a:off x="77851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6" name="TextBox 26"/>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7" name="TextBox 27"/>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8" name="TextBox 28"/>
          <p:cNvSpPr txBox="1"/>
          <p:nvPr/>
        </p:nvSpPr>
        <p:spPr>
          <a:xfrm>
            <a:off x="20066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9" name="TextBox 29"/>
          <p:cNvSpPr txBox="1"/>
          <p:nvPr/>
        </p:nvSpPr>
        <p:spPr>
          <a:xfrm>
            <a:off x="25527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0" name="TextBox 30"/>
          <p:cNvSpPr txBox="1"/>
          <p:nvPr/>
        </p:nvSpPr>
        <p:spPr>
          <a:xfrm>
            <a:off x="3467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31" name="TextBox 31"/>
          <p:cNvSpPr txBox="1"/>
          <p:nvPr/>
        </p:nvSpPr>
        <p:spPr>
          <a:xfrm>
            <a:off x="40259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2" name="TextBox 32"/>
          <p:cNvSpPr txBox="1"/>
          <p:nvPr/>
        </p:nvSpPr>
        <p:spPr>
          <a:xfrm>
            <a:off x="54864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3" name="TextBox 33"/>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4" name="TextBox 34"/>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35" name="TextBox 35"/>
          <p:cNvSpPr txBox="1"/>
          <p:nvPr/>
        </p:nvSpPr>
        <p:spPr>
          <a:xfrm>
            <a:off x="20066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6" name="TextBox 36"/>
          <p:cNvSpPr txBox="1"/>
          <p:nvPr/>
        </p:nvSpPr>
        <p:spPr>
          <a:xfrm>
            <a:off x="7874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37" name="TextBox 37"/>
          <p:cNvSpPr txBox="1"/>
          <p:nvPr/>
        </p:nvSpPr>
        <p:spPr>
          <a:xfrm>
            <a:off x="22479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8" name="TextBox 38"/>
          <p:cNvSpPr txBox="1"/>
          <p:nvPr/>
        </p:nvSpPr>
        <p:spPr>
          <a:xfrm>
            <a:off x="37211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39" name="TextBox 39"/>
          <p:cNvSpPr txBox="1"/>
          <p:nvPr/>
        </p:nvSpPr>
        <p:spPr>
          <a:xfrm>
            <a:off x="51816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40" name="TextBox 40"/>
          <p:cNvSpPr txBox="1"/>
          <p:nvPr/>
        </p:nvSpPr>
        <p:spPr>
          <a:xfrm>
            <a:off x="6642100" y="43561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41" name="TextBox 41"/>
          <p:cNvSpPr txBox="1"/>
          <p:nvPr/>
        </p:nvSpPr>
        <p:spPr>
          <a:xfrm>
            <a:off x="8102600" y="43561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42" name="TextBox 42"/>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43" name="TextBox 43"/>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44" name="TextBox 44"/>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45" name="TextBox 45"/>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L1.37</a:t>
            </a:r>
          </a:p>
          <a:p>
            <a:pPr>
              <a:lnSpc>
                <a:spcPts val="1610"/>
              </a:lnSpc>
            </a:pP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48"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Merging two sorted arrays</a:t>
            </a:r>
          </a:p>
          <a:p>
            <a:pPr>
              <a:lnSpc>
                <a:spcPts val="5060"/>
              </a:lnSpc>
            </a:pPr>
            <a:endParaRPr lang="en-CA" sz="4402">
              <a:solidFill>
                <a:srgbClr val="000000"/>
              </a:solidFill>
            </a:endParaRPr>
          </a:p>
        </p:txBody>
      </p:sp>
      <p:sp>
        <p:nvSpPr>
          <p:cNvPr id="3" name="TextBox 3"/>
          <p:cNvSpPr txBox="1"/>
          <p:nvPr/>
        </p:nvSpPr>
        <p:spPr>
          <a:xfrm>
            <a:off x="469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4" name="TextBox 4"/>
          <p:cNvSpPr txBox="1"/>
          <p:nvPr/>
        </p:nvSpPr>
        <p:spPr>
          <a:xfrm>
            <a:off x="10160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5" name="TextBox 5"/>
          <p:cNvSpPr txBox="1"/>
          <p:nvPr/>
        </p:nvSpPr>
        <p:spPr>
          <a:xfrm>
            <a:off x="19304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6" name="TextBox 6"/>
          <p:cNvSpPr txBox="1"/>
          <p:nvPr/>
        </p:nvSpPr>
        <p:spPr>
          <a:xfrm>
            <a:off x="24765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7" name="TextBox 7"/>
          <p:cNvSpPr txBox="1"/>
          <p:nvPr/>
        </p:nvSpPr>
        <p:spPr>
          <a:xfrm>
            <a:off x="33909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8" name="TextBox 8"/>
          <p:cNvSpPr txBox="1"/>
          <p:nvPr/>
        </p:nvSpPr>
        <p:spPr>
          <a:xfrm>
            <a:off x="3949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9" name="TextBox 9"/>
          <p:cNvSpPr txBox="1"/>
          <p:nvPr/>
        </p:nvSpPr>
        <p:spPr>
          <a:xfrm>
            <a:off x="48641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0" name="TextBox 10"/>
          <p:cNvSpPr txBox="1"/>
          <p:nvPr/>
        </p:nvSpPr>
        <p:spPr>
          <a:xfrm>
            <a:off x="54102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1" name="TextBox 11"/>
          <p:cNvSpPr txBox="1"/>
          <p:nvPr/>
        </p:nvSpPr>
        <p:spPr>
          <a:xfrm>
            <a:off x="63246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2" name="TextBox 12"/>
          <p:cNvSpPr txBox="1"/>
          <p:nvPr/>
        </p:nvSpPr>
        <p:spPr>
          <a:xfrm>
            <a:off x="68707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3" name="TextBox 13"/>
          <p:cNvSpPr txBox="1"/>
          <p:nvPr/>
        </p:nvSpPr>
        <p:spPr>
          <a:xfrm>
            <a:off x="77851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20</a:t>
            </a:r>
          </a:p>
          <a:p>
            <a:pPr>
              <a:lnSpc>
                <a:spcPts val="2760"/>
              </a:lnSpc>
            </a:pPr>
            <a:endParaRPr/>
          </a:p>
        </p:txBody>
      </p:sp>
      <p:sp>
        <p:nvSpPr>
          <p:cNvPr id="14" name="TextBox 14"/>
          <p:cNvSpPr txBox="1"/>
          <p:nvPr/>
        </p:nvSpPr>
        <p:spPr>
          <a:xfrm>
            <a:off x="8331200" y="18415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15" name="TextBox 15"/>
          <p:cNvSpPr txBox="1"/>
          <p:nvPr/>
        </p:nvSpPr>
        <p:spPr>
          <a:xfrm>
            <a:off x="469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6" name="TextBox 16"/>
          <p:cNvSpPr txBox="1"/>
          <p:nvPr/>
        </p:nvSpPr>
        <p:spPr>
          <a:xfrm>
            <a:off x="10160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7" name="TextBox 17"/>
          <p:cNvSpPr txBox="1"/>
          <p:nvPr/>
        </p:nvSpPr>
        <p:spPr>
          <a:xfrm>
            <a:off x="19304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18" name="TextBox 18"/>
          <p:cNvSpPr txBox="1"/>
          <p:nvPr/>
        </p:nvSpPr>
        <p:spPr>
          <a:xfrm>
            <a:off x="24765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19" name="TextBox 19"/>
          <p:cNvSpPr txBox="1"/>
          <p:nvPr/>
        </p:nvSpPr>
        <p:spPr>
          <a:xfrm>
            <a:off x="33909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0" name="TextBox 20"/>
          <p:cNvSpPr txBox="1"/>
          <p:nvPr/>
        </p:nvSpPr>
        <p:spPr>
          <a:xfrm>
            <a:off x="3949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1" name="TextBox 21"/>
          <p:cNvSpPr txBox="1"/>
          <p:nvPr/>
        </p:nvSpPr>
        <p:spPr>
          <a:xfrm>
            <a:off x="48641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2" name="TextBox 22"/>
          <p:cNvSpPr txBox="1"/>
          <p:nvPr/>
        </p:nvSpPr>
        <p:spPr>
          <a:xfrm>
            <a:off x="54102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3" name="TextBox 23"/>
          <p:cNvSpPr txBox="1"/>
          <p:nvPr/>
        </p:nvSpPr>
        <p:spPr>
          <a:xfrm>
            <a:off x="63246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4" name="TextBox 24"/>
          <p:cNvSpPr txBox="1"/>
          <p:nvPr/>
        </p:nvSpPr>
        <p:spPr>
          <a:xfrm>
            <a:off x="68707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25" name="TextBox 25"/>
          <p:cNvSpPr txBox="1"/>
          <p:nvPr/>
        </p:nvSpPr>
        <p:spPr>
          <a:xfrm>
            <a:off x="7785100" y="23876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13</a:t>
            </a:r>
          </a:p>
          <a:p>
            <a:pPr>
              <a:lnSpc>
                <a:spcPts val="2760"/>
              </a:lnSpc>
            </a:pPr>
            <a:endParaRPr/>
          </a:p>
        </p:txBody>
      </p:sp>
      <p:sp>
        <p:nvSpPr>
          <p:cNvPr id="26" name="TextBox 26"/>
          <p:cNvSpPr txBox="1"/>
          <p:nvPr/>
        </p:nvSpPr>
        <p:spPr>
          <a:xfrm>
            <a:off x="546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7" name="TextBox 27"/>
          <p:cNvSpPr txBox="1"/>
          <p:nvPr/>
        </p:nvSpPr>
        <p:spPr>
          <a:xfrm>
            <a:off x="10922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28" name="TextBox 28"/>
          <p:cNvSpPr txBox="1"/>
          <p:nvPr/>
        </p:nvSpPr>
        <p:spPr>
          <a:xfrm>
            <a:off x="20066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29" name="TextBox 29"/>
          <p:cNvSpPr txBox="1"/>
          <p:nvPr/>
        </p:nvSpPr>
        <p:spPr>
          <a:xfrm>
            <a:off x="25527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0" name="TextBox 30"/>
          <p:cNvSpPr txBox="1"/>
          <p:nvPr/>
        </p:nvSpPr>
        <p:spPr>
          <a:xfrm>
            <a:off x="34671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31" name="TextBox 31"/>
          <p:cNvSpPr txBox="1"/>
          <p:nvPr/>
        </p:nvSpPr>
        <p:spPr>
          <a:xfrm>
            <a:off x="40259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2" name="TextBox 32"/>
          <p:cNvSpPr txBox="1"/>
          <p:nvPr/>
        </p:nvSpPr>
        <p:spPr>
          <a:xfrm>
            <a:off x="5486400" y="29337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33" name="TextBox 33"/>
          <p:cNvSpPr txBox="1"/>
          <p:nvPr/>
        </p:nvSpPr>
        <p:spPr>
          <a:xfrm>
            <a:off x="5461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4" name="TextBox 34"/>
          <p:cNvSpPr txBox="1"/>
          <p:nvPr/>
        </p:nvSpPr>
        <p:spPr>
          <a:xfrm>
            <a:off x="10922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35" name="TextBox 35"/>
          <p:cNvSpPr txBox="1"/>
          <p:nvPr/>
        </p:nvSpPr>
        <p:spPr>
          <a:xfrm>
            <a:off x="2006600" y="34798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6" name="TextBox 36"/>
          <p:cNvSpPr txBox="1"/>
          <p:nvPr/>
        </p:nvSpPr>
        <p:spPr>
          <a:xfrm>
            <a:off x="7874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a:t>
            </a:r>
          </a:p>
          <a:p>
            <a:pPr>
              <a:lnSpc>
                <a:spcPts val="2760"/>
              </a:lnSpc>
            </a:pPr>
            <a:endParaRPr/>
          </a:p>
        </p:txBody>
      </p:sp>
      <p:sp>
        <p:nvSpPr>
          <p:cNvPr id="37" name="TextBox 37"/>
          <p:cNvSpPr txBox="1"/>
          <p:nvPr/>
        </p:nvSpPr>
        <p:spPr>
          <a:xfrm>
            <a:off x="22479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2</a:t>
            </a:r>
          </a:p>
          <a:p>
            <a:pPr>
              <a:lnSpc>
                <a:spcPts val="2760"/>
              </a:lnSpc>
            </a:pPr>
            <a:endParaRPr/>
          </a:p>
        </p:txBody>
      </p:sp>
      <p:sp>
        <p:nvSpPr>
          <p:cNvPr id="38" name="TextBox 38"/>
          <p:cNvSpPr txBox="1"/>
          <p:nvPr/>
        </p:nvSpPr>
        <p:spPr>
          <a:xfrm>
            <a:off x="37211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7</a:t>
            </a:r>
          </a:p>
          <a:p>
            <a:pPr>
              <a:lnSpc>
                <a:spcPts val="2760"/>
              </a:lnSpc>
            </a:pPr>
            <a:endParaRPr/>
          </a:p>
        </p:txBody>
      </p:sp>
      <p:sp>
        <p:nvSpPr>
          <p:cNvPr id="39" name="TextBox 39"/>
          <p:cNvSpPr txBox="1"/>
          <p:nvPr/>
        </p:nvSpPr>
        <p:spPr>
          <a:xfrm>
            <a:off x="5181600" y="4356100"/>
            <a:ext cx="3810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9</a:t>
            </a:r>
          </a:p>
          <a:p>
            <a:pPr>
              <a:lnSpc>
                <a:spcPts val="2760"/>
              </a:lnSpc>
            </a:pPr>
            <a:endParaRPr/>
          </a:p>
        </p:txBody>
      </p:sp>
      <p:sp>
        <p:nvSpPr>
          <p:cNvPr id="40" name="TextBox 40"/>
          <p:cNvSpPr txBox="1"/>
          <p:nvPr/>
        </p:nvSpPr>
        <p:spPr>
          <a:xfrm>
            <a:off x="6642100" y="43561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11</a:t>
            </a:r>
          </a:p>
          <a:p>
            <a:pPr>
              <a:lnSpc>
                <a:spcPts val="2760"/>
              </a:lnSpc>
            </a:pPr>
            <a:endParaRPr/>
          </a:p>
        </p:txBody>
      </p:sp>
      <p:sp>
        <p:nvSpPr>
          <p:cNvPr id="41" name="TextBox 41"/>
          <p:cNvSpPr txBox="1"/>
          <p:nvPr/>
        </p:nvSpPr>
        <p:spPr>
          <a:xfrm>
            <a:off x="8102600" y="4356100"/>
            <a:ext cx="533400" cy="457200"/>
          </a:xfrm>
          <a:prstGeom prst="rect">
            <a:avLst/>
          </a:prstGeom>
          <a:noFill/>
        </p:spPr>
        <p:txBody>
          <a:bodyPr vert="horz" wrap="none" lIns="0" tIns="0" rIns="0" bIns="0" rtlCol="0">
            <a:spAutoFit/>
          </a:bodyPr>
          <a:lstStyle/>
          <a:p>
            <a:pPr>
              <a:lnSpc>
                <a:spcPts val="2760"/>
              </a:lnSpc>
            </a:pPr>
            <a:r>
              <a:rPr lang="en-CA" sz="2401">
                <a:solidFill>
                  <a:srgbClr val="000000"/>
                </a:solidFill>
                <a:latin typeface="Times New Roman"/>
                <a:cs typeface="Times New Roman"/>
              </a:rPr>
              <a:t>12</a:t>
            </a:r>
          </a:p>
          <a:p>
            <a:pPr>
              <a:lnSpc>
                <a:spcPts val="2760"/>
              </a:lnSpc>
            </a:pPr>
            <a:endParaRPr/>
          </a:p>
        </p:txBody>
      </p:sp>
      <p:sp>
        <p:nvSpPr>
          <p:cNvPr id="42" name="TextBox 42"/>
          <p:cNvSpPr txBox="1"/>
          <p:nvPr/>
        </p:nvSpPr>
        <p:spPr>
          <a:xfrm>
            <a:off x="2197100" y="5054600"/>
            <a:ext cx="4927600" cy="457200"/>
          </a:xfrm>
          <a:prstGeom prst="rect">
            <a:avLst/>
          </a:prstGeom>
          <a:noFill/>
        </p:spPr>
        <p:txBody>
          <a:bodyPr vert="horz" wrap="none" lIns="0" tIns="0" rIns="0" bIns="0" rtlCol="0">
            <a:spAutoFit/>
          </a:bodyPr>
          <a:lstStyle/>
          <a:p>
            <a:pPr>
              <a:lnSpc>
                <a:spcPts val="3680"/>
              </a:lnSpc>
            </a:pPr>
            <a:r>
              <a:rPr lang="en-CA" sz="3201">
                <a:solidFill>
                  <a:srgbClr val="000000"/>
                </a:solidFill>
                <a:latin typeface="Times New Roman"/>
                <a:cs typeface="Times New Roman"/>
              </a:rPr>
              <a:t>Time </a:t>
            </a:r>
            <a:r>
              <a:rPr lang="en-CA" sz="3201">
                <a:solidFill>
                  <a:srgbClr val="9A9A00"/>
                </a:solidFill>
                <a:latin typeface="Times New Roman"/>
                <a:cs typeface="Times New Roman"/>
              </a:rPr>
              <a:t>= Θ(</a:t>
            </a:r>
            <a:r>
              <a:rPr lang="en-CA" sz="3201">
                <a:solidFill>
                  <a:srgbClr val="9A9A00"/>
                </a:solidFill>
                <a:latin typeface="Times New Roman Italic"/>
                <a:cs typeface="Times New Roman Italic"/>
              </a:rPr>
              <a:t>n</a:t>
            </a:r>
            <a:r>
              <a:rPr lang="en-CA" sz="3201">
                <a:solidFill>
                  <a:srgbClr val="9A9A00"/>
                </a:solidFill>
                <a:latin typeface="Times New Roman"/>
                <a:cs typeface="Times New Roman"/>
              </a:rPr>
              <a:t>) </a:t>
            </a:r>
            <a:r>
              <a:rPr lang="en-CA" sz="3201">
                <a:solidFill>
                  <a:srgbClr val="000000"/>
                </a:solidFill>
                <a:latin typeface="Times New Roman"/>
                <a:cs typeface="Times New Roman"/>
              </a:rPr>
              <a:t>to merge a total</a:t>
            </a:r>
          </a:p>
          <a:p>
            <a:pPr>
              <a:lnSpc>
                <a:spcPts val="3680"/>
              </a:lnSpc>
            </a:pPr>
            <a:endParaRPr/>
          </a:p>
        </p:txBody>
      </p:sp>
      <p:sp>
        <p:nvSpPr>
          <p:cNvPr id="43" name="TextBox 43"/>
          <p:cNvSpPr txBox="1"/>
          <p:nvPr/>
        </p:nvSpPr>
        <p:spPr>
          <a:xfrm>
            <a:off x="2349500" y="5524500"/>
            <a:ext cx="4711700" cy="609600"/>
          </a:xfrm>
          <a:prstGeom prst="rect">
            <a:avLst/>
          </a:prstGeom>
          <a:noFill/>
        </p:spPr>
        <p:txBody>
          <a:bodyPr vert="horz" wrap="none" lIns="0" tIns="0" rIns="0" bIns="0" rtlCol="0">
            <a:spAutoFit/>
          </a:bodyPr>
          <a:lstStyle/>
          <a:p>
            <a:pPr>
              <a:lnSpc>
                <a:spcPts val="3680"/>
              </a:lnSpc>
            </a:pPr>
            <a:r>
              <a:rPr lang="en-CA" sz="3201">
                <a:solidFill>
                  <a:srgbClr val="000000"/>
                </a:solidFill>
                <a:latin typeface="Times New Roman"/>
                <a:cs typeface="Times New Roman"/>
              </a:rPr>
              <a:t>of </a:t>
            </a:r>
            <a:r>
              <a:rPr lang="en-CA" sz="3201">
                <a:solidFill>
                  <a:srgbClr val="9A9A00"/>
                </a:solidFill>
                <a:latin typeface="Times New Roman Italic"/>
                <a:cs typeface="Times New Roman Italic"/>
              </a:rPr>
              <a:t>n</a:t>
            </a:r>
            <a:r>
              <a:rPr lang="en-CA" sz="3201">
                <a:solidFill>
                  <a:srgbClr val="000000"/>
                </a:solidFill>
                <a:latin typeface="Times New Roman"/>
                <a:cs typeface="Times New Roman"/>
              </a:rPr>
              <a:t> elements (linear time).</a:t>
            </a:r>
          </a:p>
          <a:p>
            <a:pPr>
              <a:lnSpc>
                <a:spcPts val="3680"/>
              </a:lnSpc>
            </a:pPr>
            <a:endParaRPr/>
          </a:p>
        </p:txBody>
      </p:sp>
      <p:sp>
        <p:nvSpPr>
          <p:cNvPr id="44" name="TextBox 44"/>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45" name="TextBox 45"/>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46" name="TextBox 46"/>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47" name="TextBox 47"/>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L1.38</a:t>
            </a:r>
          </a:p>
          <a:p>
            <a:pPr>
              <a:lnSpc>
                <a:spcPts val="1610"/>
              </a:lnSpc>
            </a:pP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16173"/>
            <a:ext cx="9118600" cy="6832600"/>
          </a:xfrm>
          <a:prstGeom prst="rect">
            <a:avLst/>
          </a:prstGeom>
        </p:spPr>
      </p:pic>
      <p:sp>
        <p:nvSpPr>
          <p:cNvPr id="15"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Analyzing merge sort</a:t>
            </a:r>
          </a:p>
          <a:p>
            <a:pPr>
              <a:lnSpc>
                <a:spcPts val="5060"/>
              </a:lnSpc>
            </a:pPr>
            <a:endParaRPr lang="en-CA" sz="4402">
              <a:solidFill>
                <a:srgbClr val="000000"/>
              </a:solidFill>
            </a:endParaRPr>
          </a:p>
        </p:txBody>
      </p:sp>
      <p:sp>
        <p:nvSpPr>
          <p:cNvPr id="3" name="TextBox 3"/>
          <p:cNvSpPr txBox="1"/>
          <p:nvPr/>
        </p:nvSpPr>
        <p:spPr>
          <a:xfrm>
            <a:off x="1600200" y="1917700"/>
            <a:ext cx="1422400" cy="1181100"/>
          </a:xfrm>
          <a:prstGeom prst="rect">
            <a:avLst/>
          </a:prstGeom>
          <a:noFill/>
        </p:spPr>
        <p:txBody>
          <a:bodyPr vert="horz" wrap="none" lIns="0" tIns="0" rIns="0" bIns="0" rtlCol="0">
            <a:spAutoFit/>
          </a:bodyPr>
          <a:lstStyle/>
          <a:p>
            <a:pPr>
              <a:lnSpc>
                <a:spcPts val="3900"/>
              </a:lnSpc>
            </a:pPr>
            <a:r>
              <a:rPr lang="en-CA" sz="3201" dirty="0">
                <a:solidFill>
                  <a:srgbClr val="9A9A00"/>
                </a:solidFill>
                <a:latin typeface="Times New Roman Italic"/>
                <a:cs typeface="Times New Roman Italic"/>
              </a:rPr>
              <a:t>T</a:t>
            </a:r>
            <a:r>
              <a:rPr lang="en-CA" sz="3201" dirty="0">
                <a:solidFill>
                  <a:srgbClr val="9A9A00"/>
                </a:solidFill>
                <a:latin typeface="Times New Roman"/>
                <a:cs typeface="Times New Roman"/>
              </a:rPr>
              <a:t>(</a:t>
            </a:r>
            <a:r>
              <a:rPr lang="en-CA" sz="3201" dirty="0">
                <a:solidFill>
                  <a:srgbClr val="9A9A00"/>
                </a:solidFill>
                <a:latin typeface="Times New Roman Italic"/>
                <a:cs typeface="Times New Roman Italic"/>
              </a:rPr>
              <a:t>n</a:t>
            </a:r>
            <a:r>
              <a:rPr lang="en-CA" sz="3201" dirty="0">
                <a:solidFill>
                  <a:srgbClr val="9A9A00"/>
                </a:solidFill>
                <a:latin typeface="Times New Roman"/>
                <a:cs typeface="Times New Roman"/>
              </a:rPr>
              <a:t>)</a:t>
            </a:r>
            <a:br>
              <a:rPr lang="en-CA" sz="3201" dirty="0">
                <a:solidFill>
                  <a:srgbClr val="000000"/>
                </a:solidFill>
                <a:latin typeface="Times New Roman"/>
              </a:rPr>
            </a:br>
            <a:r>
              <a:rPr lang="en-CA" sz="3201" dirty="0">
                <a:solidFill>
                  <a:srgbClr val="9A9A00"/>
                </a:solidFill>
                <a:latin typeface="Times New Roman"/>
                <a:cs typeface="Times New Roman"/>
              </a:rPr>
              <a:t>Θ(1)</a:t>
            </a:r>
          </a:p>
          <a:p>
            <a:pPr>
              <a:lnSpc>
                <a:spcPts val="3895"/>
              </a:lnSpc>
            </a:pPr>
            <a:endParaRPr lang="en-CA" sz="3201" dirty="0">
              <a:solidFill>
                <a:srgbClr val="000000"/>
              </a:solidFill>
            </a:endParaRPr>
          </a:p>
        </p:txBody>
      </p:sp>
      <p:sp>
        <p:nvSpPr>
          <p:cNvPr id="4" name="TextBox 4"/>
          <p:cNvSpPr txBox="1"/>
          <p:nvPr/>
        </p:nvSpPr>
        <p:spPr>
          <a:xfrm>
            <a:off x="304800" y="2984500"/>
            <a:ext cx="2542043" cy="1166345"/>
          </a:xfrm>
          <a:prstGeom prst="rect">
            <a:avLst/>
          </a:prstGeom>
          <a:noFill/>
        </p:spPr>
        <p:txBody>
          <a:bodyPr vert="horz" wrap="none" lIns="0" tIns="0" rIns="0" bIns="0" rtlCol="0">
            <a:spAutoFit/>
          </a:bodyPr>
          <a:lstStyle/>
          <a:p>
            <a:pPr indent="1300069">
              <a:lnSpc>
                <a:spcPts val="3000"/>
              </a:lnSpc>
            </a:pPr>
            <a:r>
              <a:rPr lang="en-CA" sz="3201" dirty="0">
                <a:solidFill>
                  <a:srgbClr val="9A9A00"/>
                </a:solidFill>
                <a:latin typeface="Times New Roman"/>
                <a:cs typeface="Times New Roman"/>
              </a:rPr>
              <a:t>2</a:t>
            </a:r>
            <a:r>
              <a:rPr lang="en-CA" sz="3201" dirty="0">
                <a:solidFill>
                  <a:srgbClr val="9A9A00"/>
                </a:solidFill>
                <a:latin typeface="Times New Roman Italic"/>
                <a:cs typeface="Times New Roman Italic"/>
              </a:rPr>
              <a:t>T</a:t>
            </a:r>
            <a:r>
              <a:rPr lang="en-CA" sz="3201" dirty="0">
                <a:solidFill>
                  <a:srgbClr val="9A9A00"/>
                </a:solidFill>
                <a:latin typeface="Times New Roman"/>
                <a:cs typeface="Times New Roman"/>
              </a:rPr>
              <a:t>(</a:t>
            </a:r>
            <a:r>
              <a:rPr lang="en-CA" sz="3201" dirty="0">
                <a:solidFill>
                  <a:srgbClr val="9A9A00"/>
                </a:solidFill>
                <a:latin typeface="Times New Roman Italic"/>
                <a:cs typeface="Times New Roman Italic"/>
              </a:rPr>
              <a:t>n</a:t>
            </a:r>
            <a:r>
              <a:rPr lang="en-CA" sz="3201" dirty="0">
                <a:solidFill>
                  <a:srgbClr val="9A9A00"/>
                </a:solidFill>
                <a:latin typeface="Times New Roman"/>
                <a:cs typeface="Times New Roman"/>
              </a:rPr>
              <a:t>/2)</a:t>
            </a:r>
            <a:br>
              <a:rPr lang="en-CA" sz="3201" dirty="0">
                <a:solidFill>
                  <a:srgbClr val="000000"/>
                </a:solidFill>
                <a:latin typeface="Times New Roman"/>
              </a:rPr>
            </a:br>
            <a:endParaRPr lang="en-CA" sz="3201" dirty="0">
              <a:solidFill>
                <a:srgbClr val="CC0000"/>
              </a:solidFill>
              <a:latin typeface="Times New Roman Bold Italic"/>
              <a:cs typeface="Times New Roman Bold Italic"/>
            </a:endParaRPr>
          </a:p>
          <a:p>
            <a:pPr>
              <a:lnSpc>
                <a:spcPts val="3010"/>
              </a:lnSpc>
            </a:pPr>
            <a:endParaRPr lang="en-CA" sz="3201" dirty="0">
              <a:solidFill>
                <a:srgbClr val="000000"/>
              </a:solidFill>
            </a:endParaRPr>
          </a:p>
        </p:txBody>
      </p:sp>
      <p:sp>
        <p:nvSpPr>
          <p:cNvPr id="5" name="TextBox 5"/>
          <p:cNvSpPr txBox="1"/>
          <p:nvPr/>
        </p:nvSpPr>
        <p:spPr>
          <a:xfrm>
            <a:off x="1600200" y="3810000"/>
            <a:ext cx="1422400" cy="685800"/>
          </a:xfrm>
          <a:prstGeom prst="rect">
            <a:avLst/>
          </a:prstGeom>
          <a:noFill/>
        </p:spPr>
        <p:txBody>
          <a:bodyPr vert="horz" wrap="none" lIns="0" tIns="0" rIns="0" bIns="0" rtlCol="0">
            <a:spAutoFit/>
          </a:bodyPr>
          <a:lstStyle/>
          <a:p>
            <a:pPr>
              <a:lnSpc>
                <a:spcPts val="3700"/>
              </a:lnSpc>
            </a:pPr>
            <a:r>
              <a:rPr lang="en-CA" sz="3201">
                <a:solidFill>
                  <a:srgbClr val="9A9A00"/>
                </a:solidFill>
                <a:latin typeface="Times New Roman"/>
                <a:cs typeface="Times New Roman"/>
              </a:rPr>
              <a:t>Θ(</a:t>
            </a:r>
            <a:r>
              <a:rPr lang="en-CA" sz="3201">
                <a:solidFill>
                  <a:srgbClr val="9A9A00"/>
                </a:solidFill>
                <a:latin typeface="Times New Roman Italic"/>
                <a:cs typeface="Times New Roman Italic"/>
              </a:rPr>
              <a:t>n</a:t>
            </a:r>
            <a:r>
              <a:rPr lang="en-CA" sz="3201">
                <a:solidFill>
                  <a:srgbClr val="9A9A00"/>
                </a:solidFill>
                <a:latin typeface="Times New Roman"/>
                <a:cs typeface="Times New Roman"/>
              </a:rPr>
              <a:t>)</a:t>
            </a:r>
          </a:p>
          <a:p>
            <a:pPr>
              <a:lnSpc>
                <a:spcPts val="3680"/>
              </a:lnSpc>
            </a:pPr>
            <a:endParaRPr lang="en-CA" sz="3201">
              <a:solidFill>
                <a:srgbClr val="000000"/>
              </a:solidFill>
            </a:endParaRPr>
          </a:p>
        </p:txBody>
      </p:sp>
      <p:sp>
        <p:nvSpPr>
          <p:cNvPr id="6" name="TextBox 6"/>
          <p:cNvSpPr txBox="1"/>
          <p:nvPr/>
        </p:nvSpPr>
        <p:spPr>
          <a:xfrm>
            <a:off x="3124200" y="1943100"/>
            <a:ext cx="5892800" cy="685800"/>
          </a:xfrm>
          <a:prstGeom prst="rect">
            <a:avLst/>
          </a:prstGeom>
          <a:noFill/>
        </p:spPr>
        <p:txBody>
          <a:bodyPr vert="horz" wrap="none" lIns="0" tIns="0" rIns="0" bIns="0" rtlCol="0">
            <a:spAutoFit/>
          </a:bodyPr>
          <a:lstStyle/>
          <a:p>
            <a:pPr>
              <a:lnSpc>
                <a:spcPts val="3700"/>
              </a:lnSpc>
            </a:pPr>
            <a:r>
              <a:rPr lang="en-CA" sz="3211" b="1">
                <a:solidFill>
                  <a:srgbClr val="000000"/>
                </a:solidFill>
                <a:latin typeface="Times New Roman Bold"/>
                <a:cs typeface="Times New Roman Bold"/>
              </a:rPr>
              <a:t>M</a:t>
            </a:r>
            <a:r>
              <a:rPr lang="en-CA" sz="2412" b="1">
                <a:solidFill>
                  <a:srgbClr val="000000"/>
                </a:solidFill>
                <a:latin typeface="Times New Roman Bold"/>
                <a:cs typeface="Times New Roman Bold"/>
              </a:rPr>
              <a:t>ERGE</a:t>
            </a:r>
            <a:r>
              <a:rPr lang="en-CA" sz="3211" b="1">
                <a:solidFill>
                  <a:srgbClr val="000000"/>
                </a:solidFill>
                <a:latin typeface="Times New Roman Bold"/>
                <a:cs typeface="Times New Roman Bold"/>
              </a:rPr>
              <a:t>-S</a:t>
            </a:r>
            <a:r>
              <a:rPr lang="en-CA" sz="2412" b="1">
                <a:solidFill>
                  <a:srgbClr val="000000"/>
                </a:solidFill>
                <a:latin typeface="Times New Roman Bold"/>
                <a:cs typeface="Times New Roman Bold"/>
              </a:rPr>
              <a:t>ORT</a:t>
            </a:r>
            <a:r>
              <a:rPr lang="en-CA" sz="3201">
                <a:solidFill>
                  <a:srgbClr val="9A9A00"/>
                </a:solidFill>
                <a:latin typeface="Times New Roman Italic"/>
                <a:cs typeface="Times New Roman Italic"/>
              </a:rPr>
              <a:t> A</a:t>
            </a:r>
            <a:r>
              <a:rPr lang="en-CA" sz="3201">
                <a:solidFill>
                  <a:srgbClr val="9A9A00"/>
                </a:solidFill>
                <a:latin typeface="Times New Roman"/>
                <a:cs typeface="Times New Roman"/>
              </a:rPr>
              <a:t>[1 . . </a:t>
            </a:r>
            <a:r>
              <a:rPr lang="en-CA" sz="3201">
                <a:solidFill>
                  <a:srgbClr val="9A9A00"/>
                </a:solidFill>
                <a:latin typeface="Times New Roman Italic"/>
                <a:cs typeface="Times New Roman Italic"/>
              </a:rPr>
              <a:t>n</a:t>
            </a:r>
            <a:r>
              <a:rPr lang="en-CA" sz="3201">
                <a:solidFill>
                  <a:srgbClr val="9A9A00"/>
                </a:solidFill>
                <a:latin typeface="Times New Roman"/>
                <a:cs typeface="Times New Roman"/>
              </a:rPr>
              <a:t>]</a:t>
            </a:r>
          </a:p>
          <a:p>
            <a:pPr>
              <a:lnSpc>
                <a:spcPts val="3680"/>
              </a:lnSpc>
            </a:pPr>
            <a:endParaRPr lang="en-CA" sz="2934">
              <a:solidFill>
                <a:srgbClr val="000000"/>
              </a:solidFill>
            </a:endParaRPr>
          </a:p>
        </p:txBody>
      </p:sp>
      <p:sp>
        <p:nvSpPr>
          <p:cNvPr id="7" name="TextBox 7"/>
          <p:cNvSpPr txBox="1"/>
          <p:nvPr/>
        </p:nvSpPr>
        <p:spPr>
          <a:xfrm>
            <a:off x="3263900" y="2463800"/>
            <a:ext cx="5753100" cy="685800"/>
          </a:xfrm>
          <a:prstGeom prst="rect">
            <a:avLst/>
          </a:prstGeom>
          <a:noFill/>
        </p:spPr>
        <p:txBody>
          <a:bodyPr vert="horz" wrap="none" lIns="0" tIns="0" rIns="0" bIns="0" rtlCol="0">
            <a:spAutoFit/>
          </a:bodyPr>
          <a:lstStyle/>
          <a:p>
            <a:pPr>
              <a:lnSpc>
                <a:spcPts val="3700"/>
              </a:lnSpc>
            </a:pPr>
            <a:r>
              <a:rPr lang="en-CA" sz="3040">
                <a:solidFill>
                  <a:srgbClr val="CC0000"/>
                </a:solidFill>
                <a:latin typeface="Times New Roman"/>
                <a:cs typeface="Times New Roman"/>
              </a:rPr>
              <a:t>1.</a:t>
            </a:r>
            <a:r>
              <a:rPr lang="en-CA" sz="3040">
                <a:solidFill>
                  <a:srgbClr val="000000"/>
                </a:solidFill>
                <a:latin typeface="Times New Roman"/>
                <a:cs typeface="Times New Roman"/>
              </a:rPr>
              <a:t> If </a:t>
            </a:r>
            <a:r>
              <a:rPr lang="en-CA" sz="3040">
                <a:solidFill>
                  <a:srgbClr val="9A9A00"/>
                </a:solidFill>
                <a:latin typeface="Times New Roman Italic"/>
                <a:cs typeface="Times New Roman Italic"/>
              </a:rPr>
              <a:t>n</a:t>
            </a:r>
            <a:r>
              <a:rPr lang="en-CA" sz="3040">
                <a:solidFill>
                  <a:srgbClr val="9A9A00"/>
                </a:solidFill>
                <a:latin typeface="Times New Roman"/>
                <a:cs typeface="Times New Roman"/>
              </a:rPr>
              <a:t> = 1</a:t>
            </a:r>
            <a:r>
              <a:rPr lang="en-CA" sz="3040">
                <a:solidFill>
                  <a:srgbClr val="000000"/>
                </a:solidFill>
                <a:latin typeface="Times New Roman"/>
                <a:cs typeface="Times New Roman"/>
              </a:rPr>
              <a:t>, done.</a:t>
            </a:r>
          </a:p>
          <a:p>
            <a:pPr>
              <a:lnSpc>
                <a:spcPts val="3680"/>
              </a:lnSpc>
            </a:pPr>
            <a:endParaRPr lang="en-CA" sz="3201">
              <a:solidFill>
                <a:srgbClr val="000000"/>
              </a:solidFill>
            </a:endParaRPr>
          </a:p>
        </p:txBody>
      </p:sp>
      <p:sp>
        <p:nvSpPr>
          <p:cNvPr id="8" name="TextBox 8"/>
          <p:cNvSpPr txBox="1"/>
          <p:nvPr/>
        </p:nvSpPr>
        <p:spPr>
          <a:xfrm>
            <a:off x="3263900" y="3009900"/>
            <a:ext cx="5637762" cy="1243930"/>
          </a:xfrm>
          <a:prstGeom prst="rect">
            <a:avLst/>
          </a:prstGeom>
          <a:noFill/>
        </p:spPr>
        <p:txBody>
          <a:bodyPr vert="horz" wrap="none" lIns="0" tIns="0" rIns="0" bIns="0" rtlCol="0">
            <a:spAutoFit/>
          </a:bodyPr>
          <a:lstStyle/>
          <a:p>
            <a:pPr>
              <a:lnSpc>
                <a:spcPts val="3200"/>
              </a:lnSpc>
              <a:tabLst>
                <a:tab pos="457200" algn="l"/>
              </a:tabLst>
            </a:pPr>
            <a:r>
              <a:rPr lang="en-CA" sz="3040" dirty="0">
                <a:solidFill>
                  <a:srgbClr val="CC0000"/>
                </a:solidFill>
                <a:latin typeface="Times New Roman"/>
                <a:cs typeface="Times New Roman"/>
              </a:rPr>
              <a:t>2.</a:t>
            </a:r>
            <a:r>
              <a:rPr lang="en-CA" sz="3040" dirty="0">
                <a:solidFill>
                  <a:srgbClr val="000000"/>
                </a:solidFill>
                <a:latin typeface="Times New Roman"/>
                <a:cs typeface="Times New Roman"/>
              </a:rPr>
              <a:t> Recursively sort </a:t>
            </a:r>
            <a:r>
              <a:rPr lang="en-CA" sz="3040" dirty="0">
                <a:solidFill>
                  <a:srgbClr val="9A9A00"/>
                </a:solidFill>
                <a:latin typeface="Times New Roman Italic"/>
                <a:cs typeface="Times New Roman Italic"/>
              </a:rPr>
              <a:t>A</a:t>
            </a:r>
            <a:r>
              <a:rPr lang="en-CA" sz="3040" dirty="0">
                <a:solidFill>
                  <a:srgbClr val="9A9A00"/>
                </a:solidFill>
                <a:latin typeface="Times New Roman"/>
                <a:cs typeface="Times New Roman"/>
              </a:rPr>
              <a:t>[ 1 . . </a:t>
            </a:r>
            <a:r>
              <a:rPr lang="en-CA" sz="2282" dirty="0">
                <a:solidFill>
                  <a:srgbClr val="9A9A00"/>
                </a:solidFill>
                <a:latin typeface="Times New Roman"/>
                <a:cs typeface="Times New Roman"/>
              </a:rPr>
              <a:t>⎡</a:t>
            </a:r>
            <a:r>
              <a:rPr lang="en-CA" sz="3040" dirty="0">
                <a:solidFill>
                  <a:srgbClr val="9A9A00"/>
                </a:solidFill>
                <a:latin typeface="Times New Roman Italic"/>
                <a:cs typeface="Times New Roman Italic"/>
              </a:rPr>
              <a:t>n</a:t>
            </a:r>
            <a:r>
              <a:rPr lang="en-CA" sz="3040" dirty="0">
                <a:solidFill>
                  <a:srgbClr val="9A9A00"/>
                </a:solidFill>
                <a:latin typeface="Times New Roman"/>
                <a:cs typeface="Times New Roman"/>
              </a:rPr>
              <a:t>/2</a:t>
            </a:r>
            <a:r>
              <a:rPr lang="en-CA" sz="2282" dirty="0">
                <a:solidFill>
                  <a:srgbClr val="9A9A00"/>
                </a:solidFill>
                <a:latin typeface="Times New Roman"/>
                <a:cs typeface="Times New Roman"/>
              </a:rPr>
              <a:t>⎤</a:t>
            </a:r>
            <a:r>
              <a:rPr lang="en-CA" sz="3040" dirty="0">
                <a:solidFill>
                  <a:srgbClr val="9A9A00"/>
                </a:solidFill>
                <a:latin typeface="Times New Roman"/>
                <a:cs typeface="Times New Roman"/>
              </a:rPr>
              <a:t> ]</a:t>
            </a:r>
            <a:br>
              <a:rPr lang="en-CA" sz="3134" dirty="0">
                <a:solidFill>
                  <a:srgbClr val="000000"/>
                </a:solidFill>
                <a:latin typeface="Times New Roman"/>
              </a:rPr>
            </a:br>
            <a:r>
              <a:rPr lang="en-CA" sz="3040" dirty="0">
                <a:solidFill>
                  <a:srgbClr val="000000"/>
                </a:solidFill>
                <a:latin typeface="Times New Roman"/>
                <a:cs typeface="Times New Roman"/>
              </a:rPr>
              <a:t>	and </a:t>
            </a:r>
            <a:r>
              <a:rPr lang="en-CA" sz="3040" dirty="0">
                <a:solidFill>
                  <a:srgbClr val="9A9A00"/>
                </a:solidFill>
                <a:latin typeface="Times New Roman Italic"/>
                <a:cs typeface="Times New Roman Italic"/>
              </a:rPr>
              <a:t>	A</a:t>
            </a:r>
            <a:r>
              <a:rPr lang="en-CA" sz="3040" dirty="0">
                <a:solidFill>
                  <a:srgbClr val="9A9A00"/>
                </a:solidFill>
                <a:latin typeface="Times New Roman"/>
                <a:cs typeface="Times New Roman"/>
              </a:rPr>
              <a:t>	[ </a:t>
            </a:r>
            <a:r>
              <a:rPr lang="en-CA" sz="2282" dirty="0">
                <a:solidFill>
                  <a:srgbClr val="9A9A00"/>
                </a:solidFill>
                <a:latin typeface="Times New Roman"/>
                <a:cs typeface="Times New Roman"/>
              </a:rPr>
              <a:t>⎡</a:t>
            </a:r>
            <a:r>
              <a:rPr lang="en-CA" sz="3040" dirty="0">
                <a:solidFill>
                  <a:srgbClr val="9A9A00"/>
                </a:solidFill>
                <a:latin typeface="Times New Roman Italic"/>
                <a:cs typeface="Times New Roman Italic"/>
              </a:rPr>
              <a:t>n</a:t>
            </a:r>
            <a:r>
              <a:rPr lang="en-CA" sz="3040" dirty="0">
                <a:solidFill>
                  <a:srgbClr val="9A9A00"/>
                </a:solidFill>
                <a:latin typeface="Times New Roman"/>
                <a:cs typeface="Times New Roman"/>
              </a:rPr>
              <a:t>/2</a:t>
            </a:r>
            <a:r>
              <a:rPr lang="en-CA" sz="2282" dirty="0">
                <a:solidFill>
                  <a:srgbClr val="9A9A00"/>
                </a:solidFill>
                <a:latin typeface="Times New Roman"/>
                <a:cs typeface="Times New Roman"/>
              </a:rPr>
              <a:t>	⎤</a:t>
            </a:r>
            <a:r>
              <a:rPr lang="en-CA" sz="3040" dirty="0">
                <a:solidFill>
                  <a:srgbClr val="9A9A00"/>
                </a:solidFill>
                <a:latin typeface="Times New Roman"/>
                <a:cs typeface="Times New Roman"/>
              </a:rPr>
              <a:t>+1 . . </a:t>
            </a:r>
            <a:r>
              <a:rPr lang="en-CA" sz="3040" dirty="0">
                <a:solidFill>
                  <a:srgbClr val="9A9A00"/>
                </a:solidFill>
                <a:latin typeface="Times New Roman Italic"/>
                <a:cs typeface="Times New Roman Italic"/>
              </a:rPr>
              <a:t>n </a:t>
            </a:r>
            <a:r>
              <a:rPr lang="en-CA" sz="3040" dirty="0">
                <a:solidFill>
                  <a:srgbClr val="9A9A00"/>
                </a:solidFill>
                <a:latin typeface="Times New Roman"/>
                <a:cs typeface="Times New Roman"/>
              </a:rPr>
              <a:t>] </a:t>
            </a:r>
            <a:r>
              <a:rPr lang="en-CA" sz="3040" dirty="0">
                <a:solidFill>
                  <a:srgbClr val="000000"/>
                </a:solidFill>
                <a:latin typeface="Times New Roman"/>
                <a:cs typeface="Times New Roman"/>
              </a:rPr>
              <a:t>	.</a:t>
            </a:r>
          </a:p>
          <a:p>
            <a:pPr>
              <a:lnSpc>
                <a:spcPts val="3260"/>
              </a:lnSpc>
            </a:pPr>
            <a:endParaRPr lang="en-CA" sz="3134" dirty="0">
              <a:solidFill>
                <a:srgbClr val="000000"/>
              </a:solidFill>
            </a:endParaRPr>
          </a:p>
        </p:txBody>
      </p:sp>
      <p:sp>
        <p:nvSpPr>
          <p:cNvPr id="9" name="TextBox 9"/>
          <p:cNvSpPr txBox="1"/>
          <p:nvPr/>
        </p:nvSpPr>
        <p:spPr>
          <a:xfrm>
            <a:off x="3263900" y="3898900"/>
            <a:ext cx="5753100" cy="685800"/>
          </a:xfrm>
          <a:prstGeom prst="rect">
            <a:avLst/>
          </a:prstGeom>
          <a:noFill/>
        </p:spPr>
        <p:txBody>
          <a:bodyPr vert="horz" wrap="none" lIns="0" tIns="0" rIns="0" bIns="0" rtlCol="0">
            <a:spAutoFit/>
          </a:bodyPr>
          <a:lstStyle/>
          <a:p>
            <a:pPr>
              <a:lnSpc>
                <a:spcPts val="3700"/>
              </a:lnSpc>
            </a:pPr>
            <a:r>
              <a:rPr lang="en-CA" sz="3040">
                <a:solidFill>
                  <a:srgbClr val="CC0000"/>
                </a:solidFill>
                <a:latin typeface="Times New Roman Bold Italic"/>
                <a:cs typeface="Times New Roman Bold Italic"/>
              </a:rPr>
              <a:t>3. “Merge”</a:t>
            </a:r>
            <a:r>
              <a:rPr lang="en-CA" sz="3040">
                <a:solidFill>
                  <a:srgbClr val="000000"/>
                </a:solidFill>
                <a:latin typeface="Times New Roman"/>
                <a:cs typeface="Times New Roman"/>
              </a:rPr>
              <a:t> the </a:t>
            </a:r>
            <a:r>
              <a:rPr lang="en-CA" sz="3040">
                <a:solidFill>
                  <a:srgbClr val="9A9A00"/>
                </a:solidFill>
                <a:latin typeface="Times New Roman"/>
                <a:cs typeface="Times New Roman"/>
              </a:rPr>
              <a:t>2</a:t>
            </a:r>
            <a:r>
              <a:rPr lang="en-CA" sz="3040">
                <a:solidFill>
                  <a:srgbClr val="000000"/>
                </a:solidFill>
                <a:latin typeface="Times New Roman"/>
                <a:cs typeface="Times New Roman"/>
              </a:rPr>
              <a:t> sorted lists</a:t>
            </a:r>
          </a:p>
          <a:p>
            <a:pPr>
              <a:lnSpc>
                <a:spcPts val="3680"/>
              </a:lnSpc>
            </a:pPr>
            <a:endParaRPr lang="en-CA" sz="3201">
              <a:solidFill>
                <a:srgbClr val="000000"/>
              </a:solidFill>
            </a:endParaRPr>
          </a:p>
        </p:txBody>
      </p:sp>
      <p:sp>
        <p:nvSpPr>
          <p:cNvPr id="10" name="TextBox 10"/>
          <p:cNvSpPr txBox="1"/>
          <p:nvPr/>
        </p:nvSpPr>
        <p:spPr>
          <a:xfrm>
            <a:off x="762000" y="4597400"/>
            <a:ext cx="6861174" cy="1461939"/>
          </a:xfrm>
          <a:prstGeom prst="rect">
            <a:avLst/>
          </a:prstGeom>
          <a:noFill/>
        </p:spPr>
        <p:txBody>
          <a:bodyPr vert="horz" wrap="none" lIns="0" tIns="0" rIns="0" bIns="0" rtlCol="0">
            <a:spAutoFit/>
          </a:bodyPr>
          <a:lstStyle/>
          <a:p>
            <a:pPr>
              <a:lnSpc>
                <a:spcPts val="3800"/>
              </a:lnSpc>
            </a:pPr>
            <a:r>
              <a:rPr lang="en-CA" sz="3040" dirty="0">
                <a:solidFill>
                  <a:srgbClr val="CC0000"/>
                </a:solidFill>
                <a:latin typeface="Times New Roman Bold Italic"/>
                <a:cs typeface="Times New Roman Bold Italic"/>
              </a:rPr>
              <a:t>: </a:t>
            </a:r>
            <a:r>
              <a:rPr lang="en-CA" sz="3040" dirty="0">
                <a:solidFill>
                  <a:srgbClr val="000000"/>
                </a:solidFill>
                <a:latin typeface="Times New Roman"/>
                <a:cs typeface="Times New Roman"/>
              </a:rPr>
              <a:t>Should be </a:t>
            </a:r>
            <a:r>
              <a:rPr lang="en-CA" sz="3040" dirty="0">
                <a:solidFill>
                  <a:srgbClr val="9A9A00"/>
                </a:solidFill>
                <a:latin typeface="Times New Roman Italic"/>
                <a:cs typeface="Times New Roman Italic"/>
              </a:rPr>
              <a:t>T</a:t>
            </a:r>
            <a:r>
              <a:rPr lang="en-CA" sz="3040" dirty="0">
                <a:solidFill>
                  <a:srgbClr val="9A9A00"/>
                </a:solidFill>
                <a:latin typeface="Times New Roman"/>
                <a:cs typeface="Times New Roman"/>
              </a:rPr>
              <a:t>( </a:t>
            </a:r>
            <a:r>
              <a:rPr lang="en-CA" sz="2282" dirty="0">
                <a:solidFill>
                  <a:srgbClr val="9A9A00"/>
                </a:solidFill>
                <a:latin typeface="Times New Roman"/>
                <a:cs typeface="Times New Roman"/>
              </a:rPr>
              <a:t>⎡</a:t>
            </a:r>
            <a:r>
              <a:rPr lang="en-CA" sz="3040" dirty="0">
                <a:solidFill>
                  <a:srgbClr val="9A9A00"/>
                </a:solidFill>
                <a:latin typeface="Times New Roman Italic"/>
                <a:cs typeface="Times New Roman Italic"/>
              </a:rPr>
              <a:t>n</a:t>
            </a:r>
            <a:r>
              <a:rPr lang="en-CA" sz="3040" dirty="0">
                <a:solidFill>
                  <a:srgbClr val="9A9A00"/>
                </a:solidFill>
                <a:latin typeface="Times New Roman"/>
                <a:cs typeface="Times New Roman"/>
              </a:rPr>
              <a:t>/2</a:t>
            </a:r>
            <a:r>
              <a:rPr lang="en-CA" sz="2282" dirty="0">
                <a:solidFill>
                  <a:srgbClr val="9A9A00"/>
                </a:solidFill>
                <a:latin typeface="Times New Roman"/>
                <a:cs typeface="Times New Roman"/>
              </a:rPr>
              <a:t>⎤</a:t>
            </a:r>
            <a:r>
              <a:rPr lang="en-CA" sz="3040" dirty="0">
                <a:solidFill>
                  <a:srgbClr val="9A9A00"/>
                </a:solidFill>
                <a:latin typeface="Times New Roman"/>
                <a:cs typeface="Times New Roman"/>
              </a:rPr>
              <a:t> ) + </a:t>
            </a:r>
            <a:r>
              <a:rPr lang="en-CA" sz="3040" dirty="0">
                <a:solidFill>
                  <a:srgbClr val="9A9A00"/>
                </a:solidFill>
                <a:latin typeface="Times New Roman Italic"/>
                <a:cs typeface="Times New Roman Italic"/>
              </a:rPr>
              <a:t>T</a:t>
            </a:r>
            <a:r>
              <a:rPr lang="en-CA" sz="3040" dirty="0">
                <a:solidFill>
                  <a:srgbClr val="9A9A00"/>
                </a:solidFill>
                <a:latin typeface="Times New Roman"/>
                <a:cs typeface="Times New Roman"/>
              </a:rPr>
              <a:t>( </a:t>
            </a:r>
            <a:r>
              <a:rPr lang="en-CA" sz="2282" dirty="0">
                <a:solidFill>
                  <a:srgbClr val="9A9A00"/>
                </a:solidFill>
                <a:latin typeface="Times New Roman"/>
                <a:cs typeface="Times New Roman"/>
              </a:rPr>
              <a:t>⎣</a:t>
            </a:r>
            <a:r>
              <a:rPr lang="en-CA" sz="3040" dirty="0">
                <a:solidFill>
                  <a:srgbClr val="9A9A00"/>
                </a:solidFill>
                <a:latin typeface="Times New Roman Italic"/>
                <a:cs typeface="Times New Roman Italic"/>
              </a:rPr>
              <a:t>n</a:t>
            </a:r>
            <a:r>
              <a:rPr lang="en-CA" sz="3040" dirty="0">
                <a:solidFill>
                  <a:srgbClr val="9A9A00"/>
                </a:solidFill>
                <a:latin typeface="Times New Roman"/>
                <a:cs typeface="Times New Roman"/>
              </a:rPr>
              <a:t>/2</a:t>
            </a:r>
            <a:r>
              <a:rPr lang="en-CA" sz="2282" dirty="0">
                <a:solidFill>
                  <a:srgbClr val="9A9A00"/>
                </a:solidFill>
                <a:latin typeface="Times New Roman"/>
                <a:cs typeface="Times New Roman"/>
              </a:rPr>
              <a:t>⎦</a:t>
            </a:r>
            <a:r>
              <a:rPr lang="en-CA" sz="3040" dirty="0">
                <a:solidFill>
                  <a:srgbClr val="9A9A00"/>
                </a:solidFill>
                <a:latin typeface="Times New Roman"/>
                <a:cs typeface="Times New Roman"/>
              </a:rPr>
              <a:t> ) </a:t>
            </a:r>
            <a:r>
              <a:rPr lang="en-CA" sz="3040" dirty="0">
                <a:solidFill>
                  <a:srgbClr val="000000"/>
                </a:solidFill>
                <a:latin typeface="Times New Roman"/>
                <a:cs typeface="Times New Roman"/>
              </a:rPr>
              <a:t>,</a:t>
            </a:r>
            <a:br>
              <a:rPr lang="en-CA" sz="3201" dirty="0">
                <a:solidFill>
                  <a:srgbClr val="000000"/>
                </a:solidFill>
                <a:latin typeface="Times New Roman"/>
              </a:rPr>
            </a:br>
            <a:r>
              <a:rPr lang="en-CA" sz="3040" dirty="0">
                <a:solidFill>
                  <a:srgbClr val="000000"/>
                </a:solidFill>
                <a:latin typeface="Times New Roman"/>
                <a:cs typeface="Times New Roman"/>
              </a:rPr>
              <a:t>but it turns out not to matter asymptotically.</a:t>
            </a:r>
          </a:p>
          <a:p>
            <a:pPr>
              <a:lnSpc>
                <a:spcPts val="3800"/>
              </a:lnSpc>
            </a:pPr>
            <a:endParaRPr lang="en-CA" sz="3201" dirty="0">
              <a:solidFill>
                <a:srgbClr val="000000"/>
              </a:solidFill>
            </a:endParaRPr>
          </a:p>
        </p:txBody>
      </p:sp>
      <p:sp>
        <p:nvSpPr>
          <p:cNvPr id="11" name="TextBox 11"/>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12" name="TextBox 12"/>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13" name="TextBox 13"/>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4" name="TextBox 14"/>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L1.39</a:t>
            </a:r>
          </a:p>
          <a:p>
            <a:pPr>
              <a:lnSpc>
                <a:spcPts val="1610"/>
              </a:lnSpc>
            </a:pP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Recurrence for merge sort</a:t>
            </a:r>
          </a:p>
          <a:p>
            <a:pPr>
              <a:lnSpc>
                <a:spcPts val="5060"/>
              </a:lnSpc>
            </a:pPr>
            <a:endParaRPr lang="en-CA" sz="4402">
              <a:solidFill>
                <a:srgbClr val="000000"/>
              </a:solidFill>
            </a:endParaRPr>
          </a:p>
        </p:txBody>
      </p:sp>
      <p:sp>
        <p:nvSpPr>
          <p:cNvPr id="3" name="TextBox 3"/>
          <p:cNvSpPr txBox="1"/>
          <p:nvPr/>
        </p:nvSpPr>
        <p:spPr>
          <a:xfrm>
            <a:off x="2017746" y="1701788"/>
            <a:ext cx="7327900" cy="948978"/>
          </a:xfrm>
          <a:prstGeom prst="rect">
            <a:avLst/>
          </a:prstGeom>
          <a:noFill/>
        </p:spPr>
        <p:txBody>
          <a:bodyPr vert="horz" wrap="square" lIns="0" tIns="0" rIns="0" bIns="0" rtlCol="0">
            <a:spAutoFit/>
          </a:bodyPr>
          <a:lstStyle/>
          <a:p>
            <a:pPr>
              <a:lnSpc>
                <a:spcPts val="3680"/>
              </a:lnSpc>
            </a:pPr>
            <a:r>
              <a:rPr lang="en-CA" sz="3201" dirty="0">
                <a:solidFill>
                  <a:srgbClr val="9A9A00"/>
                </a:solidFill>
                <a:latin typeface="Times New Roman Italic"/>
                <a:cs typeface="Times New Roman Italic"/>
              </a:rPr>
              <a:t>T</a:t>
            </a:r>
            <a:r>
              <a:rPr lang="en-CA" sz="3201" dirty="0">
                <a:solidFill>
                  <a:srgbClr val="9A9A00"/>
                </a:solidFill>
                <a:latin typeface="Times New Roman"/>
                <a:cs typeface="Times New Roman"/>
              </a:rPr>
              <a:t>(</a:t>
            </a:r>
            <a:r>
              <a:rPr lang="en-CA" sz="3201" dirty="0">
                <a:solidFill>
                  <a:srgbClr val="9A9A00"/>
                </a:solidFill>
                <a:latin typeface="Times New Roman Italic"/>
                <a:cs typeface="Times New Roman Italic"/>
              </a:rPr>
              <a:t>n</a:t>
            </a:r>
            <a:r>
              <a:rPr lang="en-CA" sz="3201" dirty="0">
                <a:solidFill>
                  <a:srgbClr val="9A9A00"/>
                </a:solidFill>
                <a:latin typeface="Times New Roman"/>
                <a:cs typeface="Times New Roman"/>
              </a:rPr>
              <a:t>) =   Θ(1) </a:t>
            </a:r>
            <a:r>
              <a:rPr lang="en-CA" sz="3201" dirty="0">
                <a:solidFill>
                  <a:srgbClr val="000000"/>
                </a:solidFill>
                <a:latin typeface="Times New Roman"/>
                <a:cs typeface="Times New Roman"/>
              </a:rPr>
              <a:t>if</a:t>
            </a:r>
            <a:r>
              <a:rPr lang="en-CA" sz="3201" dirty="0">
                <a:solidFill>
                  <a:srgbClr val="9A9A00"/>
                </a:solidFill>
                <a:latin typeface="Times New Roman Italic"/>
                <a:cs typeface="Times New Roman Italic"/>
              </a:rPr>
              <a:t> n</a:t>
            </a:r>
            <a:r>
              <a:rPr lang="en-CA" sz="3201" dirty="0">
                <a:solidFill>
                  <a:srgbClr val="9A9A00"/>
                </a:solidFill>
                <a:latin typeface="Times New Roman"/>
                <a:cs typeface="Times New Roman"/>
              </a:rPr>
              <a:t> = 1</a:t>
            </a:r>
            <a:r>
              <a:rPr lang="en-CA" sz="3201" dirty="0">
                <a:solidFill>
                  <a:srgbClr val="000000"/>
                </a:solidFill>
                <a:latin typeface="Times New Roman"/>
                <a:cs typeface="Times New Roman"/>
              </a:rPr>
              <a:t>;</a:t>
            </a:r>
          </a:p>
          <a:p>
            <a:pPr>
              <a:lnSpc>
                <a:spcPts val="3680"/>
              </a:lnSpc>
            </a:pPr>
            <a:endParaRPr lang="en-CA" sz="3201" dirty="0">
              <a:solidFill>
                <a:srgbClr val="000000"/>
              </a:solidFill>
            </a:endParaRPr>
          </a:p>
        </p:txBody>
      </p:sp>
      <p:sp>
        <p:nvSpPr>
          <p:cNvPr id="4" name="TextBox 4"/>
          <p:cNvSpPr txBox="1"/>
          <p:nvPr/>
        </p:nvSpPr>
        <p:spPr>
          <a:xfrm>
            <a:off x="3314700" y="2449510"/>
            <a:ext cx="5803900" cy="609600"/>
          </a:xfrm>
          <a:prstGeom prst="rect">
            <a:avLst/>
          </a:prstGeom>
          <a:noFill/>
        </p:spPr>
        <p:txBody>
          <a:bodyPr vert="horz" wrap="none" lIns="0" tIns="0" rIns="0" bIns="0" rtlCol="0">
            <a:spAutoFit/>
          </a:bodyPr>
          <a:lstStyle/>
          <a:p>
            <a:pPr>
              <a:lnSpc>
                <a:spcPts val="2880"/>
              </a:lnSpc>
            </a:pPr>
            <a:r>
              <a:rPr lang="en-CA" sz="3201" dirty="0">
                <a:solidFill>
                  <a:srgbClr val="9A9A00"/>
                </a:solidFill>
                <a:latin typeface="Times New Roman"/>
                <a:cs typeface="Times New Roman"/>
              </a:rPr>
              <a:t>2</a:t>
            </a:r>
            <a:r>
              <a:rPr lang="en-CA" sz="3201" dirty="0">
                <a:solidFill>
                  <a:srgbClr val="9A9A00"/>
                </a:solidFill>
                <a:latin typeface="Times New Roman Italic"/>
                <a:cs typeface="Times New Roman Italic"/>
              </a:rPr>
              <a:t>T</a:t>
            </a:r>
            <a:r>
              <a:rPr lang="en-CA" sz="3201" dirty="0">
                <a:solidFill>
                  <a:srgbClr val="9A9A00"/>
                </a:solidFill>
                <a:latin typeface="Times New Roman"/>
                <a:cs typeface="Times New Roman"/>
              </a:rPr>
              <a:t>(</a:t>
            </a:r>
            <a:r>
              <a:rPr lang="en-CA" sz="3201" dirty="0">
                <a:solidFill>
                  <a:srgbClr val="9A9A00"/>
                </a:solidFill>
                <a:latin typeface="Times New Roman Italic"/>
                <a:cs typeface="Times New Roman Italic"/>
              </a:rPr>
              <a:t>n</a:t>
            </a:r>
            <a:r>
              <a:rPr lang="en-CA" sz="3201" dirty="0">
                <a:solidFill>
                  <a:srgbClr val="9A9A00"/>
                </a:solidFill>
                <a:latin typeface="Times New Roman"/>
                <a:cs typeface="Times New Roman"/>
              </a:rPr>
              <a:t>/2) + Θ(</a:t>
            </a:r>
            <a:r>
              <a:rPr lang="en-CA" sz="3201" dirty="0">
                <a:solidFill>
                  <a:srgbClr val="9A9A00"/>
                </a:solidFill>
                <a:latin typeface="Times New Roman Italic"/>
                <a:cs typeface="Times New Roman Italic"/>
              </a:rPr>
              <a:t>n</a:t>
            </a:r>
            <a:r>
              <a:rPr lang="en-CA" sz="3201" dirty="0">
                <a:solidFill>
                  <a:srgbClr val="9A9A00"/>
                </a:solidFill>
                <a:latin typeface="Times New Roman"/>
                <a:cs typeface="Times New Roman"/>
              </a:rPr>
              <a:t>) </a:t>
            </a:r>
            <a:r>
              <a:rPr lang="en-CA" sz="3201" dirty="0">
                <a:solidFill>
                  <a:srgbClr val="000000"/>
                </a:solidFill>
                <a:latin typeface="Times New Roman"/>
                <a:cs typeface="Times New Roman"/>
              </a:rPr>
              <a:t>if</a:t>
            </a:r>
            <a:r>
              <a:rPr lang="en-CA" sz="3201" dirty="0">
                <a:solidFill>
                  <a:srgbClr val="9A9A00"/>
                </a:solidFill>
                <a:latin typeface="Times New Roman Italic"/>
                <a:cs typeface="Times New Roman Italic"/>
              </a:rPr>
              <a:t> n</a:t>
            </a:r>
            <a:r>
              <a:rPr lang="en-CA" sz="3201" dirty="0">
                <a:solidFill>
                  <a:srgbClr val="9A9A00"/>
                </a:solidFill>
                <a:latin typeface="Times New Roman"/>
                <a:cs typeface="Times New Roman"/>
              </a:rPr>
              <a:t> &gt; 1</a:t>
            </a:r>
            <a:r>
              <a:rPr lang="en-CA" sz="3201" dirty="0">
                <a:solidFill>
                  <a:srgbClr val="000000"/>
                </a:solidFill>
                <a:latin typeface="Times New Roman"/>
                <a:cs typeface="Times New Roman"/>
              </a:rPr>
              <a:t>.</a:t>
            </a:r>
          </a:p>
          <a:p>
            <a:pPr>
              <a:lnSpc>
                <a:spcPts val="2880"/>
              </a:lnSpc>
            </a:pPr>
            <a:endParaRPr lang="en-CA" sz="3201" dirty="0">
              <a:solidFill>
                <a:srgbClr val="000000"/>
              </a:solidFill>
            </a:endParaRPr>
          </a:p>
        </p:txBody>
      </p:sp>
      <p:sp>
        <p:nvSpPr>
          <p:cNvPr id="5" name="TextBox 5"/>
          <p:cNvSpPr txBox="1"/>
          <p:nvPr/>
        </p:nvSpPr>
        <p:spPr>
          <a:xfrm>
            <a:off x="977900" y="2971800"/>
            <a:ext cx="8140700" cy="1841500"/>
          </a:xfrm>
          <a:prstGeom prst="rect">
            <a:avLst/>
          </a:prstGeom>
          <a:noFill/>
        </p:spPr>
        <p:txBody>
          <a:bodyPr vert="horz" wrap="none" lIns="0" tIns="0" rIns="0" bIns="0" rtlCol="0">
            <a:spAutoFit/>
          </a:bodyPr>
          <a:lstStyle/>
          <a:p>
            <a:pPr>
              <a:lnSpc>
                <a:spcPts val="3265"/>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We shall usually omit stating the base</a:t>
            </a:r>
            <a:br>
              <a:rPr lang="en-CA" sz="3201">
                <a:solidFill>
                  <a:srgbClr val="000000"/>
                </a:solidFill>
                <a:latin typeface="Times New Roman"/>
              </a:rPr>
            </a:br>
            <a:r>
              <a:rPr lang="en-CA" sz="3201">
                <a:solidFill>
                  <a:srgbClr val="000000"/>
                </a:solidFill>
                <a:latin typeface="Times New Roman"/>
                <a:cs typeface="Times New Roman"/>
              </a:rPr>
              <a:t>case when </a:t>
            </a:r>
            <a:r>
              <a:rPr lang="en-CA" sz="3201">
                <a:solidFill>
                  <a:srgbClr val="9A9A00"/>
                </a:solidFill>
                <a:latin typeface="Times New Roman Italic"/>
                <a:cs typeface="Times New Roman Italic"/>
              </a:rPr>
              <a:t>T</a:t>
            </a:r>
            <a:r>
              <a:rPr lang="en-CA" sz="3201">
                <a:solidFill>
                  <a:srgbClr val="9A9A00"/>
                </a:solidFill>
                <a:latin typeface="Times New Roman"/>
                <a:cs typeface="Times New Roman"/>
              </a:rPr>
              <a:t>(</a:t>
            </a:r>
            <a:r>
              <a:rPr lang="en-CA" sz="3201">
                <a:solidFill>
                  <a:srgbClr val="9A9A00"/>
                </a:solidFill>
                <a:latin typeface="Times New Roman Italic"/>
                <a:cs typeface="Times New Roman Italic"/>
              </a:rPr>
              <a:t>n</a:t>
            </a:r>
            <a:r>
              <a:rPr lang="en-CA" sz="3201">
                <a:solidFill>
                  <a:srgbClr val="9A9A00"/>
                </a:solidFill>
                <a:latin typeface="Times New Roman"/>
                <a:cs typeface="Times New Roman"/>
              </a:rPr>
              <a:t>) = Θ(1)</a:t>
            </a:r>
            <a:r>
              <a:rPr lang="en-CA" sz="3201">
                <a:solidFill>
                  <a:srgbClr val="000000"/>
                </a:solidFill>
                <a:latin typeface="Times New Roman"/>
                <a:cs typeface="Times New Roman"/>
              </a:rPr>
              <a:t> for sufficiently</a:t>
            </a:r>
            <a:br>
              <a:rPr lang="en-CA" sz="3201">
                <a:solidFill>
                  <a:srgbClr val="000000"/>
                </a:solidFill>
                <a:latin typeface="Times New Roman"/>
              </a:rPr>
            </a:br>
            <a:r>
              <a:rPr lang="en-CA" sz="3201">
                <a:solidFill>
                  <a:srgbClr val="000000"/>
                </a:solidFill>
                <a:latin typeface="Times New Roman"/>
                <a:cs typeface="Times New Roman"/>
              </a:rPr>
              <a:t>small </a:t>
            </a:r>
            <a:r>
              <a:rPr lang="en-CA" sz="3201">
                <a:solidFill>
                  <a:srgbClr val="9A9A00"/>
                </a:solidFill>
                <a:latin typeface="Times New Roman Italic"/>
                <a:cs typeface="Times New Roman Italic"/>
              </a:rPr>
              <a:t>n</a:t>
            </a:r>
            <a:r>
              <a:rPr lang="en-CA" sz="3201">
                <a:solidFill>
                  <a:srgbClr val="000000"/>
                </a:solidFill>
                <a:latin typeface="Times New Roman"/>
                <a:cs typeface="Times New Roman"/>
              </a:rPr>
              <a:t>, but only when it has no effect on</a:t>
            </a:r>
            <a:br>
              <a:rPr lang="en-CA" sz="3201">
                <a:solidFill>
                  <a:srgbClr val="000000"/>
                </a:solidFill>
                <a:latin typeface="Times New Roman"/>
              </a:rPr>
            </a:br>
            <a:r>
              <a:rPr lang="en-CA" sz="3201">
                <a:solidFill>
                  <a:srgbClr val="000000"/>
                </a:solidFill>
                <a:latin typeface="Times New Roman"/>
                <a:cs typeface="Times New Roman"/>
              </a:rPr>
              <a:t>the asymptotic solution to the recurrence.</a:t>
            </a:r>
          </a:p>
          <a:p>
            <a:pPr>
              <a:lnSpc>
                <a:spcPts val="3265"/>
              </a:lnSpc>
            </a:pPr>
            <a:endParaRPr lang="en-CA" sz="3201">
              <a:solidFill>
                <a:srgbClr val="000000"/>
              </a:solidFill>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L1.40</a:t>
            </a:r>
          </a:p>
          <a:p>
            <a:pPr>
              <a:lnSpc>
                <a:spcPts val="1610"/>
              </a:lnSpc>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8" name="TextBox 2"/>
          <p:cNvSpPr txBox="1"/>
          <p:nvPr/>
        </p:nvSpPr>
        <p:spPr>
          <a:xfrm>
            <a:off x="1524000" y="533400"/>
            <a:ext cx="3526030" cy="1308050"/>
          </a:xfrm>
          <a:prstGeom prst="rect">
            <a:avLst/>
          </a:prstGeom>
          <a:noFill/>
        </p:spPr>
        <p:txBody>
          <a:bodyPr vert="horz" wrap="none" lIns="0" tIns="0" rIns="0" bIns="0" rtlCol="0">
            <a:spAutoFit/>
          </a:bodyPr>
          <a:lstStyle/>
          <a:p>
            <a:pPr>
              <a:lnSpc>
                <a:spcPts val="5060"/>
              </a:lnSpc>
            </a:pPr>
            <a:r>
              <a:rPr lang="en-CA" sz="4412" b="1">
                <a:latin typeface="Times New Roman Bold"/>
                <a:cs typeface="Times New Roman Bold"/>
              </a:rPr>
              <a:t>Recursion tree</a:t>
            </a:r>
          </a:p>
          <a:p>
            <a:pPr>
              <a:lnSpc>
                <a:spcPts val="5060"/>
              </a:lnSpc>
            </a:pPr>
            <a:endParaRPr lang="en-CA" sz="4402"/>
          </a:p>
        </p:txBody>
      </p:sp>
      <p:sp>
        <p:nvSpPr>
          <p:cNvPr id="3" name="TextBox 3"/>
          <p:cNvSpPr txBox="1"/>
          <p:nvPr/>
        </p:nvSpPr>
        <p:spPr>
          <a:xfrm>
            <a:off x="431800" y="1574800"/>
            <a:ext cx="8317983" cy="948978"/>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Solve </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 = 2</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/2) + </a:t>
            </a:r>
            <a:r>
              <a:rPr lang="en-CA" sz="3201">
                <a:latin typeface="Times New Roman Italic"/>
                <a:cs typeface="Times New Roman Italic"/>
              </a:rPr>
              <a:t>cn</a:t>
            </a:r>
            <a:r>
              <a:rPr lang="en-CA" sz="3201">
                <a:latin typeface="Times New Roman"/>
                <a:cs typeface="Times New Roman"/>
              </a:rPr>
              <a:t>, where </a:t>
            </a:r>
            <a:r>
              <a:rPr lang="en-CA" sz="3201">
                <a:latin typeface="Times New Roman Italic"/>
                <a:cs typeface="Times New Roman Italic"/>
              </a:rPr>
              <a:t>c </a:t>
            </a:r>
            <a:r>
              <a:rPr lang="en-CA" sz="3201">
                <a:latin typeface="Times New Roman"/>
                <a:cs typeface="Times New Roman"/>
              </a:rPr>
              <a:t>&gt; 0 is constant.</a:t>
            </a:r>
          </a:p>
          <a:p>
            <a:pPr>
              <a:lnSpc>
                <a:spcPts val="3680"/>
              </a:lnSpc>
            </a:pPr>
            <a:endParaRPr lang="en-CA" sz="3201"/>
          </a:p>
        </p:txBody>
      </p:sp>
      <p:sp>
        <p:nvSpPr>
          <p:cNvPr id="4" name="TextBox 4"/>
          <p:cNvSpPr txBox="1"/>
          <p:nvPr/>
        </p:nvSpPr>
        <p:spPr>
          <a:xfrm>
            <a:off x="2590800" y="6426200"/>
            <a:ext cx="38472" cy="359073"/>
          </a:xfrm>
          <a:prstGeom prst="rect">
            <a:avLst/>
          </a:prstGeom>
          <a:noFill/>
        </p:spPr>
        <p:txBody>
          <a:bodyPr vert="horz" wrap="none" lIns="0" tIns="0" rIns="0" bIns="0" rtlCol="0">
            <a:spAutoFit/>
          </a:bodyPr>
          <a:lstStyle/>
          <a:p>
            <a:pPr>
              <a:lnSpc>
                <a:spcPts val="1380"/>
              </a:lnSpc>
            </a:pPr>
            <a:r>
              <a:rPr lang="en-CA" sz="1201" dirty="0">
                <a:latin typeface="Times New Roman Italic"/>
                <a:cs typeface="Times New Roman Italic"/>
              </a:rPr>
              <a:t> </a:t>
            </a:r>
          </a:p>
          <a:p>
            <a:pPr>
              <a:lnSpc>
                <a:spcPts val="1380"/>
              </a:lnSpc>
            </a:pPr>
            <a:endParaRPr lang="en-CA" sz="1201" dirty="0"/>
          </a:p>
        </p:txBody>
      </p:sp>
      <p:sp>
        <p:nvSpPr>
          <p:cNvPr id="5" name="TextBox 5"/>
          <p:cNvSpPr txBox="1"/>
          <p:nvPr/>
        </p:nvSpPr>
        <p:spPr>
          <a:xfrm>
            <a:off x="762000" y="6578600"/>
            <a:ext cx="947375" cy="359073"/>
          </a:xfrm>
          <a:prstGeom prst="rect">
            <a:avLst/>
          </a:prstGeom>
          <a:noFill/>
        </p:spPr>
        <p:txBody>
          <a:bodyPr vert="horz" wrap="none" lIns="0" tIns="0" rIns="0" bIns="0" rtlCol="0">
            <a:spAutoFit/>
          </a:bodyPr>
          <a:lstStyle/>
          <a:p>
            <a:pPr>
              <a:lnSpc>
                <a:spcPts val="1420"/>
              </a:lnSpc>
            </a:pPr>
            <a:r>
              <a:rPr lang="en-CA" sz="1399" dirty="0" err="1">
                <a:latin typeface="Times New Roman"/>
                <a:cs typeface="Times New Roman"/>
              </a:rPr>
              <a:t>feb</a:t>
            </a:r>
            <a:r>
              <a:rPr lang="en-CA" sz="1399" dirty="0">
                <a:latin typeface="Times New Roman"/>
                <a:cs typeface="Times New Roman"/>
              </a:rPr>
              <a:t>  13, 2012</a:t>
            </a:r>
          </a:p>
          <a:p>
            <a:pPr>
              <a:lnSpc>
                <a:spcPts val="1420"/>
              </a:lnSpc>
            </a:pPr>
            <a:endParaRPr/>
          </a:p>
        </p:txBody>
      </p:sp>
      <p:sp>
        <p:nvSpPr>
          <p:cNvPr id="6" name="TextBox 6"/>
          <p:cNvSpPr txBox="1"/>
          <p:nvPr/>
        </p:nvSpPr>
        <p:spPr>
          <a:xfrm>
            <a:off x="3594100" y="6578600"/>
            <a:ext cx="1915268" cy="410369"/>
          </a:xfrm>
          <a:prstGeom prst="rect">
            <a:avLst/>
          </a:prstGeom>
          <a:noFill/>
        </p:spPr>
        <p:txBody>
          <a:bodyPr vert="horz" wrap="none" lIns="0" tIns="0" rIns="0" bIns="0" rtlCol="0">
            <a:spAutoFit/>
          </a:bodyPr>
          <a:lstStyle/>
          <a:p>
            <a:pPr>
              <a:lnSpc>
                <a:spcPts val="1610"/>
              </a:lnSpc>
            </a:pPr>
            <a:r>
              <a:rPr lang="en-CA" sz="1399">
                <a:latin typeface="Times New Roman Italic"/>
                <a:cs typeface="Times New Roman Italic"/>
              </a:rPr>
              <a:t>Introduction to Algorithms</a:t>
            </a:r>
          </a:p>
          <a:p>
            <a:pPr>
              <a:lnSpc>
                <a:spcPts val="1610"/>
              </a:lnSpc>
            </a:pPr>
            <a:endParaRPr/>
          </a:p>
        </p:txBody>
      </p:sp>
      <p:sp>
        <p:nvSpPr>
          <p:cNvPr id="7" name="TextBox 7"/>
          <p:cNvSpPr txBox="1"/>
          <p:nvPr/>
        </p:nvSpPr>
        <p:spPr>
          <a:xfrm>
            <a:off x="7924800" y="6578600"/>
            <a:ext cx="423193" cy="419987"/>
          </a:xfrm>
          <a:prstGeom prst="rect">
            <a:avLst/>
          </a:prstGeom>
          <a:noFill/>
        </p:spPr>
        <p:txBody>
          <a:bodyPr vert="horz" wrap="none" lIns="0" tIns="0" rIns="0" bIns="0" rtlCol="0">
            <a:spAutoFit/>
          </a:bodyPr>
          <a:lstStyle/>
          <a:p>
            <a:pPr>
              <a:lnSpc>
                <a:spcPts val="1610"/>
              </a:lnSpc>
            </a:pPr>
            <a:r>
              <a:rPr lang="en-CA" sz="1399">
                <a:latin typeface="Times New Roman"/>
                <a:cs typeface="Times New Roman"/>
              </a:rPr>
              <a:t>L1.41</a:t>
            </a:r>
          </a:p>
          <a:p>
            <a:pPr>
              <a:lnSpc>
                <a:spcPts val="1610"/>
              </a:lnSpc>
            </a:pP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8"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Recursion tree</a:t>
            </a:r>
          </a:p>
          <a:p>
            <a:pPr>
              <a:lnSpc>
                <a:spcPts val="5060"/>
              </a:lnSpc>
            </a:pPr>
            <a:endParaRPr lang="en-CA" sz="4402">
              <a:solidFill>
                <a:srgbClr val="000000"/>
              </a:solidFill>
            </a:endParaRPr>
          </a:p>
        </p:txBody>
      </p:sp>
      <p:sp>
        <p:nvSpPr>
          <p:cNvPr id="3" name="TextBox 3"/>
          <p:cNvSpPr txBox="1"/>
          <p:nvPr/>
        </p:nvSpPr>
        <p:spPr>
          <a:xfrm>
            <a:off x="431800" y="1422400"/>
            <a:ext cx="8486298" cy="2000548"/>
          </a:xfrm>
          <a:prstGeom prst="rect">
            <a:avLst/>
          </a:prstGeom>
          <a:noFill/>
        </p:spPr>
        <p:txBody>
          <a:bodyPr vert="horz" wrap="none" lIns="0" tIns="0" rIns="0" bIns="0" rtlCol="0">
            <a:spAutoFit/>
          </a:bodyPr>
          <a:lstStyle/>
          <a:p>
            <a:pPr>
              <a:lnSpc>
                <a:spcPts val="5200"/>
              </a:lnSpc>
              <a:tabLst>
                <a:tab pos="3771900" algn="l"/>
              </a:tabLst>
            </a:pPr>
            <a:r>
              <a:rPr lang="en-CA" sz="3201" dirty="0">
                <a:latin typeface="Times New Roman"/>
                <a:cs typeface="Times New Roman"/>
              </a:rPr>
              <a:t>Solve </a:t>
            </a:r>
            <a:r>
              <a:rPr lang="en-CA" sz="3201" dirty="0">
                <a:latin typeface="Times New Roman Italic"/>
                <a:cs typeface="Times New Roman Italic"/>
              </a:rPr>
              <a:t>T</a:t>
            </a:r>
            <a:r>
              <a:rPr lang="en-CA" sz="3201" dirty="0">
                <a:latin typeface="Times New Roman"/>
                <a:cs typeface="Times New Roman"/>
              </a:rPr>
              <a:t>(</a:t>
            </a:r>
            <a:r>
              <a:rPr lang="en-CA" sz="3201" dirty="0">
                <a:latin typeface="Times New Roman Italic"/>
                <a:cs typeface="Times New Roman Italic"/>
              </a:rPr>
              <a:t>n</a:t>
            </a:r>
            <a:r>
              <a:rPr lang="en-CA" sz="3201" dirty="0">
                <a:latin typeface="Times New Roman"/>
                <a:cs typeface="Times New Roman"/>
              </a:rPr>
              <a:t>) = 2</a:t>
            </a:r>
            <a:r>
              <a:rPr lang="en-CA" sz="3201" dirty="0">
                <a:latin typeface="Times New Roman Italic"/>
                <a:cs typeface="Times New Roman Italic"/>
              </a:rPr>
              <a:t>T</a:t>
            </a:r>
            <a:r>
              <a:rPr lang="en-CA" sz="3201" dirty="0">
                <a:latin typeface="Times New Roman"/>
                <a:cs typeface="Times New Roman"/>
              </a:rPr>
              <a:t>(</a:t>
            </a:r>
            <a:r>
              <a:rPr lang="en-CA" sz="3201" dirty="0">
                <a:latin typeface="Times New Roman Italic"/>
                <a:cs typeface="Times New Roman Italic"/>
              </a:rPr>
              <a:t>n</a:t>
            </a:r>
            <a:r>
              <a:rPr lang="en-CA" sz="3201" dirty="0">
                <a:latin typeface="Times New Roman"/>
                <a:cs typeface="Times New Roman"/>
              </a:rPr>
              <a:t>/2) + </a:t>
            </a:r>
            <a:r>
              <a:rPr lang="en-CA" sz="3201" dirty="0" err="1">
                <a:latin typeface="Times New Roman Italic"/>
                <a:cs typeface="Times New Roman Italic"/>
              </a:rPr>
              <a:t>cn</a:t>
            </a:r>
            <a:r>
              <a:rPr lang="en-CA" sz="3201" dirty="0">
                <a:latin typeface="Times New Roman"/>
                <a:cs typeface="Times New Roman"/>
              </a:rPr>
              <a:t>, where </a:t>
            </a:r>
            <a:r>
              <a:rPr lang="en-CA" sz="3201" dirty="0">
                <a:latin typeface="Times New Roman Italic"/>
                <a:cs typeface="Times New Roman Italic"/>
              </a:rPr>
              <a:t>c </a:t>
            </a:r>
            <a:r>
              <a:rPr lang="en-CA" sz="3201" dirty="0">
                <a:latin typeface="Times New Roman"/>
                <a:cs typeface="Times New Roman"/>
              </a:rPr>
              <a:t>&gt; 0 is constant.</a:t>
            </a:r>
            <a:br>
              <a:rPr lang="en-CA" sz="3201" dirty="0">
                <a:latin typeface="Times New Roman"/>
              </a:rPr>
            </a:br>
            <a:r>
              <a:rPr lang="en-CA" sz="3201" dirty="0">
                <a:latin typeface="Times New Roman Italic"/>
                <a:cs typeface="Times New Roman Italic"/>
              </a:rPr>
              <a:t>	T</a:t>
            </a:r>
            <a:r>
              <a:rPr lang="en-CA" sz="3201" dirty="0">
                <a:latin typeface="Times New Roman"/>
                <a:cs typeface="Times New Roman"/>
              </a:rPr>
              <a:t>(</a:t>
            </a:r>
            <a:r>
              <a:rPr lang="en-CA" sz="3201" dirty="0">
                <a:latin typeface="Times New Roman Italic"/>
                <a:cs typeface="Times New Roman Italic"/>
              </a:rPr>
              <a:t>n</a:t>
            </a:r>
            <a:r>
              <a:rPr lang="en-CA" sz="3201" dirty="0">
                <a:latin typeface="Times New Roman"/>
                <a:cs typeface="Times New Roman"/>
              </a:rPr>
              <a:t>)</a:t>
            </a:r>
          </a:p>
          <a:p>
            <a:pPr>
              <a:lnSpc>
                <a:spcPts val="5200"/>
              </a:lnSpc>
            </a:pPr>
            <a:endParaRPr lang="en-CA" sz="3201" dirty="0"/>
          </a:p>
        </p:txBody>
      </p:sp>
      <p:sp>
        <p:nvSpPr>
          <p:cNvPr id="4" name="TextBox 4"/>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5" name="TextBox 5"/>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6" name="TextBox 6"/>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7" name="TextBox 7"/>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L1.42</a:t>
            </a:r>
          </a:p>
          <a:p>
            <a:pPr>
              <a:lnSpc>
                <a:spcPts val="1610"/>
              </a:lnSpc>
            </a:pP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0" name="TextBox 2"/>
          <p:cNvSpPr txBox="1"/>
          <p:nvPr/>
        </p:nvSpPr>
        <p:spPr>
          <a:xfrm>
            <a:off x="1524000" y="533400"/>
            <a:ext cx="3526030" cy="1308050"/>
          </a:xfrm>
          <a:prstGeom prst="rect">
            <a:avLst/>
          </a:prstGeom>
          <a:noFill/>
        </p:spPr>
        <p:txBody>
          <a:bodyPr vert="horz" wrap="none" lIns="0" tIns="0" rIns="0" bIns="0" rtlCol="0">
            <a:spAutoFit/>
          </a:bodyPr>
          <a:lstStyle/>
          <a:p>
            <a:pPr>
              <a:lnSpc>
                <a:spcPts val="5060"/>
              </a:lnSpc>
            </a:pPr>
            <a:r>
              <a:rPr lang="en-CA" sz="4412" b="1">
                <a:latin typeface="Times New Roman Bold"/>
                <a:cs typeface="Times New Roman Bold"/>
              </a:rPr>
              <a:t>Recursion tree</a:t>
            </a:r>
          </a:p>
          <a:p>
            <a:pPr>
              <a:lnSpc>
                <a:spcPts val="5060"/>
              </a:lnSpc>
            </a:pPr>
            <a:endParaRPr lang="en-CA" sz="4402"/>
          </a:p>
        </p:txBody>
      </p:sp>
      <p:sp>
        <p:nvSpPr>
          <p:cNvPr id="3" name="TextBox 3"/>
          <p:cNvSpPr txBox="1"/>
          <p:nvPr/>
        </p:nvSpPr>
        <p:spPr>
          <a:xfrm>
            <a:off x="431800" y="1485900"/>
            <a:ext cx="8317983" cy="1769715"/>
          </a:xfrm>
          <a:prstGeom prst="rect">
            <a:avLst/>
          </a:prstGeom>
          <a:noFill/>
        </p:spPr>
        <p:txBody>
          <a:bodyPr vert="horz" wrap="none" lIns="0" tIns="0" rIns="0" bIns="0" rtlCol="0">
            <a:spAutoFit/>
          </a:bodyPr>
          <a:lstStyle/>
          <a:p>
            <a:pPr>
              <a:lnSpc>
                <a:spcPts val="4600"/>
              </a:lnSpc>
              <a:tabLst>
                <a:tab pos="3924300" algn="l"/>
              </a:tabLst>
            </a:pPr>
            <a:r>
              <a:rPr lang="en-CA" sz="3201">
                <a:latin typeface="Times New Roman"/>
                <a:cs typeface="Times New Roman"/>
              </a:rPr>
              <a:t>Solve </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 = 2</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/2) + </a:t>
            </a:r>
            <a:r>
              <a:rPr lang="en-CA" sz="3201">
                <a:latin typeface="Times New Roman Italic"/>
                <a:cs typeface="Times New Roman Italic"/>
              </a:rPr>
              <a:t>cn</a:t>
            </a:r>
            <a:r>
              <a:rPr lang="en-CA" sz="3201">
                <a:latin typeface="Times New Roman"/>
                <a:cs typeface="Times New Roman"/>
              </a:rPr>
              <a:t>, where </a:t>
            </a:r>
            <a:r>
              <a:rPr lang="en-CA" sz="3201">
                <a:latin typeface="Times New Roman Italic"/>
                <a:cs typeface="Times New Roman Italic"/>
              </a:rPr>
              <a:t>c </a:t>
            </a:r>
            <a:r>
              <a:rPr lang="en-CA" sz="3201">
                <a:latin typeface="Times New Roman"/>
                <a:cs typeface="Times New Roman"/>
              </a:rPr>
              <a:t>&gt; 0 is constant.</a:t>
            </a:r>
            <a:br>
              <a:rPr lang="en-CA" sz="3201">
                <a:latin typeface="Times New Roman"/>
              </a:rPr>
            </a:br>
            <a:r>
              <a:rPr lang="en-CA" sz="3201">
                <a:latin typeface="Times New Roman Italic"/>
                <a:cs typeface="Times New Roman Italic"/>
              </a:rPr>
              <a:t>	cn</a:t>
            </a:r>
          </a:p>
          <a:p>
            <a:pPr>
              <a:lnSpc>
                <a:spcPts val="4600"/>
              </a:lnSpc>
            </a:pPr>
            <a:endParaRPr lang="en-CA" sz="3201"/>
          </a:p>
        </p:txBody>
      </p:sp>
      <p:sp>
        <p:nvSpPr>
          <p:cNvPr id="4" name="TextBox 4"/>
          <p:cNvSpPr txBox="1"/>
          <p:nvPr/>
        </p:nvSpPr>
        <p:spPr>
          <a:xfrm>
            <a:off x="2438400" y="2921000"/>
            <a:ext cx="1024319" cy="891270"/>
          </a:xfrm>
          <a:prstGeom prst="rect">
            <a:avLst/>
          </a:prstGeom>
          <a:noFill/>
        </p:spPr>
        <p:txBody>
          <a:bodyPr vert="horz" wrap="none" lIns="0" tIns="0" rIns="0" bIns="0" rtlCol="0">
            <a:spAutoFit/>
          </a:bodyPr>
          <a:lstStyle/>
          <a:p>
            <a:pPr>
              <a:lnSpc>
                <a:spcPts val="3735"/>
              </a:lnSpc>
            </a:pP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/2)</a:t>
            </a:r>
          </a:p>
          <a:p>
            <a:pPr>
              <a:lnSpc>
                <a:spcPts val="3735"/>
              </a:lnSpc>
            </a:pPr>
            <a:endParaRPr/>
          </a:p>
        </p:txBody>
      </p:sp>
      <p:sp>
        <p:nvSpPr>
          <p:cNvPr id="5" name="TextBox 5"/>
          <p:cNvSpPr txBox="1"/>
          <p:nvPr/>
        </p:nvSpPr>
        <p:spPr>
          <a:xfrm>
            <a:off x="5651500" y="2908300"/>
            <a:ext cx="1024319" cy="891270"/>
          </a:xfrm>
          <a:prstGeom prst="rect">
            <a:avLst/>
          </a:prstGeom>
          <a:noFill/>
        </p:spPr>
        <p:txBody>
          <a:bodyPr vert="horz" wrap="none" lIns="0" tIns="0" rIns="0" bIns="0" rtlCol="0">
            <a:spAutoFit/>
          </a:bodyPr>
          <a:lstStyle/>
          <a:p>
            <a:pPr>
              <a:lnSpc>
                <a:spcPts val="3680"/>
              </a:lnSpc>
            </a:pP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/2)</a:t>
            </a:r>
          </a:p>
          <a:p>
            <a:pPr>
              <a:lnSpc>
                <a:spcPts val="3680"/>
              </a:lnSpc>
            </a:pPr>
            <a:endParaRPr/>
          </a:p>
        </p:txBody>
      </p:sp>
      <p:sp>
        <p:nvSpPr>
          <p:cNvPr id="6" name="TextBox 6"/>
          <p:cNvSpPr txBox="1"/>
          <p:nvPr/>
        </p:nvSpPr>
        <p:spPr>
          <a:xfrm>
            <a:off x="2590800" y="6426200"/>
            <a:ext cx="38472" cy="375103"/>
          </a:xfrm>
          <a:prstGeom prst="rect">
            <a:avLst/>
          </a:prstGeom>
          <a:noFill/>
        </p:spPr>
        <p:txBody>
          <a:bodyPr vert="horz" wrap="none" lIns="0" tIns="0" rIns="0" bIns="0" rtlCol="0">
            <a:spAutoFit/>
          </a:bodyPr>
          <a:lstStyle/>
          <a:p>
            <a:pPr>
              <a:lnSpc>
                <a:spcPts val="1380"/>
              </a:lnSpc>
            </a:pPr>
            <a:r>
              <a:rPr lang="en-CA" sz="1201" dirty="0">
                <a:latin typeface="Times New Roman Italic"/>
                <a:cs typeface="Times New Roman Italic"/>
              </a:rPr>
              <a:t> </a:t>
            </a:r>
          </a:p>
          <a:p>
            <a:pPr>
              <a:lnSpc>
                <a:spcPts val="1380"/>
              </a:lnSpc>
            </a:pPr>
            <a:endParaRPr/>
          </a:p>
        </p:txBody>
      </p:sp>
      <p:sp>
        <p:nvSpPr>
          <p:cNvPr id="7" name="TextBox 7"/>
          <p:cNvSpPr txBox="1"/>
          <p:nvPr/>
        </p:nvSpPr>
        <p:spPr>
          <a:xfrm>
            <a:off x="762000" y="6578600"/>
            <a:ext cx="947375" cy="359073"/>
          </a:xfrm>
          <a:prstGeom prst="rect">
            <a:avLst/>
          </a:prstGeom>
          <a:noFill/>
        </p:spPr>
        <p:txBody>
          <a:bodyPr vert="horz" wrap="none" lIns="0" tIns="0" rIns="0" bIns="0" rtlCol="0">
            <a:spAutoFit/>
          </a:bodyPr>
          <a:lstStyle/>
          <a:p>
            <a:pPr>
              <a:lnSpc>
                <a:spcPts val="1410"/>
              </a:lnSpc>
            </a:pPr>
            <a:r>
              <a:rPr lang="en-CA" sz="1399" dirty="0" err="1">
                <a:latin typeface="Times New Roman"/>
                <a:cs typeface="Times New Roman"/>
              </a:rPr>
              <a:t>feb</a:t>
            </a:r>
            <a:r>
              <a:rPr lang="en-CA" sz="1399" dirty="0">
                <a:latin typeface="Times New Roman"/>
                <a:cs typeface="Times New Roman"/>
              </a:rPr>
              <a:t>  13, 2012</a:t>
            </a:r>
          </a:p>
          <a:p>
            <a:pPr>
              <a:lnSpc>
                <a:spcPts val="1410"/>
              </a:lnSpc>
            </a:pPr>
            <a:endParaRPr/>
          </a:p>
        </p:txBody>
      </p:sp>
      <p:sp>
        <p:nvSpPr>
          <p:cNvPr id="8" name="TextBox 8"/>
          <p:cNvSpPr txBox="1"/>
          <p:nvPr/>
        </p:nvSpPr>
        <p:spPr>
          <a:xfrm>
            <a:off x="3594100" y="6578600"/>
            <a:ext cx="1915268" cy="410369"/>
          </a:xfrm>
          <a:prstGeom prst="rect">
            <a:avLst/>
          </a:prstGeom>
          <a:noFill/>
        </p:spPr>
        <p:txBody>
          <a:bodyPr vert="horz" wrap="none" lIns="0" tIns="0" rIns="0" bIns="0" rtlCol="0">
            <a:spAutoFit/>
          </a:bodyPr>
          <a:lstStyle/>
          <a:p>
            <a:pPr>
              <a:lnSpc>
                <a:spcPts val="1610"/>
              </a:lnSpc>
            </a:pPr>
            <a:r>
              <a:rPr lang="en-CA" sz="1399">
                <a:latin typeface="Times New Roman Italic"/>
                <a:cs typeface="Times New Roman Italic"/>
              </a:rPr>
              <a:t>Introduction to Algorithms</a:t>
            </a:r>
          </a:p>
          <a:p>
            <a:pPr>
              <a:lnSpc>
                <a:spcPts val="1610"/>
              </a:lnSpc>
            </a:pPr>
            <a:endParaRPr/>
          </a:p>
        </p:txBody>
      </p:sp>
      <p:sp>
        <p:nvSpPr>
          <p:cNvPr id="9" name="TextBox 9"/>
          <p:cNvSpPr txBox="1"/>
          <p:nvPr/>
        </p:nvSpPr>
        <p:spPr>
          <a:xfrm>
            <a:off x="7924800" y="6578600"/>
            <a:ext cx="423193" cy="419987"/>
          </a:xfrm>
          <a:prstGeom prst="rect">
            <a:avLst/>
          </a:prstGeom>
          <a:noFill/>
        </p:spPr>
        <p:txBody>
          <a:bodyPr vert="horz" wrap="none" lIns="0" tIns="0" rIns="0" bIns="0" rtlCol="0">
            <a:spAutoFit/>
          </a:bodyPr>
          <a:lstStyle/>
          <a:p>
            <a:pPr>
              <a:lnSpc>
                <a:spcPts val="1610"/>
              </a:lnSpc>
            </a:pPr>
            <a:r>
              <a:rPr lang="en-CA" sz="1399">
                <a:latin typeface="Times New Roman"/>
                <a:cs typeface="Times New Roman"/>
              </a:rPr>
              <a:t>L1.43</a:t>
            </a:r>
          </a:p>
          <a:p>
            <a:pPr>
              <a:lnSpc>
                <a:spcPts val="1610"/>
              </a:lnSpc>
            </a:pPr>
            <a:endParaRPr/>
          </a:p>
        </p:txBody>
      </p:sp>
      <mc:AlternateContent xmlns:mc="http://schemas.openxmlformats.org/markup-compatibility/2006" xmlns:p14="http://schemas.microsoft.com/office/powerpoint/2010/main">
        <mc:Choice Requires="p14">
          <p:contentPart p14:bwMode="auto" r:id="rId3">
            <p14:nvContentPartPr>
              <p14:cNvPr id="11" name="Ink 10"/>
              <p14:cNvContentPartPr/>
              <p14:nvPr/>
            </p14:nvContentPartPr>
            <p14:xfrm>
              <a:off x="1636920" y="1974960"/>
              <a:ext cx="6539040" cy="1966680"/>
            </p14:xfrm>
          </p:contentPart>
        </mc:Choice>
        <mc:Fallback xmlns="">
          <p:pic>
            <p:nvPicPr>
              <p:cNvPr id="11" name="Ink 10"/>
              <p:cNvPicPr/>
              <p:nvPr/>
            </p:nvPicPr>
            <p:blipFill>
              <a:blip r:embed="rId4"/>
              <a:stretch>
                <a:fillRect/>
              </a:stretch>
            </p:blipFill>
            <p:spPr>
              <a:xfrm>
                <a:off x="1627560" y="1965600"/>
                <a:ext cx="6557760" cy="1985400"/>
              </a:xfrm>
              <a:prstGeom prst="rect">
                <a:avLst/>
              </a:prstGeom>
            </p:spPr>
          </p:pic>
        </mc:Fallback>
      </mc:AlternateContent>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4" name="TextBox 2"/>
          <p:cNvSpPr txBox="1"/>
          <p:nvPr/>
        </p:nvSpPr>
        <p:spPr>
          <a:xfrm>
            <a:off x="1524000" y="533400"/>
            <a:ext cx="3526030" cy="1308050"/>
          </a:xfrm>
          <a:prstGeom prst="rect">
            <a:avLst/>
          </a:prstGeom>
          <a:noFill/>
        </p:spPr>
        <p:txBody>
          <a:bodyPr vert="horz" wrap="none" lIns="0" tIns="0" rIns="0" bIns="0" rtlCol="0">
            <a:spAutoFit/>
          </a:bodyPr>
          <a:lstStyle/>
          <a:p>
            <a:pPr>
              <a:lnSpc>
                <a:spcPts val="5060"/>
              </a:lnSpc>
            </a:pPr>
            <a:r>
              <a:rPr lang="en-CA" sz="4412" b="1">
                <a:latin typeface="Times New Roman Bold"/>
                <a:cs typeface="Times New Roman Bold"/>
              </a:rPr>
              <a:t>Recursion tree</a:t>
            </a:r>
          </a:p>
          <a:p>
            <a:pPr>
              <a:lnSpc>
                <a:spcPts val="5060"/>
              </a:lnSpc>
            </a:pPr>
            <a:endParaRPr lang="en-CA" sz="4402"/>
          </a:p>
        </p:txBody>
      </p:sp>
      <p:sp>
        <p:nvSpPr>
          <p:cNvPr id="3" name="TextBox 3"/>
          <p:cNvSpPr txBox="1"/>
          <p:nvPr/>
        </p:nvSpPr>
        <p:spPr>
          <a:xfrm>
            <a:off x="431800" y="1485900"/>
            <a:ext cx="8317983" cy="1769715"/>
          </a:xfrm>
          <a:prstGeom prst="rect">
            <a:avLst/>
          </a:prstGeom>
          <a:noFill/>
        </p:spPr>
        <p:txBody>
          <a:bodyPr vert="horz" wrap="none" lIns="0" tIns="0" rIns="0" bIns="0" rtlCol="0">
            <a:spAutoFit/>
          </a:bodyPr>
          <a:lstStyle/>
          <a:p>
            <a:pPr>
              <a:lnSpc>
                <a:spcPts val="4600"/>
              </a:lnSpc>
              <a:tabLst>
                <a:tab pos="3924300" algn="l"/>
              </a:tabLst>
            </a:pPr>
            <a:r>
              <a:rPr lang="en-CA" sz="3201" dirty="0">
                <a:latin typeface="Times New Roman"/>
                <a:cs typeface="Times New Roman"/>
              </a:rPr>
              <a:t>Solve </a:t>
            </a:r>
            <a:r>
              <a:rPr lang="en-CA" sz="3201" dirty="0">
                <a:latin typeface="Times New Roman Italic"/>
                <a:cs typeface="Times New Roman Italic"/>
              </a:rPr>
              <a:t>T</a:t>
            </a:r>
            <a:r>
              <a:rPr lang="en-CA" sz="3201" dirty="0">
                <a:latin typeface="Times New Roman"/>
                <a:cs typeface="Times New Roman"/>
              </a:rPr>
              <a:t>(</a:t>
            </a:r>
            <a:r>
              <a:rPr lang="en-CA" sz="3201" dirty="0">
                <a:latin typeface="Times New Roman Italic"/>
                <a:cs typeface="Times New Roman Italic"/>
              </a:rPr>
              <a:t>n</a:t>
            </a:r>
            <a:r>
              <a:rPr lang="en-CA" sz="3201" dirty="0">
                <a:latin typeface="Times New Roman"/>
                <a:cs typeface="Times New Roman"/>
              </a:rPr>
              <a:t>) = 2</a:t>
            </a:r>
            <a:r>
              <a:rPr lang="en-CA" sz="3201" dirty="0">
                <a:latin typeface="Times New Roman Italic"/>
                <a:cs typeface="Times New Roman Italic"/>
              </a:rPr>
              <a:t>T</a:t>
            </a:r>
            <a:r>
              <a:rPr lang="en-CA" sz="3201" dirty="0">
                <a:latin typeface="Times New Roman"/>
                <a:cs typeface="Times New Roman"/>
              </a:rPr>
              <a:t>(</a:t>
            </a:r>
            <a:r>
              <a:rPr lang="en-CA" sz="3201" dirty="0">
                <a:latin typeface="Times New Roman Italic"/>
                <a:cs typeface="Times New Roman Italic"/>
              </a:rPr>
              <a:t>n</a:t>
            </a:r>
            <a:r>
              <a:rPr lang="en-CA" sz="3201" dirty="0">
                <a:latin typeface="Times New Roman"/>
                <a:cs typeface="Times New Roman"/>
              </a:rPr>
              <a:t>/2) + </a:t>
            </a:r>
            <a:r>
              <a:rPr lang="en-CA" sz="3201" dirty="0" err="1">
                <a:latin typeface="Times New Roman Italic"/>
                <a:cs typeface="Times New Roman Italic"/>
              </a:rPr>
              <a:t>cn</a:t>
            </a:r>
            <a:r>
              <a:rPr lang="en-CA" sz="3201" dirty="0">
                <a:latin typeface="Times New Roman"/>
                <a:cs typeface="Times New Roman"/>
              </a:rPr>
              <a:t>, where </a:t>
            </a:r>
            <a:r>
              <a:rPr lang="en-CA" sz="3201" dirty="0">
                <a:latin typeface="Times New Roman Italic"/>
                <a:cs typeface="Times New Roman Italic"/>
              </a:rPr>
              <a:t>c </a:t>
            </a:r>
            <a:r>
              <a:rPr lang="en-CA" sz="3201" dirty="0">
                <a:latin typeface="Times New Roman"/>
                <a:cs typeface="Times New Roman"/>
              </a:rPr>
              <a:t>&gt; 0 is constant.</a:t>
            </a:r>
            <a:br>
              <a:rPr lang="en-CA" sz="3201" dirty="0">
                <a:latin typeface="Times New Roman"/>
              </a:rPr>
            </a:br>
            <a:r>
              <a:rPr lang="en-CA" sz="3201" dirty="0">
                <a:latin typeface="Times New Roman Italic"/>
                <a:cs typeface="Times New Roman Italic"/>
              </a:rPr>
              <a:t>	</a:t>
            </a:r>
            <a:r>
              <a:rPr lang="en-CA" sz="3201" dirty="0" err="1">
                <a:latin typeface="Times New Roman Italic"/>
                <a:cs typeface="Times New Roman Italic"/>
              </a:rPr>
              <a:t>cn</a:t>
            </a:r>
            <a:endParaRPr lang="en-CA" sz="3201" dirty="0">
              <a:latin typeface="Times New Roman Italic"/>
              <a:cs typeface="Times New Roman Italic"/>
            </a:endParaRPr>
          </a:p>
          <a:p>
            <a:pPr>
              <a:lnSpc>
                <a:spcPts val="4600"/>
              </a:lnSpc>
            </a:pPr>
            <a:endParaRPr lang="en-CA" sz="3201" dirty="0"/>
          </a:p>
        </p:txBody>
      </p:sp>
      <p:sp>
        <p:nvSpPr>
          <p:cNvPr id="4" name="TextBox 4"/>
          <p:cNvSpPr txBox="1"/>
          <p:nvPr/>
        </p:nvSpPr>
        <p:spPr>
          <a:xfrm>
            <a:off x="2590800" y="2921000"/>
            <a:ext cx="706925" cy="891270"/>
          </a:xfrm>
          <a:prstGeom prst="rect">
            <a:avLst/>
          </a:prstGeom>
          <a:noFill/>
        </p:spPr>
        <p:txBody>
          <a:bodyPr vert="horz" wrap="none" lIns="0" tIns="0" rIns="0" bIns="0" rtlCol="0">
            <a:spAutoFit/>
          </a:bodyPr>
          <a:lstStyle/>
          <a:p>
            <a:pPr>
              <a:lnSpc>
                <a:spcPts val="3735"/>
              </a:lnSpc>
            </a:pPr>
            <a:r>
              <a:rPr lang="en-CA" sz="3201">
                <a:latin typeface="Times New Roman Italic"/>
                <a:cs typeface="Times New Roman Italic"/>
              </a:rPr>
              <a:t>cn</a:t>
            </a:r>
            <a:r>
              <a:rPr lang="en-CA" sz="3201">
                <a:latin typeface="Times New Roman"/>
                <a:cs typeface="Times New Roman"/>
              </a:rPr>
              <a:t>/2</a:t>
            </a:r>
          </a:p>
          <a:p>
            <a:pPr>
              <a:lnSpc>
                <a:spcPts val="3735"/>
              </a:lnSpc>
            </a:pPr>
            <a:endParaRPr/>
          </a:p>
        </p:txBody>
      </p:sp>
      <p:sp>
        <p:nvSpPr>
          <p:cNvPr id="5" name="TextBox 5"/>
          <p:cNvSpPr txBox="1"/>
          <p:nvPr/>
        </p:nvSpPr>
        <p:spPr>
          <a:xfrm>
            <a:off x="5816600" y="2908300"/>
            <a:ext cx="706925" cy="891270"/>
          </a:xfrm>
          <a:prstGeom prst="rect">
            <a:avLst/>
          </a:prstGeom>
          <a:noFill/>
        </p:spPr>
        <p:txBody>
          <a:bodyPr vert="horz" wrap="none" lIns="0" tIns="0" rIns="0" bIns="0" rtlCol="0">
            <a:spAutoFit/>
          </a:bodyPr>
          <a:lstStyle/>
          <a:p>
            <a:pPr>
              <a:lnSpc>
                <a:spcPts val="3680"/>
              </a:lnSpc>
            </a:pPr>
            <a:r>
              <a:rPr lang="en-CA" sz="3201">
                <a:latin typeface="Times New Roman Italic"/>
                <a:cs typeface="Times New Roman Italic"/>
              </a:rPr>
              <a:t>cn</a:t>
            </a:r>
            <a:r>
              <a:rPr lang="en-CA" sz="3201">
                <a:latin typeface="Times New Roman"/>
                <a:cs typeface="Times New Roman"/>
              </a:rPr>
              <a:t>/2</a:t>
            </a:r>
          </a:p>
          <a:p>
            <a:pPr>
              <a:lnSpc>
                <a:spcPts val="3680"/>
              </a:lnSpc>
            </a:pPr>
            <a:endParaRPr/>
          </a:p>
        </p:txBody>
      </p:sp>
      <p:sp>
        <p:nvSpPr>
          <p:cNvPr id="6" name="TextBox 6"/>
          <p:cNvSpPr txBox="1"/>
          <p:nvPr/>
        </p:nvSpPr>
        <p:spPr>
          <a:xfrm>
            <a:off x="1600200" y="3746500"/>
            <a:ext cx="1024319" cy="891270"/>
          </a:xfrm>
          <a:prstGeom prst="rect">
            <a:avLst/>
          </a:prstGeom>
          <a:noFill/>
        </p:spPr>
        <p:txBody>
          <a:bodyPr vert="horz" wrap="none" lIns="0" tIns="0" rIns="0" bIns="0" rtlCol="0">
            <a:spAutoFit/>
          </a:bodyPr>
          <a:lstStyle/>
          <a:p>
            <a:pPr>
              <a:lnSpc>
                <a:spcPts val="3680"/>
              </a:lnSpc>
            </a:pP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/4)</a:t>
            </a:r>
          </a:p>
          <a:p>
            <a:pPr>
              <a:lnSpc>
                <a:spcPts val="3680"/>
              </a:lnSpc>
            </a:pPr>
            <a:endParaRPr/>
          </a:p>
        </p:txBody>
      </p:sp>
      <p:sp>
        <p:nvSpPr>
          <p:cNvPr id="7" name="TextBox 7"/>
          <p:cNvSpPr txBox="1"/>
          <p:nvPr/>
        </p:nvSpPr>
        <p:spPr>
          <a:xfrm>
            <a:off x="3251200" y="3746500"/>
            <a:ext cx="1024319" cy="891270"/>
          </a:xfrm>
          <a:prstGeom prst="rect">
            <a:avLst/>
          </a:prstGeom>
          <a:noFill/>
        </p:spPr>
        <p:txBody>
          <a:bodyPr vert="horz" wrap="none" lIns="0" tIns="0" rIns="0" bIns="0" rtlCol="0">
            <a:spAutoFit/>
          </a:bodyPr>
          <a:lstStyle/>
          <a:p>
            <a:pPr>
              <a:lnSpc>
                <a:spcPts val="3680"/>
              </a:lnSpc>
            </a:pP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/4)</a:t>
            </a:r>
          </a:p>
          <a:p>
            <a:pPr>
              <a:lnSpc>
                <a:spcPts val="3680"/>
              </a:lnSpc>
            </a:pPr>
            <a:endParaRPr/>
          </a:p>
        </p:txBody>
      </p:sp>
      <p:sp>
        <p:nvSpPr>
          <p:cNvPr id="8" name="TextBox 8"/>
          <p:cNvSpPr txBox="1"/>
          <p:nvPr/>
        </p:nvSpPr>
        <p:spPr>
          <a:xfrm>
            <a:off x="4800600" y="3746500"/>
            <a:ext cx="1024319" cy="891270"/>
          </a:xfrm>
          <a:prstGeom prst="rect">
            <a:avLst/>
          </a:prstGeom>
          <a:noFill/>
        </p:spPr>
        <p:txBody>
          <a:bodyPr vert="horz" wrap="none" lIns="0" tIns="0" rIns="0" bIns="0" rtlCol="0">
            <a:spAutoFit/>
          </a:bodyPr>
          <a:lstStyle/>
          <a:p>
            <a:pPr>
              <a:lnSpc>
                <a:spcPts val="3680"/>
              </a:lnSpc>
            </a:pP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/4)</a:t>
            </a:r>
          </a:p>
          <a:p>
            <a:pPr>
              <a:lnSpc>
                <a:spcPts val="3680"/>
              </a:lnSpc>
            </a:pPr>
            <a:endParaRPr/>
          </a:p>
        </p:txBody>
      </p:sp>
      <p:sp>
        <p:nvSpPr>
          <p:cNvPr id="9" name="TextBox 9"/>
          <p:cNvSpPr txBox="1"/>
          <p:nvPr/>
        </p:nvSpPr>
        <p:spPr>
          <a:xfrm>
            <a:off x="6451600" y="3746500"/>
            <a:ext cx="1024319" cy="891270"/>
          </a:xfrm>
          <a:prstGeom prst="rect">
            <a:avLst/>
          </a:prstGeom>
          <a:noFill/>
        </p:spPr>
        <p:txBody>
          <a:bodyPr vert="horz" wrap="none" lIns="0" tIns="0" rIns="0" bIns="0" rtlCol="0">
            <a:spAutoFit/>
          </a:bodyPr>
          <a:lstStyle/>
          <a:p>
            <a:pPr>
              <a:lnSpc>
                <a:spcPts val="3680"/>
              </a:lnSpc>
            </a:pP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/4)</a:t>
            </a:r>
          </a:p>
          <a:p>
            <a:pPr>
              <a:lnSpc>
                <a:spcPts val="3680"/>
              </a:lnSpc>
            </a:pPr>
            <a:endParaRPr/>
          </a:p>
        </p:txBody>
      </p:sp>
      <p:sp>
        <p:nvSpPr>
          <p:cNvPr id="10" name="TextBox 10"/>
          <p:cNvSpPr txBox="1"/>
          <p:nvPr/>
        </p:nvSpPr>
        <p:spPr>
          <a:xfrm>
            <a:off x="2590800" y="6426200"/>
            <a:ext cx="38472" cy="375103"/>
          </a:xfrm>
          <a:prstGeom prst="rect">
            <a:avLst/>
          </a:prstGeom>
          <a:noFill/>
        </p:spPr>
        <p:txBody>
          <a:bodyPr vert="horz" wrap="none" lIns="0" tIns="0" rIns="0" bIns="0" rtlCol="0">
            <a:spAutoFit/>
          </a:bodyPr>
          <a:lstStyle/>
          <a:p>
            <a:pPr>
              <a:lnSpc>
                <a:spcPts val="1380"/>
              </a:lnSpc>
            </a:pPr>
            <a:r>
              <a:rPr lang="en-CA" sz="1201" dirty="0">
                <a:latin typeface="Times New Roman Italic"/>
                <a:cs typeface="Times New Roman Italic"/>
              </a:rPr>
              <a:t> </a:t>
            </a:r>
          </a:p>
          <a:p>
            <a:pPr>
              <a:lnSpc>
                <a:spcPts val="1380"/>
              </a:lnSpc>
            </a:pPr>
            <a:endParaRPr/>
          </a:p>
        </p:txBody>
      </p:sp>
      <p:sp>
        <p:nvSpPr>
          <p:cNvPr id="11" name="TextBox 11"/>
          <p:cNvSpPr txBox="1"/>
          <p:nvPr/>
        </p:nvSpPr>
        <p:spPr>
          <a:xfrm>
            <a:off x="762000" y="6578600"/>
            <a:ext cx="947375" cy="359073"/>
          </a:xfrm>
          <a:prstGeom prst="rect">
            <a:avLst/>
          </a:prstGeom>
          <a:noFill/>
        </p:spPr>
        <p:txBody>
          <a:bodyPr vert="horz" wrap="none" lIns="0" tIns="0" rIns="0" bIns="0" rtlCol="0">
            <a:spAutoFit/>
          </a:bodyPr>
          <a:lstStyle/>
          <a:p>
            <a:pPr>
              <a:lnSpc>
                <a:spcPts val="1410"/>
              </a:lnSpc>
            </a:pPr>
            <a:r>
              <a:rPr lang="en-CA" sz="1399" dirty="0" err="1">
                <a:latin typeface="Times New Roman"/>
                <a:cs typeface="Times New Roman"/>
              </a:rPr>
              <a:t>feb</a:t>
            </a:r>
            <a:r>
              <a:rPr lang="en-CA" sz="1399" dirty="0">
                <a:latin typeface="Times New Roman"/>
                <a:cs typeface="Times New Roman"/>
              </a:rPr>
              <a:t>  13, 2012</a:t>
            </a:r>
          </a:p>
          <a:p>
            <a:pPr>
              <a:lnSpc>
                <a:spcPts val="1410"/>
              </a:lnSpc>
            </a:pPr>
            <a:endParaRPr/>
          </a:p>
        </p:txBody>
      </p:sp>
      <p:sp>
        <p:nvSpPr>
          <p:cNvPr id="12" name="TextBox 12"/>
          <p:cNvSpPr txBox="1"/>
          <p:nvPr/>
        </p:nvSpPr>
        <p:spPr>
          <a:xfrm>
            <a:off x="3594100" y="6578600"/>
            <a:ext cx="1915268" cy="410369"/>
          </a:xfrm>
          <a:prstGeom prst="rect">
            <a:avLst/>
          </a:prstGeom>
          <a:noFill/>
        </p:spPr>
        <p:txBody>
          <a:bodyPr vert="horz" wrap="none" lIns="0" tIns="0" rIns="0" bIns="0" rtlCol="0">
            <a:spAutoFit/>
          </a:bodyPr>
          <a:lstStyle/>
          <a:p>
            <a:pPr>
              <a:lnSpc>
                <a:spcPts val="1610"/>
              </a:lnSpc>
            </a:pPr>
            <a:r>
              <a:rPr lang="en-CA" sz="1399">
                <a:latin typeface="Times New Roman Italic"/>
                <a:cs typeface="Times New Roman Italic"/>
              </a:rPr>
              <a:t>Introduction to Algorithms</a:t>
            </a:r>
          </a:p>
          <a:p>
            <a:pPr>
              <a:lnSpc>
                <a:spcPts val="1610"/>
              </a:lnSpc>
            </a:pPr>
            <a:endParaRPr/>
          </a:p>
        </p:txBody>
      </p:sp>
      <p:sp>
        <p:nvSpPr>
          <p:cNvPr id="13" name="TextBox 13"/>
          <p:cNvSpPr txBox="1"/>
          <p:nvPr/>
        </p:nvSpPr>
        <p:spPr>
          <a:xfrm>
            <a:off x="7924800" y="6578600"/>
            <a:ext cx="423193" cy="419987"/>
          </a:xfrm>
          <a:prstGeom prst="rect">
            <a:avLst/>
          </a:prstGeom>
          <a:noFill/>
        </p:spPr>
        <p:txBody>
          <a:bodyPr vert="horz" wrap="none" lIns="0" tIns="0" rIns="0" bIns="0" rtlCol="0">
            <a:spAutoFit/>
          </a:bodyPr>
          <a:lstStyle/>
          <a:p>
            <a:pPr>
              <a:lnSpc>
                <a:spcPts val="1610"/>
              </a:lnSpc>
            </a:pPr>
            <a:r>
              <a:rPr lang="en-CA" sz="1399">
                <a:latin typeface="Times New Roman"/>
                <a:cs typeface="Times New Roman"/>
              </a:rPr>
              <a:t>L1.44</a:t>
            </a:r>
          </a:p>
          <a:p>
            <a:pPr>
              <a:lnSpc>
                <a:spcPts val="1610"/>
              </a:lnSpc>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5" name="TextBox 2"/>
          <p:cNvSpPr txBox="1"/>
          <p:nvPr/>
        </p:nvSpPr>
        <p:spPr>
          <a:xfrm>
            <a:off x="1524000" y="533400"/>
            <a:ext cx="3526030" cy="1308050"/>
          </a:xfrm>
          <a:prstGeom prst="rect">
            <a:avLst/>
          </a:prstGeom>
          <a:noFill/>
        </p:spPr>
        <p:txBody>
          <a:bodyPr vert="horz" wrap="none" lIns="0" tIns="0" rIns="0" bIns="0" rtlCol="0">
            <a:spAutoFit/>
          </a:bodyPr>
          <a:lstStyle/>
          <a:p>
            <a:pPr>
              <a:lnSpc>
                <a:spcPts val="5060"/>
              </a:lnSpc>
            </a:pPr>
            <a:r>
              <a:rPr lang="en-CA" sz="4412" b="1">
                <a:latin typeface="Times New Roman Bold"/>
                <a:cs typeface="Times New Roman Bold"/>
              </a:rPr>
              <a:t>Recursion tree</a:t>
            </a:r>
          </a:p>
          <a:p>
            <a:pPr>
              <a:lnSpc>
                <a:spcPts val="5060"/>
              </a:lnSpc>
            </a:pPr>
            <a:endParaRPr lang="en-CA" sz="4402"/>
          </a:p>
        </p:txBody>
      </p:sp>
      <p:sp>
        <p:nvSpPr>
          <p:cNvPr id="3" name="TextBox 3"/>
          <p:cNvSpPr txBox="1"/>
          <p:nvPr/>
        </p:nvSpPr>
        <p:spPr>
          <a:xfrm>
            <a:off x="431800" y="1485900"/>
            <a:ext cx="8317983" cy="1769715"/>
          </a:xfrm>
          <a:prstGeom prst="rect">
            <a:avLst/>
          </a:prstGeom>
          <a:noFill/>
        </p:spPr>
        <p:txBody>
          <a:bodyPr vert="horz" wrap="none" lIns="0" tIns="0" rIns="0" bIns="0" rtlCol="0">
            <a:spAutoFit/>
          </a:bodyPr>
          <a:lstStyle/>
          <a:p>
            <a:pPr>
              <a:lnSpc>
                <a:spcPts val="4600"/>
              </a:lnSpc>
              <a:tabLst>
                <a:tab pos="3924300" algn="l"/>
              </a:tabLst>
            </a:pPr>
            <a:r>
              <a:rPr lang="en-CA" sz="3201">
                <a:latin typeface="Times New Roman"/>
                <a:cs typeface="Times New Roman"/>
              </a:rPr>
              <a:t>Solve </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 = 2</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/2) + </a:t>
            </a:r>
            <a:r>
              <a:rPr lang="en-CA" sz="3201">
                <a:latin typeface="Times New Roman Italic"/>
                <a:cs typeface="Times New Roman Italic"/>
              </a:rPr>
              <a:t>cn</a:t>
            </a:r>
            <a:r>
              <a:rPr lang="en-CA" sz="3201">
                <a:latin typeface="Times New Roman"/>
                <a:cs typeface="Times New Roman"/>
              </a:rPr>
              <a:t>, where </a:t>
            </a:r>
            <a:r>
              <a:rPr lang="en-CA" sz="3201">
                <a:latin typeface="Times New Roman Italic"/>
                <a:cs typeface="Times New Roman Italic"/>
              </a:rPr>
              <a:t>c </a:t>
            </a:r>
            <a:r>
              <a:rPr lang="en-CA" sz="3201">
                <a:latin typeface="Times New Roman"/>
                <a:cs typeface="Times New Roman"/>
              </a:rPr>
              <a:t>&gt; 0 is constant.</a:t>
            </a:r>
            <a:br>
              <a:rPr lang="en-CA" sz="3201">
                <a:latin typeface="Times New Roman"/>
              </a:rPr>
            </a:br>
            <a:r>
              <a:rPr lang="en-CA" sz="3201">
                <a:latin typeface="Times New Roman Italic"/>
                <a:cs typeface="Times New Roman Italic"/>
              </a:rPr>
              <a:t>	cn</a:t>
            </a:r>
          </a:p>
          <a:p>
            <a:pPr>
              <a:lnSpc>
                <a:spcPts val="4600"/>
              </a:lnSpc>
            </a:pPr>
            <a:endParaRPr lang="en-CA" sz="3201"/>
          </a:p>
        </p:txBody>
      </p:sp>
      <p:sp>
        <p:nvSpPr>
          <p:cNvPr id="4" name="TextBox 4"/>
          <p:cNvSpPr txBox="1"/>
          <p:nvPr/>
        </p:nvSpPr>
        <p:spPr>
          <a:xfrm>
            <a:off x="2590800" y="2921000"/>
            <a:ext cx="706925" cy="891270"/>
          </a:xfrm>
          <a:prstGeom prst="rect">
            <a:avLst/>
          </a:prstGeom>
          <a:noFill/>
        </p:spPr>
        <p:txBody>
          <a:bodyPr vert="horz" wrap="none" lIns="0" tIns="0" rIns="0" bIns="0" rtlCol="0">
            <a:spAutoFit/>
          </a:bodyPr>
          <a:lstStyle/>
          <a:p>
            <a:pPr>
              <a:lnSpc>
                <a:spcPts val="3735"/>
              </a:lnSpc>
            </a:pPr>
            <a:r>
              <a:rPr lang="en-CA" sz="3201">
                <a:latin typeface="Times New Roman Italic"/>
                <a:cs typeface="Times New Roman Italic"/>
              </a:rPr>
              <a:t>cn</a:t>
            </a:r>
            <a:r>
              <a:rPr lang="en-CA" sz="3201">
                <a:latin typeface="Times New Roman"/>
                <a:cs typeface="Times New Roman"/>
              </a:rPr>
              <a:t>/2</a:t>
            </a:r>
          </a:p>
          <a:p>
            <a:pPr>
              <a:lnSpc>
                <a:spcPts val="3735"/>
              </a:lnSpc>
            </a:pPr>
            <a:endParaRPr/>
          </a:p>
        </p:txBody>
      </p:sp>
      <p:sp>
        <p:nvSpPr>
          <p:cNvPr id="5" name="TextBox 5"/>
          <p:cNvSpPr txBox="1"/>
          <p:nvPr/>
        </p:nvSpPr>
        <p:spPr>
          <a:xfrm>
            <a:off x="5816600" y="2908300"/>
            <a:ext cx="706925" cy="891270"/>
          </a:xfrm>
          <a:prstGeom prst="rect">
            <a:avLst/>
          </a:prstGeom>
          <a:noFill/>
        </p:spPr>
        <p:txBody>
          <a:bodyPr vert="horz" wrap="none" lIns="0" tIns="0" rIns="0" bIns="0" rtlCol="0">
            <a:spAutoFit/>
          </a:bodyPr>
          <a:lstStyle/>
          <a:p>
            <a:pPr>
              <a:lnSpc>
                <a:spcPts val="3680"/>
              </a:lnSpc>
            </a:pPr>
            <a:r>
              <a:rPr lang="en-CA" sz="3201">
                <a:latin typeface="Times New Roman Italic"/>
                <a:cs typeface="Times New Roman Italic"/>
              </a:rPr>
              <a:t>cn</a:t>
            </a:r>
            <a:r>
              <a:rPr lang="en-CA" sz="3201">
                <a:latin typeface="Times New Roman"/>
                <a:cs typeface="Times New Roman"/>
              </a:rPr>
              <a:t>/2</a:t>
            </a:r>
          </a:p>
          <a:p>
            <a:pPr>
              <a:lnSpc>
                <a:spcPts val="3680"/>
              </a:lnSpc>
            </a:pPr>
            <a:endParaRPr/>
          </a:p>
        </p:txBody>
      </p:sp>
      <p:sp>
        <p:nvSpPr>
          <p:cNvPr id="6" name="TextBox 6"/>
          <p:cNvSpPr txBox="1"/>
          <p:nvPr/>
        </p:nvSpPr>
        <p:spPr>
          <a:xfrm>
            <a:off x="1752600" y="3746500"/>
            <a:ext cx="706925" cy="891270"/>
          </a:xfrm>
          <a:prstGeom prst="rect">
            <a:avLst/>
          </a:prstGeom>
          <a:noFill/>
        </p:spPr>
        <p:txBody>
          <a:bodyPr vert="horz" wrap="none" lIns="0" tIns="0" rIns="0" bIns="0" rtlCol="0">
            <a:spAutoFit/>
          </a:bodyPr>
          <a:lstStyle/>
          <a:p>
            <a:pPr>
              <a:lnSpc>
                <a:spcPts val="3680"/>
              </a:lnSpc>
            </a:pPr>
            <a:r>
              <a:rPr lang="en-CA" sz="3201">
                <a:latin typeface="Times New Roman Italic"/>
                <a:cs typeface="Times New Roman Italic"/>
              </a:rPr>
              <a:t>cn</a:t>
            </a:r>
            <a:r>
              <a:rPr lang="en-CA" sz="3201">
                <a:latin typeface="Times New Roman"/>
                <a:cs typeface="Times New Roman"/>
              </a:rPr>
              <a:t>/4</a:t>
            </a:r>
          </a:p>
          <a:p>
            <a:pPr>
              <a:lnSpc>
                <a:spcPts val="3680"/>
              </a:lnSpc>
            </a:pPr>
            <a:endParaRPr/>
          </a:p>
        </p:txBody>
      </p:sp>
      <p:sp>
        <p:nvSpPr>
          <p:cNvPr id="7" name="TextBox 7"/>
          <p:cNvSpPr txBox="1"/>
          <p:nvPr/>
        </p:nvSpPr>
        <p:spPr>
          <a:xfrm>
            <a:off x="3403600" y="3746500"/>
            <a:ext cx="706925" cy="891270"/>
          </a:xfrm>
          <a:prstGeom prst="rect">
            <a:avLst/>
          </a:prstGeom>
          <a:noFill/>
        </p:spPr>
        <p:txBody>
          <a:bodyPr vert="horz" wrap="none" lIns="0" tIns="0" rIns="0" bIns="0" rtlCol="0">
            <a:spAutoFit/>
          </a:bodyPr>
          <a:lstStyle/>
          <a:p>
            <a:pPr>
              <a:lnSpc>
                <a:spcPts val="3680"/>
              </a:lnSpc>
            </a:pPr>
            <a:r>
              <a:rPr lang="en-CA" sz="3201">
                <a:latin typeface="Times New Roman Italic"/>
                <a:cs typeface="Times New Roman Italic"/>
              </a:rPr>
              <a:t>cn</a:t>
            </a:r>
            <a:r>
              <a:rPr lang="en-CA" sz="3201">
                <a:latin typeface="Times New Roman"/>
                <a:cs typeface="Times New Roman"/>
              </a:rPr>
              <a:t>/4</a:t>
            </a:r>
          </a:p>
          <a:p>
            <a:pPr>
              <a:lnSpc>
                <a:spcPts val="3680"/>
              </a:lnSpc>
            </a:pPr>
            <a:endParaRPr/>
          </a:p>
        </p:txBody>
      </p:sp>
      <p:sp>
        <p:nvSpPr>
          <p:cNvPr id="8" name="TextBox 8"/>
          <p:cNvSpPr txBox="1"/>
          <p:nvPr/>
        </p:nvSpPr>
        <p:spPr>
          <a:xfrm>
            <a:off x="4953000" y="3746500"/>
            <a:ext cx="706925" cy="891270"/>
          </a:xfrm>
          <a:prstGeom prst="rect">
            <a:avLst/>
          </a:prstGeom>
          <a:noFill/>
        </p:spPr>
        <p:txBody>
          <a:bodyPr vert="horz" wrap="none" lIns="0" tIns="0" rIns="0" bIns="0" rtlCol="0">
            <a:spAutoFit/>
          </a:bodyPr>
          <a:lstStyle/>
          <a:p>
            <a:pPr>
              <a:lnSpc>
                <a:spcPts val="3680"/>
              </a:lnSpc>
            </a:pPr>
            <a:r>
              <a:rPr lang="en-CA" sz="3201">
                <a:latin typeface="Times New Roman Italic"/>
                <a:cs typeface="Times New Roman Italic"/>
              </a:rPr>
              <a:t>cn</a:t>
            </a:r>
            <a:r>
              <a:rPr lang="en-CA" sz="3201">
                <a:latin typeface="Times New Roman"/>
                <a:cs typeface="Times New Roman"/>
              </a:rPr>
              <a:t>/4</a:t>
            </a:r>
          </a:p>
          <a:p>
            <a:pPr>
              <a:lnSpc>
                <a:spcPts val="3680"/>
              </a:lnSpc>
            </a:pPr>
            <a:endParaRPr/>
          </a:p>
        </p:txBody>
      </p:sp>
      <p:sp>
        <p:nvSpPr>
          <p:cNvPr id="9" name="TextBox 9"/>
          <p:cNvSpPr txBox="1"/>
          <p:nvPr/>
        </p:nvSpPr>
        <p:spPr>
          <a:xfrm>
            <a:off x="6604000" y="3746500"/>
            <a:ext cx="706925" cy="891270"/>
          </a:xfrm>
          <a:prstGeom prst="rect">
            <a:avLst/>
          </a:prstGeom>
          <a:noFill/>
        </p:spPr>
        <p:txBody>
          <a:bodyPr vert="horz" wrap="none" lIns="0" tIns="0" rIns="0" bIns="0" rtlCol="0">
            <a:spAutoFit/>
          </a:bodyPr>
          <a:lstStyle/>
          <a:p>
            <a:pPr>
              <a:lnSpc>
                <a:spcPts val="3680"/>
              </a:lnSpc>
            </a:pPr>
            <a:r>
              <a:rPr lang="en-CA" sz="3201">
                <a:latin typeface="Times New Roman Italic"/>
                <a:cs typeface="Times New Roman Italic"/>
              </a:rPr>
              <a:t>cn</a:t>
            </a:r>
            <a:r>
              <a:rPr lang="en-CA" sz="3201">
                <a:latin typeface="Times New Roman"/>
                <a:cs typeface="Times New Roman"/>
              </a:rPr>
              <a:t>/4</a:t>
            </a:r>
          </a:p>
          <a:p>
            <a:pPr>
              <a:lnSpc>
                <a:spcPts val="3680"/>
              </a:lnSpc>
            </a:pPr>
            <a:endParaRPr/>
          </a:p>
        </p:txBody>
      </p:sp>
      <p:sp>
        <p:nvSpPr>
          <p:cNvPr id="10" name="TextBox 10"/>
          <p:cNvSpPr txBox="1"/>
          <p:nvPr/>
        </p:nvSpPr>
        <p:spPr>
          <a:xfrm>
            <a:off x="1397000" y="5207000"/>
            <a:ext cx="774251" cy="891270"/>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Θ(1)</a:t>
            </a:r>
          </a:p>
          <a:p>
            <a:pPr>
              <a:lnSpc>
                <a:spcPts val="3680"/>
              </a:lnSpc>
            </a:pPr>
            <a:endParaRPr/>
          </a:p>
        </p:txBody>
      </p:sp>
      <p:sp>
        <p:nvSpPr>
          <p:cNvPr id="11" name="TextBox 11"/>
          <p:cNvSpPr txBox="1"/>
          <p:nvPr/>
        </p:nvSpPr>
        <p:spPr>
          <a:xfrm>
            <a:off x="2590800" y="6426200"/>
            <a:ext cx="38472" cy="375103"/>
          </a:xfrm>
          <a:prstGeom prst="rect">
            <a:avLst/>
          </a:prstGeom>
          <a:noFill/>
        </p:spPr>
        <p:txBody>
          <a:bodyPr vert="horz" wrap="none" lIns="0" tIns="0" rIns="0" bIns="0" rtlCol="0">
            <a:spAutoFit/>
          </a:bodyPr>
          <a:lstStyle/>
          <a:p>
            <a:pPr>
              <a:lnSpc>
                <a:spcPts val="1380"/>
              </a:lnSpc>
            </a:pPr>
            <a:r>
              <a:rPr lang="en-CA" sz="1201" dirty="0">
                <a:latin typeface="Times New Roman Italic"/>
                <a:cs typeface="Times New Roman Italic"/>
              </a:rPr>
              <a:t> </a:t>
            </a:r>
          </a:p>
          <a:p>
            <a:pPr>
              <a:lnSpc>
                <a:spcPts val="1380"/>
              </a:lnSpc>
            </a:pPr>
            <a:endParaRPr/>
          </a:p>
        </p:txBody>
      </p:sp>
      <p:sp>
        <p:nvSpPr>
          <p:cNvPr id="12" name="TextBox 12"/>
          <p:cNvSpPr txBox="1"/>
          <p:nvPr/>
        </p:nvSpPr>
        <p:spPr>
          <a:xfrm>
            <a:off x="762000" y="6578600"/>
            <a:ext cx="947375" cy="359073"/>
          </a:xfrm>
          <a:prstGeom prst="rect">
            <a:avLst/>
          </a:prstGeom>
          <a:noFill/>
        </p:spPr>
        <p:txBody>
          <a:bodyPr vert="horz" wrap="none" lIns="0" tIns="0" rIns="0" bIns="0" rtlCol="0">
            <a:spAutoFit/>
          </a:bodyPr>
          <a:lstStyle/>
          <a:p>
            <a:pPr>
              <a:lnSpc>
                <a:spcPts val="1410"/>
              </a:lnSpc>
            </a:pPr>
            <a:r>
              <a:rPr lang="en-CA" sz="1399" dirty="0" err="1">
                <a:latin typeface="Times New Roman"/>
                <a:cs typeface="Times New Roman"/>
              </a:rPr>
              <a:t>feb</a:t>
            </a:r>
            <a:r>
              <a:rPr lang="en-CA" sz="1399" dirty="0">
                <a:latin typeface="Times New Roman"/>
                <a:cs typeface="Times New Roman"/>
              </a:rPr>
              <a:t>  13, 2012</a:t>
            </a:r>
          </a:p>
          <a:p>
            <a:pPr>
              <a:lnSpc>
                <a:spcPts val="1410"/>
              </a:lnSpc>
            </a:pPr>
            <a:endParaRPr/>
          </a:p>
        </p:txBody>
      </p:sp>
      <p:sp>
        <p:nvSpPr>
          <p:cNvPr id="13" name="TextBox 13"/>
          <p:cNvSpPr txBox="1"/>
          <p:nvPr/>
        </p:nvSpPr>
        <p:spPr>
          <a:xfrm>
            <a:off x="3594100" y="6578600"/>
            <a:ext cx="1915268" cy="410369"/>
          </a:xfrm>
          <a:prstGeom prst="rect">
            <a:avLst/>
          </a:prstGeom>
          <a:noFill/>
        </p:spPr>
        <p:txBody>
          <a:bodyPr vert="horz" wrap="none" lIns="0" tIns="0" rIns="0" bIns="0" rtlCol="0">
            <a:spAutoFit/>
          </a:bodyPr>
          <a:lstStyle/>
          <a:p>
            <a:pPr>
              <a:lnSpc>
                <a:spcPts val="1610"/>
              </a:lnSpc>
            </a:pPr>
            <a:r>
              <a:rPr lang="en-CA" sz="1399">
                <a:latin typeface="Times New Roman Italic"/>
                <a:cs typeface="Times New Roman Italic"/>
              </a:rPr>
              <a:t>Introduction to Algorithms</a:t>
            </a:r>
          </a:p>
          <a:p>
            <a:pPr>
              <a:lnSpc>
                <a:spcPts val="1610"/>
              </a:lnSpc>
            </a:pPr>
            <a:endParaRPr/>
          </a:p>
        </p:txBody>
      </p:sp>
      <p:sp>
        <p:nvSpPr>
          <p:cNvPr id="14" name="TextBox 14"/>
          <p:cNvSpPr txBox="1"/>
          <p:nvPr/>
        </p:nvSpPr>
        <p:spPr>
          <a:xfrm>
            <a:off x="7924800" y="6578600"/>
            <a:ext cx="423193" cy="419987"/>
          </a:xfrm>
          <a:prstGeom prst="rect">
            <a:avLst/>
          </a:prstGeom>
          <a:noFill/>
        </p:spPr>
        <p:txBody>
          <a:bodyPr vert="horz" wrap="none" lIns="0" tIns="0" rIns="0" bIns="0" rtlCol="0">
            <a:spAutoFit/>
          </a:bodyPr>
          <a:lstStyle/>
          <a:p>
            <a:pPr>
              <a:lnSpc>
                <a:spcPts val="1610"/>
              </a:lnSpc>
            </a:pPr>
            <a:r>
              <a:rPr lang="en-CA" sz="1399">
                <a:latin typeface="Times New Roman"/>
                <a:cs typeface="Times New Roman"/>
              </a:rPr>
              <a:t>L1.45</a:t>
            </a:r>
          </a:p>
          <a:p>
            <a:pPr>
              <a:lnSpc>
                <a:spcPts val="1610"/>
              </a:lnSpc>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3"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Recursion tree</a:t>
            </a:r>
          </a:p>
          <a:p>
            <a:pPr>
              <a:lnSpc>
                <a:spcPts val="5060"/>
              </a:lnSpc>
            </a:pPr>
            <a:endParaRPr lang="en-CA" sz="4402">
              <a:solidFill>
                <a:srgbClr val="000000"/>
              </a:solidFill>
            </a:endParaRPr>
          </a:p>
        </p:txBody>
      </p:sp>
      <p:sp>
        <p:nvSpPr>
          <p:cNvPr id="3" name="TextBox 3"/>
          <p:cNvSpPr txBox="1"/>
          <p:nvPr/>
        </p:nvSpPr>
        <p:spPr>
          <a:xfrm>
            <a:off x="431800" y="1485900"/>
            <a:ext cx="8686800" cy="1282700"/>
          </a:xfrm>
          <a:prstGeom prst="rect">
            <a:avLst/>
          </a:prstGeom>
          <a:noFill/>
        </p:spPr>
        <p:txBody>
          <a:bodyPr vert="horz" wrap="none" lIns="0" tIns="0" rIns="0" bIns="0" rtlCol="0">
            <a:spAutoFit/>
          </a:bodyPr>
          <a:lstStyle/>
          <a:p>
            <a:pPr>
              <a:lnSpc>
                <a:spcPts val="4600"/>
              </a:lnSpc>
              <a:tabLst>
                <a:tab pos="3924300" algn="l"/>
              </a:tabLst>
            </a:pPr>
            <a:r>
              <a:rPr lang="en-CA" sz="3201">
                <a:solidFill>
                  <a:srgbClr val="000000"/>
                </a:solidFill>
                <a:latin typeface="Times New Roman"/>
                <a:cs typeface="Times New Roman"/>
              </a:rPr>
              <a:t>Solve </a:t>
            </a:r>
            <a:r>
              <a:rPr lang="en-CA" sz="3201">
                <a:solidFill>
                  <a:srgbClr val="9A9A00"/>
                </a:solidFill>
                <a:latin typeface="Times New Roman Italic"/>
                <a:cs typeface="Times New Roman Italic"/>
              </a:rPr>
              <a:t>T</a:t>
            </a:r>
            <a:r>
              <a:rPr lang="en-CA" sz="3201">
                <a:solidFill>
                  <a:srgbClr val="9A9A00"/>
                </a:solidFill>
                <a:latin typeface="Times New Roman"/>
                <a:cs typeface="Times New Roman"/>
              </a:rPr>
              <a:t>(</a:t>
            </a:r>
            <a:r>
              <a:rPr lang="en-CA" sz="3201">
                <a:solidFill>
                  <a:srgbClr val="9A9A00"/>
                </a:solidFill>
                <a:latin typeface="Times New Roman Italic"/>
                <a:cs typeface="Times New Roman Italic"/>
              </a:rPr>
              <a:t>n</a:t>
            </a:r>
            <a:r>
              <a:rPr lang="en-CA" sz="3201">
                <a:solidFill>
                  <a:srgbClr val="9A9A00"/>
                </a:solidFill>
                <a:latin typeface="Times New Roman"/>
                <a:cs typeface="Times New Roman"/>
              </a:rPr>
              <a:t>) = 2</a:t>
            </a:r>
            <a:r>
              <a:rPr lang="en-CA" sz="3201">
                <a:solidFill>
                  <a:srgbClr val="9A9A00"/>
                </a:solidFill>
                <a:latin typeface="Times New Roman Italic"/>
                <a:cs typeface="Times New Roman Italic"/>
              </a:rPr>
              <a:t>T</a:t>
            </a:r>
            <a:r>
              <a:rPr lang="en-CA" sz="3201">
                <a:solidFill>
                  <a:srgbClr val="9A9A00"/>
                </a:solidFill>
                <a:latin typeface="Times New Roman"/>
                <a:cs typeface="Times New Roman"/>
              </a:rPr>
              <a:t>(</a:t>
            </a:r>
            <a:r>
              <a:rPr lang="en-CA" sz="3201">
                <a:solidFill>
                  <a:srgbClr val="9A9A00"/>
                </a:solidFill>
                <a:latin typeface="Times New Roman Italic"/>
                <a:cs typeface="Times New Roman Italic"/>
              </a:rPr>
              <a:t>n</a:t>
            </a:r>
            <a:r>
              <a:rPr lang="en-CA" sz="3201">
                <a:solidFill>
                  <a:srgbClr val="9A9A00"/>
                </a:solidFill>
                <a:latin typeface="Times New Roman"/>
                <a:cs typeface="Times New Roman"/>
              </a:rPr>
              <a:t>/2) + </a:t>
            </a:r>
            <a:r>
              <a:rPr lang="en-CA" sz="3201">
                <a:solidFill>
                  <a:srgbClr val="9A9A00"/>
                </a:solidFill>
                <a:latin typeface="Times New Roman Italic"/>
                <a:cs typeface="Times New Roman Italic"/>
              </a:rPr>
              <a:t>cn</a:t>
            </a:r>
            <a:r>
              <a:rPr lang="en-CA" sz="3201">
                <a:solidFill>
                  <a:srgbClr val="000000"/>
                </a:solidFill>
                <a:latin typeface="Times New Roman"/>
                <a:cs typeface="Times New Roman"/>
              </a:rPr>
              <a:t>, where </a:t>
            </a:r>
            <a:r>
              <a:rPr lang="en-CA" sz="3201">
                <a:solidFill>
                  <a:srgbClr val="9A9A00"/>
                </a:solidFill>
                <a:latin typeface="Times New Roman Italic"/>
                <a:cs typeface="Times New Roman Italic"/>
              </a:rPr>
              <a:t>c </a:t>
            </a:r>
            <a:r>
              <a:rPr lang="en-CA" sz="3201">
                <a:solidFill>
                  <a:srgbClr val="9A9A00"/>
                </a:solidFill>
                <a:latin typeface="Times New Roman"/>
                <a:cs typeface="Times New Roman"/>
              </a:rPr>
              <a:t>&gt; 0</a:t>
            </a:r>
            <a:r>
              <a:rPr lang="en-CA" sz="3201">
                <a:solidFill>
                  <a:srgbClr val="000000"/>
                </a:solidFill>
                <a:latin typeface="Times New Roman"/>
                <a:cs typeface="Times New Roman"/>
              </a:rPr>
              <a:t> is constant.</a:t>
            </a:r>
            <a:br>
              <a:rPr lang="en-CA" sz="3201">
                <a:solidFill>
                  <a:srgbClr val="000000"/>
                </a:solidFill>
                <a:latin typeface="Times New Roman"/>
              </a:rPr>
            </a:br>
            <a:r>
              <a:rPr lang="en-CA" sz="3201">
                <a:solidFill>
                  <a:srgbClr val="9A9A00"/>
                </a:solidFill>
                <a:latin typeface="Times New Roman Italic"/>
                <a:cs typeface="Times New Roman Italic"/>
              </a:rPr>
              <a:t>	cn</a:t>
            </a:r>
          </a:p>
          <a:p>
            <a:pPr>
              <a:lnSpc>
                <a:spcPts val="4600"/>
              </a:lnSpc>
            </a:pPr>
            <a:endParaRPr lang="en-CA" sz="3201">
              <a:solidFill>
                <a:srgbClr val="000000"/>
              </a:solidFill>
            </a:endParaRPr>
          </a:p>
        </p:txBody>
      </p:sp>
      <p:sp>
        <p:nvSpPr>
          <p:cNvPr id="4" name="TextBox 4"/>
          <p:cNvSpPr txBox="1"/>
          <p:nvPr/>
        </p:nvSpPr>
        <p:spPr>
          <a:xfrm>
            <a:off x="152400" y="3619500"/>
            <a:ext cx="1498600" cy="685800"/>
          </a:xfrm>
          <a:prstGeom prst="rect">
            <a:avLst/>
          </a:prstGeom>
          <a:noFill/>
        </p:spPr>
        <p:txBody>
          <a:bodyPr vert="horz" wrap="none" lIns="0" tIns="0" rIns="0" bIns="0" rtlCol="0">
            <a:spAutoFit/>
          </a:bodyPr>
          <a:lstStyle/>
          <a:p>
            <a:pPr>
              <a:lnSpc>
                <a:spcPts val="3700"/>
              </a:lnSpc>
            </a:pPr>
            <a:r>
              <a:rPr lang="en-CA" sz="3201">
                <a:solidFill>
                  <a:srgbClr val="9A9A00"/>
                </a:solidFill>
                <a:latin typeface="Times New Roman Italic"/>
                <a:cs typeface="Times New Roman Italic"/>
              </a:rPr>
              <a:t>h</a:t>
            </a:r>
            <a:r>
              <a:rPr lang="en-CA" sz="3201">
                <a:solidFill>
                  <a:srgbClr val="9A9A00"/>
                </a:solidFill>
                <a:latin typeface="Times New Roman"/>
                <a:cs typeface="Times New Roman"/>
              </a:rPr>
              <a:t> = lg</a:t>
            </a:r>
            <a:r>
              <a:rPr lang="en-CA" sz="3201">
                <a:solidFill>
                  <a:srgbClr val="9A9A00"/>
                </a:solidFill>
                <a:latin typeface="Times New Roman Italic"/>
                <a:cs typeface="Times New Roman Italic"/>
              </a:rPr>
              <a:t> n</a:t>
            </a:r>
          </a:p>
          <a:p>
            <a:pPr>
              <a:lnSpc>
                <a:spcPts val="3680"/>
              </a:lnSpc>
            </a:pPr>
            <a:endParaRPr lang="en-CA" sz="3201">
              <a:solidFill>
                <a:srgbClr val="000000"/>
              </a:solidFill>
            </a:endParaRPr>
          </a:p>
        </p:txBody>
      </p:sp>
      <p:sp>
        <p:nvSpPr>
          <p:cNvPr id="5" name="TextBox 5"/>
          <p:cNvSpPr txBox="1"/>
          <p:nvPr/>
        </p:nvSpPr>
        <p:spPr>
          <a:xfrm>
            <a:off x="1752600" y="2654300"/>
            <a:ext cx="1574800" cy="1498600"/>
          </a:xfrm>
          <a:prstGeom prst="rect">
            <a:avLst/>
          </a:prstGeom>
          <a:noFill/>
        </p:spPr>
        <p:txBody>
          <a:bodyPr vert="horz" wrap="none" lIns="0" tIns="0" rIns="0" bIns="0" rtlCol="0">
            <a:spAutoFit/>
          </a:bodyPr>
          <a:lstStyle/>
          <a:p>
            <a:pPr indent="838199">
              <a:lnSpc>
                <a:spcPts val="6500"/>
              </a:lnSpc>
            </a:pPr>
            <a:r>
              <a:rPr lang="en-CA" sz="3201">
                <a:solidFill>
                  <a:srgbClr val="9A9A00"/>
                </a:solidFill>
                <a:latin typeface="Times New Roman Italic"/>
                <a:cs typeface="Times New Roman Italic"/>
              </a:rPr>
              <a:t>cn</a:t>
            </a:r>
            <a:r>
              <a:rPr lang="en-CA" sz="3201">
                <a:solidFill>
                  <a:srgbClr val="9A9A00"/>
                </a:solidFill>
                <a:latin typeface="Times New Roman"/>
                <a:cs typeface="Times New Roman"/>
              </a:rPr>
              <a:t>/2</a:t>
            </a:r>
            <a:br>
              <a:rPr lang="en-CA" sz="3201">
                <a:solidFill>
                  <a:srgbClr val="000000"/>
                </a:solidFill>
                <a:latin typeface="Times New Roman"/>
              </a:rPr>
            </a:br>
            <a:r>
              <a:rPr lang="en-CA" sz="3201">
                <a:solidFill>
                  <a:srgbClr val="9A9A00"/>
                </a:solidFill>
                <a:latin typeface="Times New Roman Italic"/>
                <a:cs typeface="Times New Roman Italic"/>
              </a:rPr>
              <a:t>cn</a:t>
            </a:r>
            <a:r>
              <a:rPr lang="en-CA" sz="3201">
                <a:solidFill>
                  <a:srgbClr val="9A9A00"/>
                </a:solidFill>
                <a:latin typeface="Times New Roman"/>
                <a:cs typeface="Times New Roman"/>
              </a:rPr>
              <a:t>/4</a:t>
            </a:r>
          </a:p>
          <a:p>
            <a:pPr>
              <a:lnSpc>
                <a:spcPts val="6470"/>
              </a:lnSpc>
            </a:pPr>
            <a:endParaRPr lang="en-CA" sz="3201">
              <a:solidFill>
                <a:srgbClr val="000000"/>
              </a:solidFill>
            </a:endParaRPr>
          </a:p>
        </p:txBody>
      </p:sp>
      <p:sp>
        <p:nvSpPr>
          <p:cNvPr id="6" name="TextBox 6"/>
          <p:cNvSpPr txBox="1"/>
          <p:nvPr/>
        </p:nvSpPr>
        <p:spPr>
          <a:xfrm>
            <a:off x="3403600" y="3771900"/>
            <a:ext cx="2271456" cy="948978"/>
          </a:xfrm>
          <a:prstGeom prst="rect">
            <a:avLst/>
          </a:prstGeom>
          <a:noFill/>
        </p:spPr>
        <p:txBody>
          <a:bodyPr vert="horz" wrap="none" lIns="0" tIns="0" rIns="0" bIns="0" rtlCol="0">
            <a:spAutoFit/>
          </a:bodyPr>
          <a:lstStyle/>
          <a:p>
            <a:pPr>
              <a:lnSpc>
                <a:spcPts val="3700"/>
              </a:lnSpc>
              <a:tabLst>
                <a:tab pos="1549400" algn="l"/>
              </a:tabLst>
            </a:pPr>
            <a:r>
              <a:rPr lang="en-CA" sz="3201" dirty="0" err="1">
                <a:solidFill>
                  <a:srgbClr val="9A9A00"/>
                </a:solidFill>
                <a:latin typeface="Times New Roman Italic"/>
                <a:cs typeface="Times New Roman Italic"/>
              </a:rPr>
              <a:t>cn</a:t>
            </a:r>
            <a:r>
              <a:rPr lang="en-CA" sz="3201" dirty="0">
                <a:solidFill>
                  <a:srgbClr val="9A9A00"/>
                </a:solidFill>
                <a:latin typeface="Times New Roman"/>
                <a:cs typeface="Times New Roman"/>
              </a:rPr>
              <a:t>/4</a:t>
            </a:r>
            <a:r>
              <a:rPr lang="en-CA" sz="3201" dirty="0">
                <a:solidFill>
                  <a:srgbClr val="9A9A00"/>
                </a:solidFill>
                <a:latin typeface="Times New Roman Italic"/>
                <a:cs typeface="Times New Roman Italic"/>
              </a:rPr>
              <a:t>	</a:t>
            </a:r>
            <a:r>
              <a:rPr lang="en-CA" sz="3201" dirty="0" err="1">
                <a:solidFill>
                  <a:srgbClr val="9A9A00"/>
                </a:solidFill>
                <a:latin typeface="Times New Roman Italic"/>
                <a:cs typeface="Times New Roman Italic"/>
              </a:rPr>
              <a:t>cn</a:t>
            </a:r>
            <a:r>
              <a:rPr lang="en-CA" sz="3201" dirty="0">
                <a:solidFill>
                  <a:srgbClr val="9A9A00"/>
                </a:solidFill>
                <a:latin typeface="Times New Roman Italic"/>
                <a:cs typeface="Times New Roman Italic"/>
              </a:rPr>
              <a:t>/</a:t>
            </a:r>
            <a:r>
              <a:rPr lang="en-CA" sz="3201" dirty="0">
                <a:solidFill>
                  <a:srgbClr val="9A9A00"/>
                </a:solidFill>
                <a:latin typeface="Times New Roman"/>
                <a:cs typeface="Times New Roman"/>
              </a:rPr>
              <a:t>4</a:t>
            </a:r>
          </a:p>
          <a:p>
            <a:pPr>
              <a:lnSpc>
                <a:spcPts val="3680"/>
              </a:lnSpc>
            </a:pPr>
            <a:endParaRPr lang="en-CA" sz="3201" dirty="0">
              <a:solidFill>
                <a:srgbClr val="000000"/>
              </a:solidFill>
            </a:endParaRPr>
          </a:p>
        </p:txBody>
      </p:sp>
      <p:sp>
        <p:nvSpPr>
          <p:cNvPr id="7" name="TextBox 7"/>
          <p:cNvSpPr txBox="1"/>
          <p:nvPr/>
        </p:nvSpPr>
        <p:spPr>
          <a:xfrm>
            <a:off x="5816600" y="2628900"/>
            <a:ext cx="1502014" cy="2400657"/>
          </a:xfrm>
          <a:prstGeom prst="rect">
            <a:avLst/>
          </a:prstGeom>
          <a:noFill/>
        </p:spPr>
        <p:txBody>
          <a:bodyPr vert="horz" wrap="none" lIns="0" tIns="0" rIns="0" bIns="0" rtlCol="0">
            <a:spAutoFit/>
          </a:bodyPr>
          <a:lstStyle/>
          <a:p>
            <a:pPr>
              <a:lnSpc>
                <a:spcPts val="6500"/>
              </a:lnSpc>
              <a:tabLst>
                <a:tab pos="787400" algn="l"/>
              </a:tabLst>
            </a:pPr>
            <a:r>
              <a:rPr lang="en-CA" sz="3201" dirty="0" err="1">
                <a:solidFill>
                  <a:srgbClr val="9A9A00"/>
                </a:solidFill>
                <a:latin typeface="Times New Roman Italic"/>
                <a:cs typeface="Times New Roman Italic"/>
              </a:rPr>
              <a:t>cn</a:t>
            </a:r>
            <a:r>
              <a:rPr lang="en-CA" sz="3201" dirty="0">
                <a:solidFill>
                  <a:srgbClr val="9A9A00"/>
                </a:solidFill>
                <a:latin typeface="Times New Roman"/>
                <a:cs typeface="Times New Roman"/>
              </a:rPr>
              <a:t>/2</a:t>
            </a:r>
            <a:br>
              <a:rPr lang="en-CA" sz="3201" dirty="0">
                <a:solidFill>
                  <a:srgbClr val="000000"/>
                </a:solidFill>
                <a:latin typeface="Times New Roman"/>
              </a:rPr>
            </a:br>
            <a:r>
              <a:rPr lang="en-CA" sz="3201" dirty="0">
                <a:solidFill>
                  <a:srgbClr val="9A9A00"/>
                </a:solidFill>
                <a:latin typeface="Times New Roman Italic"/>
                <a:cs typeface="Times New Roman Italic"/>
              </a:rPr>
              <a:t>	</a:t>
            </a:r>
            <a:r>
              <a:rPr lang="en-CA" sz="3201" dirty="0" err="1">
                <a:solidFill>
                  <a:srgbClr val="9A9A00"/>
                </a:solidFill>
                <a:latin typeface="Times New Roman Italic"/>
                <a:cs typeface="Times New Roman Italic"/>
              </a:rPr>
              <a:t>cn</a:t>
            </a:r>
            <a:r>
              <a:rPr lang="en-CA" sz="3201" dirty="0">
                <a:solidFill>
                  <a:srgbClr val="9A9A00"/>
                </a:solidFill>
                <a:latin typeface="Times New Roman"/>
                <a:cs typeface="Times New Roman"/>
              </a:rPr>
              <a:t>/4</a:t>
            </a:r>
          </a:p>
          <a:p>
            <a:pPr>
              <a:lnSpc>
                <a:spcPts val="6495"/>
              </a:lnSpc>
            </a:pPr>
            <a:endParaRPr lang="en-CA" sz="3201" dirty="0">
              <a:solidFill>
                <a:srgbClr val="000000"/>
              </a:solidFill>
            </a:endParaRPr>
          </a:p>
        </p:txBody>
      </p:sp>
      <p:sp>
        <p:nvSpPr>
          <p:cNvPr id="8" name="TextBox 8"/>
          <p:cNvSpPr txBox="1"/>
          <p:nvPr/>
        </p:nvSpPr>
        <p:spPr>
          <a:xfrm>
            <a:off x="1397000" y="5207000"/>
            <a:ext cx="1066800" cy="609600"/>
          </a:xfrm>
          <a:prstGeom prst="rect">
            <a:avLst/>
          </a:prstGeom>
          <a:noFill/>
        </p:spPr>
        <p:txBody>
          <a:bodyPr vert="horz" wrap="none" lIns="0" tIns="0" rIns="0" bIns="0" rtlCol="0">
            <a:spAutoFit/>
          </a:bodyPr>
          <a:lstStyle/>
          <a:p>
            <a:pPr>
              <a:lnSpc>
                <a:spcPts val="3680"/>
              </a:lnSpc>
            </a:pPr>
            <a:r>
              <a:rPr lang="en-CA" sz="3201">
                <a:solidFill>
                  <a:srgbClr val="9A9A00"/>
                </a:solidFill>
                <a:latin typeface="Times New Roman"/>
                <a:cs typeface="Times New Roman"/>
              </a:rPr>
              <a:t>Θ(1)</a:t>
            </a:r>
          </a:p>
          <a:p>
            <a:pPr>
              <a:lnSpc>
                <a:spcPts val="3680"/>
              </a:lnSpc>
            </a:pPr>
            <a:endParaRPr/>
          </a:p>
        </p:txBody>
      </p:sp>
      <p:sp>
        <p:nvSpPr>
          <p:cNvPr id="9" name="TextBox 9"/>
          <p:cNvSpPr txBox="1"/>
          <p:nvPr/>
        </p:nvSpPr>
        <p:spPr>
          <a:xfrm>
            <a:off x="2590800" y="6426200"/>
            <a:ext cx="43282" cy="37510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a:p>
        </p:txBody>
      </p:sp>
      <p:sp>
        <p:nvSpPr>
          <p:cNvPr id="10" name="TextBox 10"/>
          <p:cNvSpPr txBox="1"/>
          <p:nvPr/>
        </p:nvSpPr>
        <p:spPr>
          <a:xfrm>
            <a:off x="762000" y="6578600"/>
            <a:ext cx="947375" cy="375103"/>
          </a:xfrm>
          <a:prstGeom prst="rect">
            <a:avLst/>
          </a:prstGeom>
          <a:noFill/>
        </p:spPr>
        <p:txBody>
          <a:bodyPr vert="horz" wrap="none" lIns="0" tIns="0" rIns="0" bIns="0" rtlCol="0">
            <a:spAutoFit/>
          </a:bodyPr>
          <a:lstStyle/>
          <a:p>
            <a:pPr>
              <a:lnSpc>
                <a:spcPts val="141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10"/>
              </a:lnSpc>
            </a:pPr>
            <a:endParaRPr/>
          </a:p>
        </p:txBody>
      </p:sp>
      <p:sp>
        <p:nvSpPr>
          <p:cNvPr id="11" name="TextBox 11"/>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2" name="TextBox 12"/>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L1.46</a:t>
            </a:r>
          </a:p>
          <a:p>
            <a:pPr>
              <a:lnSpc>
                <a:spcPts val="1610"/>
              </a:lnSpc>
            </a:pPr>
            <a:endParaRPr/>
          </a:p>
        </p:txBody>
      </p:sp>
      <mc:AlternateContent xmlns:mc="http://schemas.openxmlformats.org/markup-compatibility/2006" xmlns:p14="http://schemas.microsoft.com/office/powerpoint/2010/main">
        <mc:Choice Requires="p14">
          <p:contentPart p14:bwMode="auto" r:id="rId3">
            <p14:nvContentPartPr>
              <p14:cNvPr id="14" name="Ink 13"/>
              <p14:cNvContentPartPr/>
              <p14:nvPr/>
            </p14:nvContentPartPr>
            <p14:xfrm>
              <a:off x="1565640" y="2473200"/>
              <a:ext cx="9065520" cy="3452400"/>
            </p14:xfrm>
          </p:contentPart>
        </mc:Choice>
        <mc:Fallback xmlns="">
          <p:pic>
            <p:nvPicPr>
              <p:cNvPr id="14" name="Ink 13"/>
              <p:cNvPicPr/>
              <p:nvPr/>
            </p:nvPicPr>
            <p:blipFill>
              <a:blip r:embed="rId4"/>
              <a:stretch>
                <a:fillRect/>
              </a:stretch>
            </p:blipFill>
            <p:spPr>
              <a:xfrm>
                <a:off x="1556280" y="2463840"/>
                <a:ext cx="9084240" cy="3471120"/>
              </a:xfrm>
              <a:prstGeom prst="rect">
                <a:avLst/>
              </a:prstGeom>
            </p:spPr>
          </p:pic>
        </mc:Fallback>
      </mc:AlternateContent>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5" name="TextBox 2"/>
          <p:cNvSpPr txBox="1"/>
          <p:nvPr/>
        </p:nvSpPr>
        <p:spPr>
          <a:xfrm>
            <a:off x="1524000" y="533400"/>
            <a:ext cx="3526030" cy="1308050"/>
          </a:xfrm>
          <a:prstGeom prst="rect">
            <a:avLst/>
          </a:prstGeom>
          <a:noFill/>
        </p:spPr>
        <p:txBody>
          <a:bodyPr vert="horz" wrap="none" lIns="0" tIns="0" rIns="0" bIns="0" rtlCol="0">
            <a:spAutoFit/>
          </a:bodyPr>
          <a:lstStyle/>
          <a:p>
            <a:pPr>
              <a:lnSpc>
                <a:spcPts val="5060"/>
              </a:lnSpc>
            </a:pPr>
            <a:r>
              <a:rPr lang="en-CA" sz="4412" b="1">
                <a:latin typeface="Times New Roman Bold"/>
                <a:cs typeface="Times New Roman Bold"/>
              </a:rPr>
              <a:t>Recursion tree</a:t>
            </a:r>
          </a:p>
          <a:p>
            <a:pPr>
              <a:lnSpc>
                <a:spcPts val="5060"/>
              </a:lnSpc>
            </a:pPr>
            <a:endParaRPr lang="en-CA" sz="4402"/>
          </a:p>
        </p:txBody>
      </p:sp>
      <p:sp>
        <p:nvSpPr>
          <p:cNvPr id="3" name="TextBox 3"/>
          <p:cNvSpPr txBox="1"/>
          <p:nvPr/>
        </p:nvSpPr>
        <p:spPr>
          <a:xfrm>
            <a:off x="431800" y="1574800"/>
            <a:ext cx="8317983" cy="948978"/>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Solve </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 = 2</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/2) + </a:t>
            </a:r>
            <a:r>
              <a:rPr lang="en-CA" sz="3201">
                <a:latin typeface="Times New Roman Italic"/>
                <a:cs typeface="Times New Roman Italic"/>
              </a:rPr>
              <a:t>cn</a:t>
            </a:r>
            <a:r>
              <a:rPr lang="en-CA" sz="3201">
                <a:latin typeface="Times New Roman"/>
                <a:cs typeface="Times New Roman"/>
              </a:rPr>
              <a:t>, where </a:t>
            </a:r>
            <a:r>
              <a:rPr lang="en-CA" sz="3201">
                <a:latin typeface="Times New Roman Italic"/>
                <a:cs typeface="Times New Roman Italic"/>
              </a:rPr>
              <a:t>c </a:t>
            </a:r>
            <a:r>
              <a:rPr lang="en-CA" sz="3201">
                <a:latin typeface="Times New Roman"/>
                <a:cs typeface="Times New Roman"/>
              </a:rPr>
              <a:t>&gt; 0 is constant.</a:t>
            </a:r>
          </a:p>
          <a:p>
            <a:pPr>
              <a:lnSpc>
                <a:spcPts val="3680"/>
              </a:lnSpc>
            </a:pPr>
            <a:endParaRPr lang="en-CA" sz="3201"/>
          </a:p>
        </p:txBody>
      </p:sp>
      <p:sp>
        <p:nvSpPr>
          <p:cNvPr id="4" name="TextBox 4"/>
          <p:cNvSpPr txBox="1"/>
          <p:nvPr/>
        </p:nvSpPr>
        <p:spPr>
          <a:xfrm>
            <a:off x="152400" y="3619500"/>
            <a:ext cx="1267976"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h</a:t>
            </a:r>
            <a:r>
              <a:rPr lang="en-CA" sz="3201">
                <a:latin typeface="Times New Roman"/>
                <a:cs typeface="Times New Roman"/>
              </a:rPr>
              <a:t> = lg</a:t>
            </a:r>
            <a:r>
              <a:rPr lang="en-CA" sz="3201">
                <a:latin typeface="Times New Roman Italic"/>
                <a:cs typeface="Times New Roman Italic"/>
              </a:rPr>
              <a:t> n</a:t>
            </a:r>
          </a:p>
          <a:p>
            <a:pPr>
              <a:lnSpc>
                <a:spcPts val="3680"/>
              </a:lnSpc>
            </a:pPr>
            <a:endParaRPr lang="en-CA" sz="3201"/>
          </a:p>
        </p:txBody>
      </p:sp>
      <p:sp>
        <p:nvSpPr>
          <p:cNvPr id="5" name="TextBox 5"/>
          <p:cNvSpPr txBox="1"/>
          <p:nvPr/>
        </p:nvSpPr>
        <p:spPr>
          <a:xfrm>
            <a:off x="1752600" y="2654300"/>
            <a:ext cx="1553310" cy="2400657"/>
          </a:xfrm>
          <a:prstGeom prst="rect">
            <a:avLst/>
          </a:prstGeom>
          <a:noFill/>
        </p:spPr>
        <p:txBody>
          <a:bodyPr vert="horz" wrap="none" lIns="0" tIns="0" rIns="0" bIns="0" rtlCol="0">
            <a:spAutoFit/>
          </a:bodyPr>
          <a:lstStyle/>
          <a:p>
            <a:pPr indent="838199">
              <a:lnSpc>
                <a:spcPts val="6500"/>
              </a:lnSpc>
            </a:pPr>
            <a:r>
              <a:rPr lang="en-CA" sz="3201">
                <a:latin typeface="Times New Roman Italic"/>
                <a:cs typeface="Times New Roman Italic"/>
              </a:rPr>
              <a:t>cn</a:t>
            </a:r>
            <a:r>
              <a:rPr lang="en-CA" sz="3201">
                <a:latin typeface="Times New Roman"/>
                <a:cs typeface="Times New Roman"/>
              </a:rPr>
              <a:t>/2</a:t>
            </a:r>
            <a:br>
              <a:rPr lang="en-CA" sz="3201">
                <a:latin typeface="Times New Roman"/>
              </a:rPr>
            </a:br>
            <a:r>
              <a:rPr lang="en-CA" sz="3201">
                <a:latin typeface="Times New Roman Italic"/>
                <a:cs typeface="Times New Roman Italic"/>
              </a:rPr>
              <a:t>cn</a:t>
            </a:r>
            <a:r>
              <a:rPr lang="en-CA" sz="3201">
                <a:latin typeface="Times New Roman"/>
                <a:cs typeface="Times New Roman"/>
              </a:rPr>
              <a:t>/4</a:t>
            </a:r>
          </a:p>
          <a:p>
            <a:pPr>
              <a:lnSpc>
                <a:spcPts val="6470"/>
              </a:lnSpc>
            </a:pPr>
            <a:endParaRPr lang="en-CA" sz="3201"/>
          </a:p>
        </p:txBody>
      </p:sp>
      <p:sp>
        <p:nvSpPr>
          <p:cNvPr id="6" name="TextBox 6"/>
          <p:cNvSpPr txBox="1"/>
          <p:nvPr/>
        </p:nvSpPr>
        <p:spPr>
          <a:xfrm>
            <a:off x="4356100" y="2171700"/>
            <a:ext cx="387927"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cn</a:t>
            </a:r>
          </a:p>
          <a:p>
            <a:pPr>
              <a:lnSpc>
                <a:spcPts val="3680"/>
              </a:lnSpc>
            </a:pPr>
            <a:endParaRPr lang="en-CA" sz="3201"/>
          </a:p>
        </p:txBody>
      </p:sp>
      <p:sp>
        <p:nvSpPr>
          <p:cNvPr id="7" name="TextBox 7"/>
          <p:cNvSpPr txBox="1"/>
          <p:nvPr/>
        </p:nvSpPr>
        <p:spPr>
          <a:xfrm>
            <a:off x="3403600" y="3771900"/>
            <a:ext cx="2271456" cy="948978"/>
          </a:xfrm>
          <a:prstGeom prst="rect">
            <a:avLst/>
          </a:prstGeom>
          <a:noFill/>
        </p:spPr>
        <p:txBody>
          <a:bodyPr vert="horz" wrap="none" lIns="0" tIns="0" rIns="0" bIns="0" rtlCol="0">
            <a:spAutoFit/>
          </a:bodyPr>
          <a:lstStyle/>
          <a:p>
            <a:pPr>
              <a:lnSpc>
                <a:spcPts val="3700"/>
              </a:lnSpc>
              <a:tabLst>
                <a:tab pos="1549400" algn="l"/>
              </a:tabLst>
            </a:pPr>
            <a:r>
              <a:rPr lang="en-CA" sz="3201" dirty="0" err="1">
                <a:latin typeface="Times New Roman Italic"/>
                <a:cs typeface="Times New Roman Italic"/>
              </a:rPr>
              <a:t>cn</a:t>
            </a:r>
            <a:r>
              <a:rPr lang="en-CA" sz="3201" dirty="0">
                <a:latin typeface="Times New Roman"/>
                <a:cs typeface="Times New Roman"/>
              </a:rPr>
              <a:t>/4</a:t>
            </a:r>
            <a:r>
              <a:rPr lang="en-CA" sz="3201" dirty="0">
                <a:latin typeface="Times New Roman Italic"/>
                <a:cs typeface="Times New Roman Italic"/>
              </a:rPr>
              <a:t>	</a:t>
            </a:r>
            <a:r>
              <a:rPr lang="en-CA" sz="3201" dirty="0" err="1">
                <a:latin typeface="Times New Roman Italic"/>
                <a:cs typeface="Times New Roman Italic"/>
              </a:rPr>
              <a:t>cn</a:t>
            </a:r>
            <a:r>
              <a:rPr lang="en-CA" sz="3201" dirty="0">
                <a:latin typeface="Times New Roman"/>
                <a:cs typeface="Times New Roman"/>
              </a:rPr>
              <a:t>/4</a:t>
            </a:r>
          </a:p>
          <a:p>
            <a:pPr>
              <a:lnSpc>
                <a:spcPts val="3680"/>
              </a:lnSpc>
            </a:pPr>
            <a:endParaRPr lang="en-CA" sz="3201" dirty="0"/>
          </a:p>
        </p:txBody>
      </p:sp>
      <p:sp>
        <p:nvSpPr>
          <p:cNvPr id="8" name="TextBox 8"/>
          <p:cNvSpPr txBox="1"/>
          <p:nvPr/>
        </p:nvSpPr>
        <p:spPr>
          <a:xfrm>
            <a:off x="8077200" y="2171700"/>
            <a:ext cx="387927"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cn</a:t>
            </a:r>
          </a:p>
          <a:p>
            <a:pPr>
              <a:lnSpc>
                <a:spcPts val="3680"/>
              </a:lnSpc>
            </a:pPr>
            <a:endParaRPr lang="en-CA" sz="3201"/>
          </a:p>
        </p:txBody>
      </p:sp>
      <p:sp>
        <p:nvSpPr>
          <p:cNvPr id="9" name="TextBox 9"/>
          <p:cNvSpPr txBox="1"/>
          <p:nvPr/>
        </p:nvSpPr>
        <p:spPr>
          <a:xfrm>
            <a:off x="5816600" y="2628900"/>
            <a:ext cx="1502014" cy="2410275"/>
          </a:xfrm>
          <a:prstGeom prst="rect">
            <a:avLst/>
          </a:prstGeom>
          <a:noFill/>
        </p:spPr>
        <p:txBody>
          <a:bodyPr vert="horz" wrap="none" lIns="0" tIns="0" rIns="0" bIns="0" rtlCol="0">
            <a:spAutoFit/>
          </a:bodyPr>
          <a:lstStyle/>
          <a:p>
            <a:pPr>
              <a:lnSpc>
                <a:spcPts val="6500"/>
              </a:lnSpc>
              <a:tabLst>
                <a:tab pos="787400" algn="l"/>
              </a:tabLst>
            </a:pPr>
            <a:r>
              <a:rPr lang="en-CA" sz="3201" dirty="0" err="1">
                <a:latin typeface="Times New Roman Italic"/>
                <a:cs typeface="Times New Roman Italic"/>
              </a:rPr>
              <a:t>cn</a:t>
            </a:r>
            <a:r>
              <a:rPr lang="en-CA" sz="3201" dirty="0">
                <a:latin typeface="Times New Roman"/>
                <a:cs typeface="Times New Roman"/>
              </a:rPr>
              <a:t>/2</a:t>
            </a:r>
            <a:br>
              <a:rPr lang="en-CA" sz="3201" dirty="0">
                <a:latin typeface="Times New Roman"/>
              </a:rPr>
            </a:br>
            <a:r>
              <a:rPr lang="en-CA" sz="3201" dirty="0">
                <a:latin typeface="Times New Roman Italic"/>
                <a:cs typeface="Times New Roman Italic"/>
              </a:rPr>
              <a:t>	</a:t>
            </a:r>
            <a:r>
              <a:rPr lang="en-CA" sz="3201" dirty="0" err="1">
                <a:latin typeface="Times New Roman Italic"/>
                <a:cs typeface="Times New Roman Italic"/>
              </a:rPr>
              <a:t>cn</a:t>
            </a:r>
            <a:r>
              <a:rPr lang="en-CA" sz="3201" dirty="0">
                <a:latin typeface="Times New Roman"/>
                <a:cs typeface="Times New Roman"/>
              </a:rPr>
              <a:t>/4</a:t>
            </a:r>
          </a:p>
          <a:p>
            <a:pPr>
              <a:lnSpc>
                <a:spcPts val="6550"/>
              </a:lnSpc>
            </a:pPr>
            <a:endParaRPr lang="en-CA" sz="3201" dirty="0"/>
          </a:p>
        </p:txBody>
      </p:sp>
      <p:sp>
        <p:nvSpPr>
          <p:cNvPr id="10" name="TextBox 10"/>
          <p:cNvSpPr txBox="1"/>
          <p:nvPr/>
        </p:nvSpPr>
        <p:spPr>
          <a:xfrm>
            <a:off x="1397000" y="5207000"/>
            <a:ext cx="774251" cy="891270"/>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Θ(1)</a:t>
            </a:r>
          </a:p>
          <a:p>
            <a:pPr>
              <a:lnSpc>
                <a:spcPts val="3680"/>
              </a:lnSpc>
            </a:pPr>
            <a:endParaRPr/>
          </a:p>
        </p:txBody>
      </p:sp>
      <p:sp>
        <p:nvSpPr>
          <p:cNvPr id="11" name="TextBox 11"/>
          <p:cNvSpPr txBox="1"/>
          <p:nvPr/>
        </p:nvSpPr>
        <p:spPr>
          <a:xfrm>
            <a:off x="2590800" y="6426200"/>
            <a:ext cx="38472" cy="375103"/>
          </a:xfrm>
          <a:prstGeom prst="rect">
            <a:avLst/>
          </a:prstGeom>
          <a:noFill/>
        </p:spPr>
        <p:txBody>
          <a:bodyPr vert="horz" wrap="none" lIns="0" tIns="0" rIns="0" bIns="0" rtlCol="0">
            <a:spAutoFit/>
          </a:bodyPr>
          <a:lstStyle/>
          <a:p>
            <a:pPr>
              <a:lnSpc>
                <a:spcPts val="1380"/>
              </a:lnSpc>
            </a:pPr>
            <a:r>
              <a:rPr lang="en-CA" sz="1201" dirty="0">
                <a:latin typeface="Times New Roman Italic"/>
                <a:cs typeface="Times New Roman Italic"/>
              </a:rPr>
              <a:t> </a:t>
            </a:r>
          </a:p>
          <a:p>
            <a:pPr>
              <a:lnSpc>
                <a:spcPts val="1380"/>
              </a:lnSpc>
            </a:pPr>
            <a:endParaRPr/>
          </a:p>
        </p:txBody>
      </p:sp>
      <p:sp>
        <p:nvSpPr>
          <p:cNvPr id="12" name="TextBox 12"/>
          <p:cNvSpPr txBox="1"/>
          <p:nvPr/>
        </p:nvSpPr>
        <p:spPr>
          <a:xfrm>
            <a:off x="762000" y="6578600"/>
            <a:ext cx="947375" cy="359073"/>
          </a:xfrm>
          <a:prstGeom prst="rect">
            <a:avLst/>
          </a:prstGeom>
          <a:noFill/>
        </p:spPr>
        <p:txBody>
          <a:bodyPr vert="horz" wrap="none" lIns="0" tIns="0" rIns="0" bIns="0" rtlCol="0">
            <a:spAutoFit/>
          </a:bodyPr>
          <a:lstStyle/>
          <a:p>
            <a:pPr>
              <a:lnSpc>
                <a:spcPts val="1410"/>
              </a:lnSpc>
            </a:pPr>
            <a:r>
              <a:rPr lang="en-CA" sz="1399" dirty="0" err="1">
                <a:latin typeface="Times New Roman"/>
                <a:cs typeface="Times New Roman"/>
              </a:rPr>
              <a:t>feb</a:t>
            </a:r>
            <a:r>
              <a:rPr lang="en-CA" sz="1399" dirty="0">
                <a:latin typeface="Times New Roman"/>
                <a:cs typeface="Times New Roman"/>
              </a:rPr>
              <a:t>  13, 2012</a:t>
            </a:r>
          </a:p>
          <a:p>
            <a:pPr>
              <a:lnSpc>
                <a:spcPts val="1410"/>
              </a:lnSpc>
            </a:pPr>
            <a:endParaRPr/>
          </a:p>
        </p:txBody>
      </p:sp>
      <p:sp>
        <p:nvSpPr>
          <p:cNvPr id="13" name="TextBox 13"/>
          <p:cNvSpPr txBox="1"/>
          <p:nvPr/>
        </p:nvSpPr>
        <p:spPr>
          <a:xfrm>
            <a:off x="3594100" y="6578600"/>
            <a:ext cx="1915268" cy="410369"/>
          </a:xfrm>
          <a:prstGeom prst="rect">
            <a:avLst/>
          </a:prstGeom>
          <a:noFill/>
        </p:spPr>
        <p:txBody>
          <a:bodyPr vert="horz" wrap="none" lIns="0" tIns="0" rIns="0" bIns="0" rtlCol="0">
            <a:spAutoFit/>
          </a:bodyPr>
          <a:lstStyle/>
          <a:p>
            <a:pPr>
              <a:lnSpc>
                <a:spcPts val="1610"/>
              </a:lnSpc>
            </a:pPr>
            <a:r>
              <a:rPr lang="en-CA" sz="1399">
                <a:latin typeface="Times New Roman Italic"/>
                <a:cs typeface="Times New Roman Italic"/>
              </a:rPr>
              <a:t>Introduction to Algorithms</a:t>
            </a:r>
          </a:p>
          <a:p>
            <a:pPr>
              <a:lnSpc>
                <a:spcPts val="1610"/>
              </a:lnSpc>
            </a:pPr>
            <a:endParaRPr/>
          </a:p>
        </p:txBody>
      </p:sp>
      <p:sp>
        <p:nvSpPr>
          <p:cNvPr id="14" name="TextBox 14"/>
          <p:cNvSpPr txBox="1"/>
          <p:nvPr/>
        </p:nvSpPr>
        <p:spPr>
          <a:xfrm>
            <a:off x="7924800" y="6578600"/>
            <a:ext cx="423193" cy="419987"/>
          </a:xfrm>
          <a:prstGeom prst="rect">
            <a:avLst/>
          </a:prstGeom>
          <a:noFill/>
        </p:spPr>
        <p:txBody>
          <a:bodyPr vert="horz" wrap="none" lIns="0" tIns="0" rIns="0" bIns="0" rtlCol="0">
            <a:spAutoFit/>
          </a:bodyPr>
          <a:lstStyle/>
          <a:p>
            <a:pPr>
              <a:lnSpc>
                <a:spcPts val="1610"/>
              </a:lnSpc>
            </a:pPr>
            <a:r>
              <a:rPr lang="en-CA" sz="1399">
                <a:latin typeface="Times New Roman"/>
                <a:cs typeface="Times New Roman"/>
              </a:rPr>
              <a:t>L1.47</a:t>
            </a:r>
          </a:p>
          <a:p>
            <a:pPr>
              <a:lnSpc>
                <a:spcPts val="1610"/>
              </a:lnSpc>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6" name="TextBox 2"/>
          <p:cNvSpPr txBox="1"/>
          <p:nvPr/>
        </p:nvSpPr>
        <p:spPr>
          <a:xfrm>
            <a:off x="1524000" y="533400"/>
            <a:ext cx="3526030" cy="1308050"/>
          </a:xfrm>
          <a:prstGeom prst="rect">
            <a:avLst/>
          </a:prstGeom>
          <a:noFill/>
        </p:spPr>
        <p:txBody>
          <a:bodyPr vert="horz" wrap="none" lIns="0" tIns="0" rIns="0" bIns="0" rtlCol="0">
            <a:spAutoFit/>
          </a:bodyPr>
          <a:lstStyle/>
          <a:p>
            <a:pPr>
              <a:lnSpc>
                <a:spcPts val="5060"/>
              </a:lnSpc>
            </a:pPr>
            <a:r>
              <a:rPr lang="en-CA" sz="4412" b="1">
                <a:latin typeface="Times New Roman Bold"/>
                <a:cs typeface="Times New Roman Bold"/>
              </a:rPr>
              <a:t>Recursion tree</a:t>
            </a:r>
          </a:p>
          <a:p>
            <a:pPr>
              <a:lnSpc>
                <a:spcPts val="5060"/>
              </a:lnSpc>
            </a:pPr>
            <a:endParaRPr lang="en-CA" sz="4402"/>
          </a:p>
        </p:txBody>
      </p:sp>
      <p:sp>
        <p:nvSpPr>
          <p:cNvPr id="3" name="TextBox 3"/>
          <p:cNvSpPr txBox="1"/>
          <p:nvPr/>
        </p:nvSpPr>
        <p:spPr>
          <a:xfrm>
            <a:off x="431800" y="1574800"/>
            <a:ext cx="8317983" cy="948978"/>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Solve </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 = 2</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/2) + </a:t>
            </a:r>
            <a:r>
              <a:rPr lang="en-CA" sz="3201">
                <a:latin typeface="Times New Roman Italic"/>
                <a:cs typeface="Times New Roman Italic"/>
              </a:rPr>
              <a:t>cn</a:t>
            </a:r>
            <a:r>
              <a:rPr lang="en-CA" sz="3201">
                <a:latin typeface="Times New Roman"/>
                <a:cs typeface="Times New Roman"/>
              </a:rPr>
              <a:t>, where </a:t>
            </a:r>
            <a:r>
              <a:rPr lang="en-CA" sz="3201">
                <a:latin typeface="Times New Roman Italic"/>
                <a:cs typeface="Times New Roman Italic"/>
              </a:rPr>
              <a:t>c </a:t>
            </a:r>
            <a:r>
              <a:rPr lang="en-CA" sz="3201">
                <a:latin typeface="Times New Roman"/>
                <a:cs typeface="Times New Roman"/>
              </a:rPr>
              <a:t>&gt; 0 is constant.</a:t>
            </a:r>
          </a:p>
          <a:p>
            <a:pPr>
              <a:lnSpc>
                <a:spcPts val="3680"/>
              </a:lnSpc>
            </a:pPr>
            <a:endParaRPr lang="en-CA" sz="3201"/>
          </a:p>
        </p:txBody>
      </p:sp>
      <p:sp>
        <p:nvSpPr>
          <p:cNvPr id="4" name="TextBox 4"/>
          <p:cNvSpPr txBox="1"/>
          <p:nvPr/>
        </p:nvSpPr>
        <p:spPr>
          <a:xfrm>
            <a:off x="152400" y="3619500"/>
            <a:ext cx="1267976"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h</a:t>
            </a:r>
            <a:r>
              <a:rPr lang="en-CA" sz="3201">
                <a:latin typeface="Times New Roman"/>
                <a:cs typeface="Times New Roman"/>
              </a:rPr>
              <a:t> = lg</a:t>
            </a:r>
            <a:r>
              <a:rPr lang="en-CA" sz="3201">
                <a:latin typeface="Times New Roman Italic"/>
                <a:cs typeface="Times New Roman Italic"/>
              </a:rPr>
              <a:t> n</a:t>
            </a:r>
          </a:p>
          <a:p>
            <a:pPr>
              <a:lnSpc>
                <a:spcPts val="3680"/>
              </a:lnSpc>
            </a:pPr>
            <a:endParaRPr lang="en-CA" sz="3201"/>
          </a:p>
        </p:txBody>
      </p:sp>
      <p:sp>
        <p:nvSpPr>
          <p:cNvPr id="5" name="TextBox 5"/>
          <p:cNvSpPr txBox="1"/>
          <p:nvPr/>
        </p:nvSpPr>
        <p:spPr>
          <a:xfrm>
            <a:off x="1752600" y="2654300"/>
            <a:ext cx="1553310" cy="2400657"/>
          </a:xfrm>
          <a:prstGeom prst="rect">
            <a:avLst/>
          </a:prstGeom>
          <a:noFill/>
        </p:spPr>
        <p:txBody>
          <a:bodyPr vert="horz" wrap="none" lIns="0" tIns="0" rIns="0" bIns="0" rtlCol="0">
            <a:spAutoFit/>
          </a:bodyPr>
          <a:lstStyle/>
          <a:p>
            <a:pPr indent="838199">
              <a:lnSpc>
                <a:spcPts val="6500"/>
              </a:lnSpc>
            </a:pPr>
            <a:r>
              <a:rPr lang="en-CA" sz="3201">
                <a:latin typeface="Times New Roman Italic"/>
                <a:cs typeface="Times New Roman Italic"/>
              </a:rPr>
              <a:t>cn</a:t>
            </a:r>
            <a:r>
              <a:rPr lang="en-CA" sz="3201">
                <a:latin typeface="Times New Roman"/>
                <a:cs typeface="Times New Roman"/>
              </a:rPr>
              <a:t>/2</a:t>
            </a:r>
            <a:br>
              <a:rPr lang="en-CA" sz="3201">
                <a:latin typeface="Times New Roman"/>
              </a:rPr>
            </a:br>
            <a:r>
              <a:rPr lang="en-CA" sz="3201">
                <a:latin typeface="Times New Roman Italic"/>
                <a:cs typeface="Times New Roman Italic"/>
              </a:rPr>
              <a:t>cn</a:t>
            </a:r>
            <a:r>
              <a:rPr lang="en-CA" sz="3201">
                <a:latin typeface="Times New Roman"/>
                <a:cs typeface="Times New Roman"/>
              </a:rPr>
              <a:t>/4</a:t>
            </a:r>
          </a:p>
          <a:p>
            <a:pPr>
              <a:lnSpc>
                <a:spcPts val="6470"/>
              </a:lnSpc>
            </a:pPr>
            <a:endParaRPr lang="en-CA" sz="3201"/>
          </a:p>
        </p:txBody>
      </p:sp>
      <p:sp>
        <p:nvSpPr>
          <p:cNvPr id="6" name="TextBox 6"/>
          <p:cNvSpPr txBox="1"/>
          <p:nvPr/>
        </p:nvSpPr>
        <p:spPr>
          <a:xfrm>
            <a:off x="4356100" y="2171700"/>
            <a:ext cx="387927"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cn</a:t>
            </a:r>
          </a:p>
          <a:p>
            <a:pPr>
              <a:lnSpc>
                <a:spcPts val="3680"/>
              </a:lnSpc>
            </a:pPr>
            <a:endParaRPr lang="en-CA" sz="3201"/>
          </a:p>
        </p:txBody>
      </p:sp>
      <p:sp>
        <p:nvSpPr>
          <p:cNvPr id="7" name="TextBox 7"/>
          <p:cNvSpPr txBox="1"/>
          <p:nvPr/>
        </p:nvSpPr>
        <p:spPr>
          <a:xfrm>
            <a:off x="3403600" y="3771900"/>
            <a:ext cx="2271456" cy="948978"/>
          </a:xfrm>
          <a:prstGeom prst="rect">
            <a:avLst/>
          </a:prstGeom>
          <a:noFill/>
        </p:spPr>
        <p:txBody>
          <a:bodyPr vert="horz" wrap="none" lIns="0" tIns="0" rIns="0" bIns="0" rtlCol="0">
            <a:spAutoFit/>
          </a:bodyPr>
          <a:lstStyle/>
          <a:p>
            <a:pPr>
              <a:lnSpc>
                <a:spcPts val="3700"/>
              </a:lnSpc>
              <a:tabLst>
                <a:tab pos="1549400" algn="l"/>
              </a:tabLst>
            </a:pPr>
            <a:r>
              <a:rPr lang="en-CA" sz="3201" dirty="0" err="1">
                <a:latin typeface="Times New Roman Italic"/>
                <a:cs typeface="Times New Roman Italic"/>
              </a:rPr>
              <a:t>cn</a:t>
            </a:r>
            <a:r>
              <a:rPr lang="en-CA" sz="3201" dirty="0">
                <a:latin typeface="Times New Roman"/>
                <a:cs typeface="Times New Roman"/>
              </a:rPr>
              <a:t>/4</a:t>
            </a:r>
            <a:r>
              <a:rPr lang="en-CA" sz="3201" dirty="0">
                <a:latin typeface="Times New Roman Italic"/>
                <a:cs typeface="Times New Roman Italic"/>
              </a:rPr>
              <a:t>	</a:t>
            </a:r>
            <a:r>
              <a:rPr lang="en-CA" sz="3201" dirty="0" err="1">
                <a:latin typeface="Times New Roman Italic"/>
                <a:cs typeface="Times New Roman Italic"/>
              </a:rPr>
              <a:t>cn</a:t>
            </a:r>
            <a:r>
              <a:rPr lang="en-CA" sz="3201" dirty="0">
                <a:latin typeface="Times New Roman"/>
                <a:cs typeface="Times New Roman"/>
              </a:rPr>
              <a:t>/4</a:t>
            </a:r>
          </a:p>
          <a:p>
            <a:pPr>
              <a:lnSpc>
                <a:spcPts val="3680"/>
              </a:lnSpc>
            </a:pPr>
            <a:endParaRPr lang="en-CA" sz="3201" dirty="0"/>
          </a:p>
        </p:txBody>
      </p:sp>
      <p:sp>
        <p:nvSpPr>
          <p:cNvPr id="8" name="TextBox 8"/>
          <p:cNvSpPr txBox="1"/>
          <p:nvPr/>
        </p:nvSpPr>
        <p:spPr>
          <a:xfrm>
            <a:off x="8077200" y="2171700"/>
            <a:ext cx="387927"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cn</a:t>
            </a:r>
          </a:p>
          <a:p>
            <a:pPr>
              <a:lnSpc>
                <a:spcPts val="3680"/>
              </a:lnSpc>
            </a:pPr>
            <a:endParaRPr lang="en-CA" sz="3201"/>
          </a:p>
        </p:txBody>
      </p:sp>
      <p:sp>
        <p:nvSpPr>
          <p:cNvPr id="9" name="TextBox 9"/>
          <p:cNvSpPr txBox="1"/>
          <p:nvPr/>
        </p:nvSpPr>
        <p:spPr>
          <a:xfrm>
            <a:off x="5816600" y="2933700"/>
            <a:ext cx="2670603" cy="948978"/>
          </a:xfrm>
          <a:prstGeom prst="rect">
            <a:avLst/>
          </a:prstGeom>
          <a:noFill/>
        </p:spPr>
        <p:txBody>
          <a:bodyPr vert="horz" wrap="none" lIns="0" tIns="0" rIns="0" bIns="0" rtlCol="0">
            <a:spAutoFit/>
          </a:bodyPr>
          <a:lstStyle/>
          <a:p>
            <a:pPr>
              <a:lnSpc>
                <a:spcPts val="3700"/>
              </a:lnSpc>
              <a:tabLst>
                <a:tab pos="2260600" algn="l"/>
              </a:tabLst>
            </a:pPr>
            <a:r>
              <a:rPr lang="en-CA" sz="3201">
                <a:latin typeface="Times New Roman Italic"/>
                <a:cs typeface="Times New Roman Italic"/>
              </a:rPr>
              <a:t>cn</a:t>
            </a:r>
            <a:r>
              <a:rPr lang="en-CA" sz="3201">
                <a:latin typeface="Times New Roman"/>
                <a:cs typeface="Times New Roman"/>
              </a:rPr>
              <a:t>/2</a:t>
            </a:r>
            <a:r>
              <a:rPr lang="en-CA" sz="3201">
                <a:latin typeface="Times New Roman Italic"/>
                <a:cs typeface="Times New Roman Italic"/>
              </a:rPr>
              <a:t>	cn</a:t>
            </a:r>
          </a:p>
          <a:p>
            <a:pPr>
              <a:lnSpc>
                <a:spcPts val="3680"/>
              </a:lnSpc>
            </a:pPr>
            <a:endParaRPr lang="en-CA" sz="3201"/>
          </a:p>
        </p:txBody>
      </p:sp>
      <p:sp>
        <p:nvSpPr>
          <p:cNvPr id="10" name="TextBox 10"/>
          <p:cNvSpPr txBox="1"/>
          <p:nvPr/>
        </p:nvSpPr>
        <p:spPr>
          <a:xfrm>
            <a:off x="6604000" y="3759200"/>
            <a:ext cx="706925" cy="948978"/>
          </a:xfrm>
          <a:prstGeom prst="rect">
            <a:avLst/>
          </a:prstGeom>
          <a:noFill/>
        </p:spPr>
        <p:txBody>
          <a:bodyPr vert="horz" wrap="none" lIns="0" tIns="0" rIns="0" bIns="0" rtlCol="0">
            <a:spAutoFit/>
          </a:bodyPr>
          <a:lstStyle/>
          <a:p>
            <a:pPr>
              <a:lnSpc>
                <a:spcPts val="3700"/>
              </a:lnSpc>
            </a:pPr>
            <a:r>
              <a:rPr lang="en-CA" sz="3201" dirty="0" err="1">
                <a:latin typeface="Times New Roman Italic"/>
                <a:cs typeface="Times New Roman Italic"/>
              </a:rPr>
              <a:t>cn</a:t>
            </a:r>
            <a:r>
              <a:rPr lang="en-CA" sz="3201" dirty="0">
                <a:latin typeface="Times New Roman"/>
                <a:cs typeface="Times New Roman"/>
              </a:rPr>
              <a:t>/4</a:t>
            </a:r>
          </a:p>
          <a:p>
            <a:pPr>
              <a:lnSpc>
                <a:spcPts val="3680"/>
              </a:lnSpc>
            </a:pPr>
            <a:endParaRPr lang="en-CA" sz="3201" dirty="0"/>
          </a:p>
        </p:txBody>
      </p:sp>
      <p:sp>
        <p:nvSpPr>
          <p:cNvPr id="11" name="TextBox 11"/>
          <p:cNvSpPr txBox="1"/>
          <p:nvPr/>
        </p:nvSpPr>
        <p:spPr>
          <a:xfrm>
            <a:off x="1397000" y="5207000"/>
            <a:ext cx="774251" cy="891270"/>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Θ(1)</a:t>
            </a:r>
          </a:p>
          <a:p>
            <a:pPr>
              <a:lnSpc>
                <a:spcPts val="3680"/>
              </a:lnSpc>
            </a:pPr>
            <a:endParaRPr/>
          </a:p>
        </p:txBody>
      </p:sp>
      <p:sp>
        <p:nvSpPr>
          <p:cNvPr id="12" name="TextBox 12"/>
          <p:cNvSpPr txBox="1"/>
          <p:nvPr/>
        </p:nvSpPr>
        <p:spPr>
          <a:xfrm>
            <a:off x="2590800" y="6426200"/>
            <a:ext cx="38472" cy="375103"/>
          </a:xfrm>
          <a:prstGeom prst="rect">
            <a:avLst/>
          </a:prstGeom>
          <a:noFill/>
        </p:spPr>
        <p:txBody>
          <a:bodyPr vert="horz" wrap="none" lIns="0" tIns="0" rIns="0" bIns="0" rtlCol="0">
            <a:spAutoFit/>
          </a:bodyPr>
          <a:lstStyle/>
          <a:p>
            <a:pPr>
              <a:lnSpc>
                <a:spcPts val="1380"/>
              </a:lnSpc>
            </a:pPr>
            <a:r>
              <a:rPr lang="en-CA" sz="1201" dirty="0">
                <a:latin typeface="Times New Roman Italic"/>
                <a:cs typeface="Times New Roman Italic"/>
              </a:rPr>
              <a:t> </a:t>
            </a:r>
          </a:p>
          <a:p>
            <a:pPr>
              <a:lnSpc>
                <a:spcPts val="1380"/>
              </a:lnSpc>
            </a:pPr>
            <a:endParaRPr/>
          </a:p>
        </p:txBody>
      </p:sp>
      <p:sp>
        <p:nvSpPr>
          <p:cNvPr id="13" name="TextBox 13"/>
          <p:cNvSpPr txBox="1"/>
          <p:nvPr/>
        </p:nvSpPr>
        <p:spPr>
          <a:xfrm>
            <a:off x="762000" y="6578600"/>
            <a:ext cx="947375" cy="359073"/>
          </a:xfrm>
          <a:prstGeom prst="rect">
            <a:avLst/>
          </a:prstGeom>
          <a:noFill/>
        </p:spPr>
        <p:txBody>
          <a:bodyPr vert="horz" wrap="none" lIns="0" tIns="0" rIns="0" bIns="0" rtlCol="0">
            <a:spAutoFit/>
          </a:bodyPr>
          <a:lstStyle/>
          <a:p>
            <a:pPr>
              <a:lnSpc>
                <a:spcPts val="1410"/>
              </a:lnSpc>
            </a:pPr>
            <a:r>
              <a:rPr lang="en-CA" sz="1399" dirty="0" err="1">
                <a:latin typeface="Times New Roman"/>
                <a:cs typeface="Times New Roman"/>
              </a:rPr>
              <a:t>feb</a:t>
            </a:r>
            <a:r>
              <a:rPr lang="en-CA" sz="1399" dirty="0">
                <a:latin typeface="Times New Roman"/>
                <a:cs typeface="Times New Roman"/>
              </a:rPr>
              <a:t>  13, 2012</a:t>
            </a:r>
          </a:p>
          <a:p>
            <a:pPr>
              <a:lnSpc>
                <a:spcPts val="1410"/>
              </a:lnSpc>
            </a:pPr>
            <a:endParaRPr/>
          </a:p>
        </p:txBody>
      </p:sp>
      <p:sp>
        <p:nvSpPr>
          <p:cNvPr id="14" name="TextBox 14"/>
          <p:cNvSpPr txBox="1"/>
          <p:nvPr/>
        </p:nvSpPr>
        <p:spPr>
          <a:xfrm>
            <a:off x="3594100" y="6578600"/>
            <a:ext cx="1915268" cy="410369"/>
          </a:xfrm>
          <a:prstGeom prst="rect">
            <a:avLst/>
          </a:prstGeom>
          <a:noFill/>
        </p:spPr>
        <p:txBody>
          <a:bodyPr vert="horz" wrap="none" lIns="0" tIns="0" rIns="0" bIns="0" rtlCol="0">
            <a:spAutoFit/>
          </a:bodyPr>
          <a:lstStyle/>
          <a:p>
            <a:pPr>
              <a:lnSpc>
                <a:spcPts val="1610"/>
              </a:lnSpc>
            </a:pPr>
            <a:r>
              <a:rPr lang="en-CA" sz="1399">
                <a:latin typeface="Times New Roman Italic"/>
                <a:cs typeface="Times New Roman Italic"/>
              </a:rPr>
              <a:t>Introduction to Algorithms</a:t>
            </a:r>
          </a:p>
          <a:p>
            <a:pPr>
              <a:lnSpc>
                <a:spcPts val="1610"/>
              </a:lnSpc>
            </a:pPr>
            <a:endParaRPr/>
          </a:p>
        </p:txBody>
      </p:sp>
      <p:sp>
        <p:nvSpPr>
          <p:cNvPr id="15" name="TextBox 15"/>
          <p:cNvSpPr txBox="1"/>
          <p:nvPr/>
        </p:nvSpPr>
        <p:spPr>
          <a:xfrm>
            <a:off x="7924800" y="6578600"/>
            <a:ext cx="423193" cy="419987"/>
          </a:xfrm>
          <a:prstGeom prst="rect">
            <a:avLst/>
          </a:prstGeom>
          <a:noFill/>
        </p:spPr>
        <p:txBody>
          <a:bodyPr vert="horz" wrap="none" lIns="0" tIns="0" rIns="0" bIns="0" rtlCol="0">
            <a:spAutoFit/>
          </a:bodyPr>
          <a:lstStyle/>
          <a:p>
            <a:pPr>
              <a:lnSpc>
                <a:spcPts val="1610"/>
              </a:lnSpc>
            </a:pPr>
            <a:r>
              <a:rPr lang="en-CA" sz="1399">
                <a:latin typeface="Times New Roman"/>
                <a:cs typeface="Times New Roman"/>
              </a:rPr>
              <a:t>L1.48</a:t>
            </a:r>
          </a:p>
          <a:p>
            <a:pPr>
              <a:lnSpc>
                <a:spcPts val="1610"/>
              </a:lnSpc>
            </a:pP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6" name="TextBox 2"/>
          <p:cNvSpPr txBox="1"/>
          <p:nvPr/>
        </p:nvSpPr>
        <p:spPr>
          <a:xfrm>
            <a:off x="1524000" y="533400"/>
            <a:ext cx="3526030" cy="1308050"/>
          </a:xfrm>
          <a:prstGeom prst="rect">
            <a:avLst/>
          </a:prstGeom>
          <a:noFill/>
        </p:spPr>
        <p:txBody>
          <a:bodyPr vert="horz" wrap="none" lIns="0" tIns="0" rIns="0" bIns="0" rtlCol="0">
            <a:spAutoFit/>
          </a:bodyPr>
          <a:lstStyle/>
          <a:p>
            <a:pPr>
              <a:lnSpc>
                <a:spcPts val="5060"/>
              </a:lnSpc>
            </a:pPr>
            <a:r>
              <a:rPr lang="en-CA" sz="4412" b="1">
                <a:latin typeface="Times New Roman Bold"/>
                <a:cs typeface="Times New Roman Bold"/>
              </a:rPr>
              <a:t>Recursion tree</a:t>
            </a:r>
          </a:p>
          <a:p>
            <a:pPr>
              <a:lnSpc>
                <a:spcPts val="5060"/>
              </a:lnSpc>
            </a:pPr>
            <a:endParaRPr lang="en-CA" sz="4402"/>
          </a:p>
        </p:txBody>
      </p:sp>
      <p:sp>
        <p:nvSpPr>
          <p:cNvPr id="3" name="TextBox 3"/>
          <p:cNvSpPr txBox="1"/>
          <p:nvPr/>
        </p:nvSpPr>
        <p:spPr>
          <a:xfrm>
            <a:off x="431800" y="1574800"/>
            <a:ext cx="8317983" cy="948978"/>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Solve </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 = 2</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/2) + </a:t>
            </a:r>
            <a:r>
              <a:rPr lang="en-CA" sz="3201">
                <a:latin typeface="Times New Roman Italic"/>
                <a:cs typeface="Times New Roman Italic"/>
              </a:rPr>
              <a:t>cn</a:t>
            </a:r>
            <a:r>
              <a:rPr lang="en-CA" sz="3201">
                <a:latin typeface="Times New Roman"/>
                <a:cs typeface="Times New Roman"/>
              </a:rPr>
              <a:t>, where </a:t>
            </a:r>
            <a:r>
              <a:rPr lang="en-CA" sz="3201">
                <a:latin typeface="Times New Roman Italic"/>
                <a:cs typeface="Times New Roman Italic"/>
              </a:rPr>
              <a:t>c </a:t>
            </a:r>
            <a:r>
              <a:rPr lang="en-CA" sz="3201">
                <a:latin typeface="Times New Roman"/>
                <a:cs typeface="Times New Roman"/>
              </a:rPr>
              <a:t>&gt; 0 is constant.</a:t>
            </a:r>
          </a:p>
          <a:p>
            <a:pPr>
              <a:lnSpc>
                <a:spcPts val="3680"/>
              </a:lnSpc>
            </a:pPr>
            <a:endParaRPr lang="en-CA" sz="3201"/>
          </a:p>
        </p:txBody>
      </p:sp>
      <p:sp>
        <p:nvSpPr>
          <p:cNvPr id="4" name="TextBox 4"/>
          <p:cNvSpPr txBox="1"/>
          <p:nvPr/>
        </p:nvSpPr>
        <p:spPr>
          <a:xfrm>
            <a:off x="152400" y="3619500"/>
            <a:ext cx="1267976"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h</a:t>
            </a:r>
            <a:r>
              <a:rPr lang="en-CA" sz="3201">
                <a:latin typeface="Times New Roman"/>
                <a:cs typeface="Times New Roman"/>
              </a:rPr>
              <a:t> = lg</a:t>
            </a:r>
            <a:r>
              <a:rPr lang="en-CA" sz="3201">
                <a:latin typeface="Times New Roman Italic"/>
                <a:cs typeface="Times New Roman Italic"/>
              </a:rPr>
              <a:t> n</a:t>
            </a:r>
          </a:p>
          <a:p>
            <a:pPr>
              <a:lnSpc>
                <a:spcPts val="3680"/>
              </a:lnSpc>
            </a:pPr>
            <a:endParaRPr lang="en-CA" sz="3201"/>
          </a:p>
        </p:txBody>
      </p:sp>
      <p:sp>
        <p:nvSpPr>
          <p:cNvPr id="5" name="TextBox 5"/>
          <p:cNvSpPr txBox="1"/>
          <p:nvPr/>
        </p:nvSpPr>
        <p:spPr>
          <a:xfrm>
            <a:off x="1752600" y="2654300"/>
            <a:ext cx="1553310" cy="2400657"/>
          </a:xfrm>
          <a:prstGeom prst="rect">
            <a:avLst/>
          </a:prstGeom>
          <a:noFill/>
        </p:spPr>
        <p:txBody>
          <a:bodyPr vert="horz" wrap="none" lIns="0" tIns="0" rIns="0" bIns="0" rtlCol="0">
            <a:spAutoFit/>
          </a:bodyPr>
          <a:lstStyle/>
          <a:p>
            <a:pPr indent="838199">
              <a:lnSpc>
                <a:spcPts val="6500"/>
              </a:lnSpc>
            </a:pPr>
            <a:r>
              <a:rPr lang="en-CA" sz="3201">
                <a:latin typeface="Times New Roman Italic"/>
                <a:cs typeface="Times New Roman Italic"/>
              </a:rPr>
              <a:t>cn</a:t>
            </a:r>
            <a:r>
              <a:rPr lang="en-CA" sz="3201">
                <a:latin typeface="Times New Roman"/>
                <a:cs typeface="Times New Roman"/>
              </a:rPr>
              <a:t>/2</a:t>
            </a:r>
            <a:br>
              <a:rPr lang="en-CA" sz="3201">
                <a:latin typeface="Times New Roman"/>
              </a:rPr>
            </a:br>
            <a:r>
              <a:rPr lang="en-CA" sz="3201">
                <a:latin typeface="Times New Roman Italic"/>
                <a:cs typeface="Times New Roman Italic"/>
              </a:rPr>
              <a:t>cn</a:t>
            </a:r>
            <a:r>
              <a:rPr lang="en-CA" sz="3201">
                <a:latin typeface="Times New Roman"/>
                <a:cs typeface="Times New Roman"/>
              </a:rPr>
              <a:t>/4</a:t>
            </a:r>
          </a:p>
          <a:p>
            <a:pPr>
              <a:lnSpc>
                <a:spcPts val="6470"/>
              </a:lnSpc>
            </a:pPr>
            <a:endParaRPr lang="en-CA" sz="3201"/>
          </a:p>
        </p:txBody>
      </p:sp>
      <p:sp>
        <p:nvSpPr>
          <p:cNvPr id="6" name="TextBox 6"/>
          <p:cNvSpPr txBox="1"/>
          <p:nvPr/>
        </p:nvSpPr>
        <p:spPr>
          <a:xfrm>
            <a:off x="4356100" y="2171700"/>
            <a:ext cx="387927"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cn</a:t>
            </a:r>
          </a:p>
          <a:p>
            <a:pPr>
              <a:lnSpc>
                <a:spcPts val="3680"/>
              </a:lnSpc>
            </a:pPr>
            <a:endParaRPr lang="en-CA" sz="3201"/>
          </a:p>
        </p:txBody>
      </p:sp>
      <p:sp>
        <p:nvSpPr>
          <p:cNvPr id="7" name="TextBox 7"/>
          <p:cNvSpPr txBox="1"/>
          <p:nvPr/>
        </p:nvSpPr>
        <p:spPr>
          <a:xfrm>
            <a:off x="3403600" y="3771900"/>
            <a:ext cx="2271456" cy="948978"/>
          </a:xfrm>
          <a:prstGeom prst="rect">
            <a:avLst/>
          </a:prstGeom>
          <a:noFill/>
        </p:spPr>
        <p:txBody>
          <a:bodyPr vert="horz" wrap="none" lIns="0" tIns="0" rIns="0" bIns="0" rtlCol="0">
            <a:spAutoFit/>
          </a:bodyPr>
          <a:lstStyle/>
          <a:p>
            <a:pPr>
              <a:lnSpc>
                <a:spcPts val="3700"/>
              </a:lnSpc>
              <a:tabLst>
                <a:tab pos="1549400" algn="l"/>
              </a:tabLst>
            </a:pPr>
            <a:r>
              <a:rPr lang="en-CA" sz="3201" dirty="0" err="1">
                <a:latin typeface="Times New Roman Italic"/>
                <a:cs typeface="Times New Roman Italic"/>
              </a:rPr>
              <a:t>cn</a:t>
            </a:r>
            <a:r>
              <a:rPr lang="en-CA" sz="3201" dirty="0">
                <a:latin typeface="Times New Roman"/>
                <a:cs typeface="Times New Roman"/>
              </a:rPr>
              <a:t>/4</a:t>
            </a:r>
            <a:r>
              <a:rPr lang="en-CA" sz="3201" dirty="0">
                <a:latin typeface="Times New Roman Italic"/>
                <a:cs typeface="Times New Roman Italic"/>
              </a:rPr>
              <a:t>	</a:t>
            </a:r>
            <a:r>
              <a:rPr lang="en-CA" sz="3201" dirty="0" err="1">
                <a:latin typeface="Times New Roman Italic"/>
                <a:cs typeface="Times New Roman Italic"/>
              </a:rPr>
              <a:t>cn</a:t>
            </a:r>
            <a:r>
              <a:rPr lang="en-CA" sz="3201" dirty="0">
                <a:latin typeface="Times New Roman"/>
                <a:cs typeface="Times New Roman"/>
              </a:rPr>
              <a:t>/4</a:t>
            </a:r>
          </a:p>
          <a:p>
            <a:pPr>
              <a:lnSpc>
                <a:spcPts val="3680"/>
              </a:lnSpc>
            </a:pPr>
            <a:endParaRPr lang="en-CA" sz="3201" dirty="0"/>
          </a:p>
        </p:txBody>
      </p:sp>
      <p:sp>
        <p:nvSpPr>
          <p:cNvPr id="8" name="TextBox 8"/>
          <p:cNvSpPr txBox="1"/>
          <p:nvPr/>
        </p:nvSpPr>
        <p:spPr>
          <a:xfrm>
            <a:off x="8077200" y="2171700"/>
            <a:ext cx="387927"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cn</a:t>
            </a:r>
          </a:p>
          <a:p>
            <a:pPr>
              <a:lnSpc>
                <a:spcPts val="3680"/>
              </a:lnSpc>
            </a:pPr>
            <a:endParaRPr lang="en-CA" sz="3201"/>
          </a:p>
        </p:txBody>
      </p:sp>
      <p:sp>
        <p:nvSpPr>
          <p:cNvPr id="9" name="TextBox 9"/>
          <p:cNvSpPr txBox="1"/>
          <p:nvPr/>
        </p:nvSpPr>
        <p:spPr>
          <a:xfrm>
            <a:off x="5816600" y="2933700"/>
            <a:ext cx="2670603" cy="948978"/>
          </a:xfrm>
          <a:prstGeom prst="rect">
            <a:avLst/>
          </a:prstGeom>
          <a:noFill/>
        </p:spPr>
        <p:txBody>
          <a:bodyPr vert="horz" wrap="none" lIns="0" tIns="0" rIns="0" bIns="0" rtlCol="0">
            <a:spAutoFit/>
          </a:bodyPr>
          <a:lstStyle/>
          <a:p>
            <a:pPr>
              <a:lnSpc>
                <a:spcPts val="3700"/>
              </a:lnSpc>
              <a:tabLst>
                <a:tab pos="2260600" algn="l"/>
              </a:tabLst>
            </a:pPr>
            <a:r>
              <a:rPr lang="en-CA" sz="3201">
                <a:latin typeface="Times New Roman Italic"/>
                <a:cs typeface="Times New Roman Italic"/>
              </a:rPr>
              <a:t>cn</a:t>
            </a:r>
            <a:r>
              <a:rPr lang="en-CA" sz="3201">
                <a:latin typeface="Times New Roman"/>
                <a:cs typeface="Times New Roman"/>
              </a:rPr>
              <a:t>/2</a:t>
            </a:r>
            <a:r>
              <a:rPr lang="en-CA" sz="3201">
                <a:latin typeface="Times New Roman Italic"/>
                <a:cs typeface="Times New Roman Italic"/>
              </a:rPr>
              <a:t>	cn</a:t>
            </a:r>
          </a:p>
          <a:p>
            <a:pPr>
              <a:lnSpc>
                <a:spcPts val="3680"/>
              </a:lnSpc>
            </a:pPr>
            <a:endParaRPr lang="en-CA" sz="3201"/>
          </a:p>
        </p:txBody>
      </p:sp>
      <p:sp>
        <p:nvSpPr>
          <p:cNvPr id="10" name="TextBox 10"/>
          <p:cNvSpPr txBox="1"/>
          <p:nvPr/>
        </p:nvSpPr>
        <p:spPr>
          <a:xfrm>
            <a:off x="6604000" y="3759200"/>
            <a:ext cx="1875513" cy="948978"/>
          </a:xfrm>
          <a:prstGeom prst="rect">
            <a:avLst/>
          </a:prstGeom>
          <a:noFill/>
        </p:spPr>
        <p:txBody>
          <a:bodyPr vert="horz" wrap="none" lIns="0" tIns="0" rIns="0" bIns="0" rtlCol="0">
            <a:spAutoFit/>
          </a:bodyPr>
          <a:lstStyle/>
          <a:p>
            <a:pPr>
              <a:lnSpc>
                <a:spcPts val="3700"/>
              </a:lnSpc>
              <a:tabLst>
                <a:tab pos="1473200" algn="l"/>
              </a:tabLst>
            </a:pPr>
            <a:r>
              <a:rPr lang="en-CA" sz="3201">
                <a:latin typeface="Times New Roman Italic"/>
                <a:cs typeface="Times New Roman Italic"/>
              </a:rPr>
              <a:t>cn</a:t>
            </a:r>
            <a:r>
              <a:rPr lang="en-CA" sz="3201">
                <a:latin typeface="Times New Roman"/>
                <a:cs typeface="Times New Roman"/>
              </a:rPr>
              <a:t>/4</a:t>
            </a:r>
            <a:r>
              <a:rPr lang="en-CA" sz="3201">
                <a:latin typeface="Times New Roman Italic"/>
                <a:cs typeface="Times New Roman Italic"/>
              </a:rPr>
              <a:t>	cn</a:t>
            </a:r>
          </a:p>
          <a:p>
            <a:pPr>
              <a:lnSpc>
                <a:spcPts val="3680"/>
              </a:lnSpc>
            </a:pPr>
            <a:endParaRPr lang="en-CA" sz="3201"/>
          </a:p>
        </p:txBody>
      </p:sp>
      <p:sp>
        <p:nvSpPr>
          <p:cNvPr id="11" name="TextBox 11"/>
          <p:cNvSpPr txBox="1"/>
          <p:nvPr/>
        </p:nvSpPr>
        <p:spPr>
          <a:xfrm>
            <a:off x="1397000" y="5207000"/>
            <a:ext cx="774251" cy="891270"/>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Θ(1)</a:t>
            </a:r>
          </a:p>
          <a:p>
            <a:pPr>
              <a:lnSpc>
                <a:spcPts val="3680"/>
              </a:lnSpc>
            </a:pPr>
            <a:endParaRPr/>
          </a:p>
        </p:txBody>
      </p:sp>
      <p:sp>
        <p:nvSpPr>
          <p:cNvPr id="12" name="TextBox 12"/>
          <p:cNvSpPr txBox="1"/>
          <p:nvPr/>
        </p:nvSpPr>
        <p:spPr>
          <a:xfrm>
            <a:off x="2590800" y="6426200"/>
            <a:ext cx="38472" cy="375103"/>
          </a:xfrm>
          <a:prstGeom prst="rect">
            <a:avLst/>
          </a:prstGeom>
          <a:noFill/>
        </p:spPr>
        <p:txBody>
          <a:bodyPr vert="horz" wrap="none" lIns="0" tIns="0" rIns="0" bIns="0" rtlCol="0">
            <a:spAutoFit/>
          </a:bodyPr>
          <a:lstStyle/>
          <a:p>
            <a:pPr>
              <a:lnSpc>
                <a:spcPts val="1380"/>
              </a:lnSpc>
            </a:pPr>
            <a:r>
              <a:rPr lang="en-CA" sz="1201" dirty="0">
                <a:latin typeface="Times New Roman Italic"/>
                <a:cs typeface="Times New Roman Italic"/>
              </a:rPr>
              <a:t> </a:t>
            </a:r>
          </a:p>
          <a:p>
            <a:pPr>
              <a:lnSpc>
                <a:spcPts val="1380"/>
              </a:lnSpc>
            </a:pPr>
            <a:endParaRPr/>
          </a:p>
        </p:txBody>
      </p:sp>
      <p:sp>
        <p:nvSpPr>
          <p:cNvPr id="13" name="TextBox 13"/>
          <p:cNvSpPr txBox="1"/>
          <p:nvPr/>
        </p:nvSpPr>
        <p:spPr>
          <a:xfrm>
            <a:off x="762000" y="6578600"/>
            <a:ext cx="947375" cy="359073"/>
          </a:xfrm>
          <a:prstGeom prst="rect">
            <a:avLst/>
          </a:prstGeom>
          <a:noFill/>
        </p:spPr>
        <p:txBody>
          <a:bodyPr vert="horz" wrap="none" lIns="0" tIns="0" rIns="0" bIns="0" rtlCol="0">
            <a:spAutoFit/>
          </a:bodyPr>
          <a:lstStyle/>
          <a:p>
            <a:pPr>
              <a:lnSpc>
                <a:spcPts val="1410"/>
              </a:lnSpc>
            </a:pPr>
            <a:r>
              <a:rPr lang="en-CA" sz="1399" dirty="0" err="1">
                <a:latin typeface="Times New Roman"/>
                <a:cs typeface="Times New Roman"/>
              </a:rPr>
              <a:t>feb</a:t>
            </a:r>
            <a:r>
              <a:rPr lang="en-CA" sz="1399" dirty="0">
                <a:latin typeface="Times New Roman"/>
                <a:cs typeface="Times New Roman"/>
              </a:rPr>
              <a:t>  13, 2012</a:t>
            </a:r>
          </a:p>
          <a:p>
            <a:pPr>
              <a:lnSpc>
                <a:spcPts val="1410"/>
              </a:lnSpc>
            </a:pPr>
            <a:endParaRPr/>
          </a:p>
        </p:txBody>
      </p:sp>
      <p:sp>
        <p:nvSpPr>
          <p:cNvPr id="14" name="TextBox 14"/>
          <p:cNvSpPr txBox="1"/>
          <p:nvPr/>
        </p:nvSpPr>
        <p:spPr>
          <a:xfrm>
            <a:off x="3594100" y="6578600"/>
            <a:ext cx="1915268" cy="410369"/>
          </a:xfrm>
          <a:prstGeom prst="rect">
            <a:avLst/>
          </a:prstGeom>
          <a:noFill/>
        </p:spPr>
        <p:txBody>
          <a:bodyPr vert="horz" wrap="none" lIns="0" tIns="0" rIns="0" bIns="0" rtlCol="0">
            <a:spAutoFit/>
          </a:bodyPr>
          <a:lstStyle/>
          <a:p>
            <a:pPr>
              <a:lnSpc>
                <a:spcPts val="1610"/>
              </a:lnSpc>
            </a:pPr>
            <a:r>
              <a:rPr lang="en-CA" sz="1399">
                <a:latin typeface="Times New Roman Italic"/>
                <a:cs typeface="Times New Roman Italic"/>
              </a:rPr>
              <a:t>Introduction to Algorithms</a:t>
            </a:r>
          </a:p>
          <a:p>
            <a:pPr>
              <a:lnSpc>
                <a:spcPts val="1610"/>
              </a:lnSpc>
            </a:pPr>
            <a:endParaRPr/>
          </a:p>
        </p:txBody>
      </p:sp>
      <p:sp>
        <p:nvSpPr>
          <p:cNvPr id="15" name="TextBox 15"/>
          <p:cNvSpPr txBox="1"/>
          <p:nvPr/>
        </p:nvSpPr>
        <p:spPr>
          <a:xfrm>
            <a:off x="7924800" y="6578600"/>
            <a:ext cx="423193" cy="419987"/>
          </a:xfrm>
          <a:prstGeom prst="rect">
            <a:avLst/>
          </a:prstGeom>
          <a:noFill/>
        </p:spPr>
        <p:txBody>
          <a:bodyPr vert="horz" wrap="none" lIns="0" tIns="0" rIns="0" bIns="0" rtlCol="0">
            <a:spAutoFit/>
          </a:bodyPr>
          <a:lstStyle/>
          <a:p>
            <a:pPr>
              <a:lnSpc>
                <a:spcPts val="1610"/>
              </a:lnSpc>
            </a:pPr>
            <a:r>
              <a:rPr lang="en-CA" sz="1399">
                <a:latin typeface="Times New Roman"/>
                <a:cs typeface="Times New Roman"/>
              </a:rPr>
              <a:t>L1.49</a:t>
            </a:r>
          </a:p>
          <a:p>
            <a:pPr>
              <a:lnSpc>
                <a:spcPts val="1610"/>
              </a:lnSpc>
            </a:pP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8" name="TextBox 2"/>
          <p:cNvSpPr txBox="1"/>
          <p:nvPr/>
        </p:nvSpPr>
        <p:spPr>
          <a:xfrm>
            <a:off x="1524000" y="533400"/>
            <a:ext cx="3526030" cy="1308050"/>
          </a:xfrm>
          <a:prstGeom prst="rect">
            <a:avLst/>
          </a:prstGeom>
          <a:noFill/>
        </p:spPr>
        <p:txBody>
          <a:bodyPr vert="horz" wrap="none" lIns="0" tIns="0" rIns="0" bIns="0" rtlCol="0">
            <a:spAutoFit/>
          </a:bodyPr>
          <a:lstStyle/>
          <a:p>
            <a:pPr>
              <a:lnSpc>
                <a:spcPts val="5060"/>
              </a:lnSpc>
            </a:pPr>
            <a:r>
              <a:rPr lang="en-CA" sz="4412" b="1">
                <a:latin typeface="Times New Roman Bold"/>
                <a:cs typeface="Times New Roman Bold"/>
              </a:rPr>
              <a:t>Recursion tree</a:t>
            </a:r>
          </a:p>
          <a:p>
            <a:pPr>
              <a:lnSpc>
                <a:spcPts val="5060"/>
              </a:lnSpc>
            </a:pPr>
            <a:endParaRPr lang="en-CA" sz="4402"/>
          </a:p>
        </p:txBody>
      </p:sp>
      <p:sp>
        <p:nvSpPr>
          <p:cNvPr id="3" name="TextBox 3"/>
          <p:cNvSpPr txBox="1"/>
          <p:nvPr/>
        </p:nvSpPr>
        <p:spPr>
          <a:xfrm>
            <a:off x="431800" y="1574800"/>
            <a:ext cx="8317983" cy="948978"/>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Solve </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 = 2</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/2) + </a:t>
            </a:r>
            <a:r>
              <a:rPr lang="en-CA" sz="3201">
                <a:latin typeface="Times New Roman Italic"/>
                <a:cs typeface="Times New Roman Italic"/>
              </a:rPr>
              <a:t>cn</a:t>
            </a:r>
            <a:r>
              <a:rPr lang="en-CA" sz="3201">
                <a:latin typeface="Times New Roman"/>
                <a:cs typeface="Times New Roman"/>
              </a:rPr>
              <a:t>, where </a:t>
            </a:r>
            <a:r>
              <a:rPr lang="en-CA" sz="3201">
                <a:latin typeface="Times New Roman Italic"/>
                <a:cs typeface="Times New Roman Italic"/>
              </a:rPr>
              <a:t>c </a:t>
            </a:r>
            <a:r>
              <a:rPr lang="en-CA" sz="3201">
                <a:latin typeface="Times New Roman"/>
                <a:cs typeface="Times New Roman"/>
              </a:rPr>
              <a:t>&gt; 0 is constant.</a:t>
            </a:r>
          </a:p>
          <a:p>
            <a:pPr>
              <a:lnSpc>
                <a:spcPts val="3680"/>
              </a:lnSpc>
            </a:pPr>
            <a:endParaRPr lang="en-CA" sz="3201"/>
          </a:p>
        </p:txBody>
      </p:sp>
      <p:sp>
        <p:nvSpPr>
          <p:cNvPr id="4" name="TextBox 4"/>
          <p:cNvSpPr txBox="1"/>
          <p:nvPr/>
        </p:nvSpPr>
        <p:spPr>
          <a:xfrm>
            <a:off x="152400" y="3619500"/>
            <a:ext cx="1267976"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h</a:t>
            </a:r>
            <a:r>
              <a:rPr lang="en-CA" sz="3201">
                <a:latin typeface="Times New Roman"/>
                <a:cs typeface="Times New Roman"/>
              </a:rPr>
              <a:t> = lg</a:t>
            </a:r>
            <a:r>
              <a:rPr lang="en-CA" sz="3201">
                <a:latin typeface="Times New Roman Italic"/>
                <a:cs typeface="Times New Roman Italic"/>
              </a:rPr>
              <a:t> n</a:t>
            </a:r>
          </a:p>
          <a:p>
            <a:pPr>
              <a:lnSpc>
                <a:spcPts val="3680"/>
              </a:lnSpc>
            </a:pPr>
            <a:endParaRPr lang="en-CA" sz="3201"/>
          </a:p>
        </p:txBody>
      </p:sp>
      <p:sp>
        <p:nvSpPr>
          <p:cNvPr id="5" name="TextBox 5"/>
          <p:cNvSpPr txBox="1"/>
          <p:nvPr/>
        </p:nvSpPr>
        <p:spPr>
          <a:xfrm>
            <a:off x="1752600" y="2654300"/>
            <a:ext cx="1553310" cy="2400657"/>
          </a:xfrm>
          <a:prstGeom prst="rect">
            <a:avLst/>
          </a:prstGeom>
          <a:noFill/>
        </p:spPr>
        <p:txBody>
          <a:bodyPr vert="horz" wrap="none" lIns="0" tIns="0" rIns="0" bIns="0" rtlCol="0">
            <a:spAutoFit/>
          </a:bodyPr>
          <a:lstStyle/>
          <a:p>
            <a:pPr indent="838199">
              <a:lnSpc>
                <a:spcPts val="6500"/>
              </a:lnSpc>
            </a:pPr>
            <a:r>
              <a:rPr lang="en-CA" sz="3201" dirty="0" err="1">
                <a:latin typeface="Times New Roman Italic"/>
                <a:cs typeface="Times New Roman Italic"/>
              </a:rPr>
              <a:t>cn</a:t>
            </a:r>
            <a:r>
              <a:rPr lang="en-CA" sz="3201" dirty="0">
                <a:latin typeface="Times New Roman"/>
                <a:cs typeface="Times New Roman"/>
              </a:rPr>
              <a:t>/2</a:t>
            </a:r>
            <a:br>
              <a:rPr lang="en-CA" sz="3201" dirty="0">
                <a:latin typeface="Times New Roman"/>
              </a:rPr>
            </a:br>
            <a:r>
              <a:rPr lang="en-CA" sz="3201" dirty="0" err="1">
                <a:latin typeface="Times New Roman Italic"/>
                <a:cs typeface="Times New Roman Italic"/>
              </a:rPr>
              <a:t>cn</a:t>
            </a:r>
            <a:r>
              <a:rPr lang="en-CA" sz="3201" dirty="0">
                <a:latin typeface="Times New Roman"/>
                <a:cs typeface="Times New Roman"/>
              </a:rPr>
              <a:t>/4</a:t>
            </a:r>
          </a:p>
          <a:p>
            <a:pPr>
              <a:lnSpc>
                <a:spcPts val="6470"/>
              </a:lnSpc>
            </a:pPr>
            <a:endParaRPr lang="en-CA" sz="3201" dirty="0"/>
          </a:p>
        </p:txBody>
      </p:sp>
      <p:sp>
        <p:nvSpPr>
          <p:cNvPr id="6" name="TextBox 6"/>
          <p:cNvSpPr txBox="1"/>
          <p:nvPr/>
        </p:nvSpPr>
        <p:spPr>
          <a:xfrm>
            <a:off x="4356100" y="2171700"/>
            <a:ext cx="387927"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cn</a:t>
            </a:r>
          </a:p>
          <a:p>
            <a:pPr>
              <a:lnSpc>
                <a:spcPts val="3680"/>
              </a:lnSpc>
            </a:pPr>
            <a:endParaRPr lang="en-CA" sz="3201"/>
          </a:p>
        </p:txBody>
      </p:sp>
      <p:sp>
        <p:nvSpPr>
          <p:cNvPr id="7" name="TextBox 7"/>
          <p:cNvSpPr txBox="1"/>
          <p:nvPr/>
        </p:nvSpPr>
        <p:spPr>
          <a:xfrm>
            <a:off x="3403600" y="3771900"/>
            <a:ext cx="3088987" cy="948978"/>
          </a:xfrm>
          <a:prstGeom prst="rect">
            <a:avLst/>
          </a:prstGeom>
          <a:noFill/>
        </p:spPr>
        <p:txBody>
          <a:bodyPr vert="horz" wrap="none" lIns="0" tIns="0" rIns="0" bIns="0" rtlCol="0">
            <a:spAutoFit/>
          </a:bodyPr>
          <a:lstStyle/>
          <a:p>
            <a:pPr>
              <a:lnSpc>
                <a:spcPts val="3700"/>
              </a:lnSpc>
              <a:tabLst>
                <a:tab pos="1549400" algn="l"/>
              </a:tabLst>
            </a:pPr>
            <a:r>
              <a:rPr lang="en-CA" sz="3201">
                <a:latin typeface="Times New Roman Italic"/>
                <a:cs typeface="Times New Roman Italic"/>
              </a:rPr>
              <a:t>cn</a:t>
            </a:r>
            <a:r>
              <a:rPr lang="en-CA" sz="3201">
                <a:latin typeface="Times New Roman"/>
                <a:cs typeface="Times New Roman"/>
              </a:rPr>
              <a:t>/4</a:t>
            </a:r>
            <a:r>
              <a:rPr lang="en-CA" sz="3201">
                <a:latin typeface="Times New Roman Italic"/>
                <a:cs typeface="Times New Roman Italic"/>
              </a:rPr>
              <a:t>	cn</a:t>
            </a:r>
            <a:r>
              <a:rPr lang="en-CA" sz="3201">
                <a:latin typeface="Times New Roman"/>
                <a:cs typeface="Times New Roman"/>
              </a:rPr>
              <a:t>	/4</a:t>
            </a:r>
          </a:p>
          <a:p>
            <a:pPr>
              <a:lnSpc>
                <a:spcPts val="3680"/>
              </a:lnSpc>
            </a:pPr>
            <a:endParaRPr lang="en-CA" sz="3201"/>
          </a:p>
        </p:txBody>
      </p:sp>
      <p:sp>
        <p:nvSpPr>
          <p:cNvPr id="8" name="TextBox 8"/>
          <p:cNvSpPr txBox="1"/>
          <p:nvPr/>
        </p:nvSpPr>
        <p:spPr>
          <a:xfrm>
            <a:off x="8077200" y="2171700"/>
            <a:ext cx="387927"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cn</a:t>
            </a:r>
          </a:p>
          <a:p>
            <a:pPr>
              <a:lnSpc>
                <a:spcPts val="3680"/>
              </a:lnSpc>
            </a:pPr>
            <a:endParaRPr lang="en-CA" sz="3201"/>
          </a:p>
        </p:txBody>
      </p:sp>
      <p:sp>
        <p:nvSpPr>
          <p:cNvPr id="9" name="TextBox 9"/>
          <p:cNvSpPr txBox="1"/>
          <p:nvPr/>
        </p:nvSpPr>
        <p:spPr>
          <a:xfrm>
            <a:off x="5816600" y="2933700"/>
            <a:ext cx="2670603" cy="948978"/>
          </a:xfrm>
          <a:prstGeom prst="rect">
            <a:avLst/>
          </a:prstGeom>
          <a:noFill/>
        </p:spPr>
        <p:txBody>
          <a:bodyPr vert="horz" wrap="none" lIns="0" tIns="0" rIns="0" bIns="0" rtlCol="0">
            <a:spAutoFit/>
          </a:bodyPr>
          <a:lstStyle/>
          <a:p>
            <a:pPr>
              <a:lnSpc>
                <a:spcPts val="3700"/>
              </a:lnSpc>
              <a:tabLst>
                <a:tab pos="2260600" algn="l"/>
              </a:tabLst>
            </a:pPr>
            <a:r>
              <a:rPr lang="en-CA" sz="3201">
                <a:latin typeface="Times New Roman Italic"/>
                <a:cs typeface="Times New Roman Italic"/>
              </a:rPr>
              <a:t>cn</a:t>
            </a:r>
            <a:r>
              <a:rPr lang="en-CA" sz="3201">
                <a:latin typeface="Times New Roman"/>
                <a:cs typeface="Times New Roman"/>
              </a:rPr>
              <a:t>/2</a:t>
            </a:r>
            <a:r>
              <a:rPr lang="en-CA" sz="3201">
                <a:latin typeface="Times New Roman Italic"/>
                <a:cs typeface="Times New Roman Italic"/>
              </a:rPr>
              <a:t>	cn</a:t>
            </a:r>
          </a:p>
          <a:p>
            <a:pPr>
              <a:lnSpc>
                <a:spcPts val="3680"/>
              </a:lnSpc>
            </a:pPr>
            <a:endParaRPr lang="en-CA" sz="3201"/>
          </a:p>
        </p:txBody>
      </p:sp>
      <p:sp>
        <p:nvSpPr>
          <p:cNvPr id="10" name="TextBox 10"/>
          <p:cNvSpPr txBox="1"/>
          <p:nvPr/>
        </p:nvSpPr>
        <p:spPr>
          <a:xfrm>
            <a:off x="6604000" y="3759200"/>
            <a:ext cx="1875513" cy="948978"/>
          </a:xfrm>
          <a:prstGeom prst="rect">
            <a:avLst/>
          </a:prstGeom>
          <a:noFill/>
        </p:spPr>
        <p:txBody>
          <a:bodyPr vert="horz" wrap="none" lIns="0" tIns="0" rIns="0" bIns="0" rtlCol="0">
            <a:spAutoFit/>
          </a:bodyPr>
          <a:lstStyle/>
          <a:p>
            <a:pPr>
              <a:lnSpc>
                <a:spcPts val="3700"/>
              </a:lnSpc>
              <a:tabLst>
                <a:tab pos="1473200" algn="l"/>
              </a:tabLst>
            </a:pPr>
            <a:r>
              <a:rPr lang="en-CA" sz="3201">
                <a:latin typeface="Times New Roman Italic"/>
                <a:cs typeface="Times New Roman Italic"/>
              </a:rPr>
              <a:t>cn</a:t>
            </a:r>
            <a:r>
              <a:rPr lang="en-CA" sz="3201">
                <a:latin typeface="Times New Roman"/>
                <a:cs typeface="Times New Roman"/>
              </a:rPr>
              <a:t>/4</a:t>
            </a:r>
            <a:r>
              <a:rPr lang="en-CA" sz="3201">
                <a:latin typeface="Times New Roman Italic"/>
                <a:cs typeface="Times New Roman Italic"/>
              </a:rPr>
              <a:t>	cn</a:t>
            </a:r>
          </a:p>
          <a:p>
            <a:pPr>
              <a:lnSpc>
                <a:spcPts val="3680"/>
              </a:lnSpc>
            </a:pPr>
            <a:endParaRPr lang="en-CA" sz="3201"/>
          </a:p>
        </p:txBody>
      </p:sp>
      <p:sp>
        <p:nvSpPr>
          <p:cNvPr id="11" name="TextBox 11"/>
          <p:cNvSpPr txBox="1"/>
          <p:nvPr/>
        </p:nvSpPr>
        <p:spPr>
          <a:xfrm>
            <a:off x="1397000" y="5207000"/>
            <a:ext cx="774251" cy="891270"/>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Θ(1)</a:t>
            </a:r>
          </a:p>
          <a:p>
            <a:pPr>
              <a:lnSpc>
                <a:spcPts val="3680"/>
              </a:lnSpc>
            </a:pPr>
            <a:endParaRPr/>
          </a:p>
        </p:txBody>
      </p:sp>
      <p:sp>
        <p:nvSpPr>
          <p:cNvPr id="12" name="TextBox 12"/>
          <p:cNvSpPr txBox="1"/>
          <p:nvPr/>
        </p:nvSpPr>
        <p:spPr>
          <a:xfrm>
            <a:off x="3619500" y="5194300"/>
            <a:ext cx="1873911" cy="891270"/>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#leaves = </a:t>
            </a:r>
            <a:r>
              <a:rPr lang="en-CA" sz="3201">
                <a:latin typeface="Times New Roman Italic"/>
                <a:cs typeface="Times New Roman Italic"/>
              </a:rPr>
              <a:t>n</a:t>
            </a:r>
          </a:p>
          <a:p>
            <a:pPr>
              <a:lnSpc>
                <a:spcPts val="3680"/>
              </a:lnSpc>
            </a:pPr>
            <a:endParaRPr/>
          </a:p>
        </p:txBody>
      </p:sp>
      <p:sp>
        <p:nvSpPr>
          <p:cNvPr id="13" name="TextBox 13"/>
          <p:cNvSpPr txBox="1"/>
          <p:nvPr/>
        </p:nvSpPr>
        <p:spPr>
          <a:xfrm>
            <a:off x="7886700" y="5207000"/>
            <a:ext cx="774251" cy="891270"/>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Θ(</a:t>
            </a:r>
            <a:r>
              <a:rPr lang="en-CA" sz="3201">
                <a:latin typeface="Times New Roman Italic"/>
                <a:cs typeface="Times New Roman Italic"/>
              </a:rPr>
              <a:t>n</a:t>
            </a:r>
            <a:r>
              <a:rPr lang="en-CA" sz="3201">
                <a:latin typeface="Times New Roman"/>
                <a:cs typeface="Times New Roman"/>
              </a:rPr>
              <a:t>)</a:t>
            </a:r>
          </a:p>
          <a:p>
            <a:pPr>
              <a:lnSpc>
                <a:spcPts val="3680"/>
              </a:lnSpc>
            </a:pPr>
            <a:endParaRPr/>
          </a:p>
        </p:txBody>
      </p:sp>
      <p:sp>
        <p:nvSpPr>
          <p:cNvPr id="14" name="TextBox 14"/>
          <p:cNvSpPr txBox="1"/>
          <p:nvPr/>
        </p:nvSpPr>
        <p:spPr>
          <a:xfrm>
            <a:off x="2590800" y="6426200"/>
            <a:ext cx="38472" cy="375103"/>
          </a:xfrm>
          <a:prstGeom prst="rect">
            <a:avLst/>
          </a:prstGeom>
          <a:noFill/>
        </p:spPr>
        <p:txBody>
          <a:bodyPr vert="horz" wrap="none" lIns="0" tIns="0" rIns="0" bIns="0" rtlCol="0">
            <a:spAutoFit/>
          </a:bodyPr>
          <a:lstStyle/>
          <a:p>
            <a:pPr>
              <a:lnSpc>
                <a:spcPts val="1380"/>
              </a:lnSpc>
            </a:pPr>
            <a:r>
              <a:rPr lang="en-CA" sz="1201" dirty="0">
                <a:latin typeface="Times New Roman Italic"/>
                <a:cs typeface="Times New Roman Italic"/>
              </a:rPr>
              <a:t> </a:t>
            </a:r>
          </a:p>
          <a:p>
            <a:pPr>
              <a:lnSpc>
                <a:spcPts val="1380"/>
              </a:lnSpc>
            </a:pPr>
            <a:endParaRPr/>
          </a:p>
        </p:txBody>
      </p:sp>
      <p:sp>
        <p:nvSpPr>
          <p:cNvPr id="15" name="TextBox 15"/>
          <p:cNvSpPr txBox="1"/>
          <p:nvPr/>
        </p:nvSpPr>
        <p:spPr>
          <a:xfrm>
            <a:off x="762000" y="6578600"/>
            <a:ext cx="947375" cy="359073"/>
          </a:xfrm>
          <a:prstGeom prst="rect">
            <a:avLst/>
          </a:prstGeom>
          <a:noFill/>
        </p:spPr>
        <p:txBody>
          <a:bodyPr vert="horz" wrap="none" lIns="0" tIns="0" rIns="0" bIns="0" rtlCol="0">
            <a:spAutoFit/>
          </a:bodyPr>
          <a:lstStyle/>
          <a:p>
            <a:pPr>
              <a:lnSpc>
                <a:spcPts val="1410"/>
              </a:lnSpc>
            </a:pPr>
            <a:r>
              <a:rPr lang="en-CA" sz="1399" dirty="0" err="1">
                <a:latin typeface="Times New Roman"/>
                <a:cs typeface="Times New Roman"/>
              </a:rPr>
              <a:t>feb</a:t>
            </a:r>
            <a:r>
              <a:rPr lang="en-CA" sz="1399" dirty="0">
                <a:latin typeface="Times New Roman"/>
                <a:cs typeface="Times New Roman"/>
              </a:rPr>
              <a:t>  13, 2012</a:t>
            </a:r>
          </a:p>
          <a:p>
            <a:pPr>
              <a:lnSpc>
                <a:spcPts val="1410"/>
              </a:lnSpc>
            </a:pPr>
            <a:endParaRPr/>
          </a:p>
        </p:txBody>
      </p:sp>
      <p:sp>
        <p:nvSpPr>
          <p:cNvPr id="16" name="TextBox 16"/>
          <p:cNvSpPr txBox="1"/>
          <p:nvPr/>
        </p:nvSpPr>
        <p:spPr>
          <a:xfrm>
            <a:off x="3594100" y="6578600"/>
            <a:ext cx="1915268" cy="410369"/>
          </a:xfrm>
          <a:prstGeom prst="rect">
            <a:avLst/>
          </a:prstGeom>
          <a:noFill/>
        </p:spPr>
        <p:txBody>
          <a:bodyPr vert="horz" wrap="none" lIns="0" tIns="0" rIns="0" bIns="0" rtlCol="0">
            <a:spAutoFit/>
          </a:bodyPr>
          <a:lstStyle/>
          <a:p>
            <a:pPr>
              <a:lnSpc>
                <a:spcPts val="1610"/>
              </a:lnSpc>
            </a:pPr>
            <a:r>
              <a:rPr lang="en-CA" sz="1399">
                <a:latin typeface="Times New Roman Italic"/>
                <a:cs typeface="Times New Roman Italic"/>
              </a:rPr>
              <a:t>Introduction to Algorithms</a:t>
            </a:r>
          </a:p>
          <a:p>
            <a:pPr>
              <a:lnSpc>
                <a:spcPts val="1610"/>
              </a:lnSpc>
            </a:pPr>
            <a:endParaRPr/>
          </a:p>
        </p:txBody>
      </p:sp>
      <p:sp>
        <p:nvSpPr>
          <p:cNvPr id="17" name="TextBox 17"/>
          <p:cNvSpPr txBox="1"/>
          <p:nvPr/>
        </p:nvSpPr>
        <p:spPr>
          <a:xfrm>
            <a:off x="7924800" y="6578600"/>
            <a:ext cx="423193" cy="419987"/>
          </a:xfrm>
          <a:prstGeom prst="rect">
            <a:avLst/>
          </a:prstGeom>
          <a:noFill/>
        </p:spPr>
        <p:txBody>
          <a:bodyPr vert="horz" wrap="none" lIns="0" tIns="0" rIns="0" bIns="0" rtlCol="0">
            <a:spAutoFit/>
          </a:bodyPr>
          <a:lstStyle/>
          <a:p>
            <a:pPr>
              <a:lnSpc>
                <a:spcPts val="1610"/>
              </a:lnSpc>
            </a:pPr>
            <a:r>
              <a:rPr lang="en-CA" sz="1399">
                <a:latin typeface="Times New Roman"/>
                <a:cs typeface="Times New Roman"/>
              </a:rPr>
              <a:t>L1.50</a:t>
            </a:r>
          </a:p>
          <a:p>
            <a:pPr>
              <a:lnSpc>
                <a:spcPts val="1610"/>
              </a:lnSpc>
            </a:pP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9" name="TextBox 2"/>
          <p:cNvSpPr txBox="1"/>
          <p:nvPr/>
        </p:nvSpPr>
        <p:spPr>
          <a:xfrm>
            <a:off x="1524000" y="533400"/>
            <a:ext cx="3526030" cy="1308050"/>
          </a:xfrm>
          <a:prstGeom prst="rect">
            <a:avLst/>
          </a:prstGeom>
          <a:noFill/>
        </p:spPr>
        <p:txBody>
          <a:bodyPr vert="horz" wrap="none" lIns="0" tIns="0" rIns="0" bIns="0" rtlCol="0">
            <a:spAutoFit/>
          </a:bodyPr>
          <a:lstStyle/>
          <a:p>
            <a:pPr>
              <a:lnSpc>
                <a:spcPts val="5060"/>
              </a:lnSpc>
            </a:pPr>
            <a:r>
              <a:rPr lang="en-CA" sz="4412" b="1">
                <a:latin typeface="Times New Roman Bold"/>
                <a:cs typeface="Times New Roman Bold"/>
              </a:rPr>
              <a:t>Recursion tree</a:t>
            </a:r>
          </a:p>
          <a:p>
            <a:pPr>
              <a:lnSpc>
                <a:spcPts val="5060"/>
              </a:lnSpc>
            </a:pPr>
            <a:endParaRPr lang="en-CA" sz="4402"/>
          </a:p>
        </p:txBody>
      </p:sp>
      <p:sp>
        <p:nvSpPr>
          <p:cNvPr id="3" name="TextBox 3"/>
          <p:cNvSpPr txBox="1"/>
          <p:nvPr/>
        </p:nvSpPr>
        <p:spPr>
          <a:xfrm>
            <a:off x="431800" y="1574800"/>
            <a:ext cx="8317983" cy="948978"/>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Solve </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 = 2</a:t>
            </a:r>
            <a:r>
              <a:rPr lang="en-CA" sz="3201">
                <a:latin typeface="Times New Roman Italic"/>
                <a:cs typeface="Times New Roman Italic"/>
              </a:rPr>
              <a:t>T</a:t>
            </a:r>
            <a:r>
              <a:rPr lang="en-CA" sz="3201">
                <a:latin typeface="Times New Roman"/>
                <a:cs typeface="Times New Roman"/>
              </a:rPr>
              <a:t>(</a:t>
            </a:r>
            <a:r>
              <a:rPr lang="en-CA" sz="3201">
                <a:latin typeface="Times New Roman Italic"/>
                <a:cs typeface="Times New Roman Italic"/>
              </a:rPr>
              <a:t>n</a:t>
            </a:r>
            <a:r>
              <a:rPr lang="en-CA" sz="3201">
                <a:latin typeface="Times New Roman"/>
                <a:cs typeface="Times New Roman"/>
              </a:rPr>
              <a:t>/2) + </a:t>
            </a:r>
            <a:r>
              <a:rPr lang="en-CA" sz="3201">
                <a:latin typeface="Times New Roman Italic"/>
                <a:cs typeface="Times New Roman Italic"/>
              </a:rPr>
              <a:t>cn</a:t>
            </a:r>
            <a:r>
              <a:rPr lang="en-CA" sz="3201">
                <a:latin typeface="Times New Roman"/>
                <a:cs typeface="Times New Roman"/>
              </a:rPr>
              <a:t>, where </a:t>
            </a:r>
            <a:r>
              <a:rPr lang="en-CA" sz="3201">
                <a:latin typeface="Times New Roman Italic"/>
                <a:cs typeface="Times New Roman Italic"/>
              </a:rPr>
              <a:t>c </a:t>
            </a:r>
            <a:r>
              <a:rPr lang="en-CA" sz="3201">
                <a:latin typeface="Times New Roman"/>
                <a:cs typeface="Times New Roman"/>
              </a:rPr>
              <a:t>&gt; 0 is constant.</a:t>
            </a:r>
          </a:p>
          <a:p>
            <a:pPr>
              <a:lnSpc>
                <a:spcPts val="3680"/>
              </a:lnSpc>
            </a:pPr>
            <a:endParaRPr lang="en-CA" sz="3201"/>
          </a:p>
        </p:txBody>
      </p:sp>
      <p:sp>
        <p:nvSpPr>
          <p:cNvPr id="4" name="TextBox 4"/>
          <p:cNvSpPr txBox="1"/>
          <p:nvPr/>
        </p:nvSpPr>
        <p:spPr>
          <a:xfrm>
            <a:off x="152400" y="3619500"/>
            <a:ext cx="1267976"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h</a:t>
            </a:r>
            <a:r>
              <a:rPr lang="en-CA" sz="3201">
                <a:latin typeface="Times New Roman"/>
                <a:cs typeface="Times New Roman"/>
              </a:rPr>
              <a:t> = lg</a:t>
            </a:r>
            <a:r>
              <a:rPr lang="en-CA" sz="3201">
                <a:latin typeface="Times New Roman Italic"/>
                <a:cs typeface="Times New Roman Italic"/>
              </a:rPr>
              <a:t> n</a:t>
            </a:r>
          </a:p>
          <a:p>
            <a:pPr>
              <a:lnSpc>
                <a:spcPts val="3680"/>
              </a:lnSpc>
            </a:pPr>
            <a:endParaRPr lang="en-CA" sz="3201"/>
          </a:p>
        </p:txBody>
      </p:sp>
      <p:sp>
        <p:nvSpPr>
          <p:cNvPr id="5" name="TextBox 5"/>
          <p:cNvSpPr txBox="1"/>
          <p:nvPr/>
        </p:nvSpPr>
        <p:spPr>
          <a:xfrm>
            <a:off x="1752600" y="2654300"/>
            <a:ext cx="1553310" cy="2400657"/>
          </a:xfrm>
          <a:prstGeom prst="rect">
            <a:avLst/>
          </a:prstGeom>
          <a:noFill/>
        </p:spPr>
        <p:txBody>
          <a:bodyPr vert="horz" wrap="none" lIns="0" tIns="0" rIns="0" bIns="0" rtlCol="0">
            <a:spAutoFit/>
          </a:bodyPr>
          <a:lstStyle/>
          <a:p>
            <a:pPr indent="838199">
              <a:lnSpc>
                <a:spcPts val="6500"/>
              </a:lnSpc>
            </a:pPr>
            <a:r>
              <a:rPr lang="en-CA" sz="3201" dirty="0" err="1">
                <a:latin typeface="Times New Roman Italic"/>
                <a:cs typeface="Times New Roman Italic"/>
              </a:rPr>
              <a:t>cn</a:t>
            </a:r>
            <a:r>
              <a:rPr lang="en-CA" sz="3201" dirty="0">
                <a:latin typeface="Times New Roman"/>
                <a:cs typeface="Times New Roman"/>
              </a:rPr>
              <a:t>/2</a:t>
            </a:r>
            <a:br>
              <a:rPr lang="en-CA" sz="3201" dirty="0">
                <a:latin typeface="Times New Roman"/>
              </a:rPr>
            </a:br>
            <a:r>
              <a:rPr lang="en-CA" sz="3201" dirty="0" err="1">
                <a:latin typeface="Times New Roman Italic"/>
                <a:cs typeface="Times New Roman Italic"/>
              </a:rPr>
              <a:t>cn</a:t>
            </a:r>
            <a:r>
              <a:rPr lang="en-CA" sz="3201" dirty="0">
                <a:latin typeface="Times New Roman"/>
                <a:cs typeface="Times New Roman"/>
              </a:rPr>
              <a:t>/4</a:t>
            </a:r>
          </a:p>
          <a:p>
            <a:pPr>
              <a:lnSpc>
                <a:spcPts val="6470"/>
              </a:lnSpc>
            </a:pPr>
            <a:endParaRPr lang="en-CA" sz="3201" dirty="0"/>
          </a:p>
        </p:txBody>
      </p:sp>
      <p:sp>
        <p:nvSpPr>
          <p:cNvPr id="6" name="TextBox 6"/>
          <p:cNvSpPr txBox="1"/>
          <p:nvPr/>
        </p:nvSpPr>
        <p:spPr>
          <a:xfrm>
            <a:off x="4356100" y="2171700"/>
            <a:ext cx="387927"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cn</a:t>
            </a:r>
          </a:p>
          <a:p>
            <a:pPr>
              <a:lnSpc>
                <a:spcPts val="3680"/>
              </a:lnSpc>
            </a:pPr>
            <a:endParaRPr lang="en-CA" sz="3201"/>
          </a:p>
        </p:txBody>
      </p:sp>
      <p:sp>
        <p:nvSpPr>
          <p:cNvPr id="7" name="TextBox 7"/>
          <p:cNvSpPr txBox="1"/>
          <p:nvPr/>
        </p:nvSpPr>
        <p:spPr>
          <a:xfrm>
            <a:off x="3403600" y="3771900"/>
            <a:ext cx="3088987" cy="948978"/>
          </a:xfrm>
          <a:prstGeom prst="rect">
            <a:avLst/>
          </a:prstGeom>
          <a:noFill/>
        </p:spPr>
        <p:txBody>
          <a:bodyPr vert="horz" wrap="none" lIns="0" tIns="0" rIns="0" bIns="0" rtlCol="0">
            <a:spAutoFit/>
          </a:bodyPr>
          <a:lstStyle/>
          <a:p>
            <a:pPr>
              <a:lnSpc>
                <a:spcPts val="3700"/>
              </a:lnSpc>
              <a:tabLst>
                <a:tab pos="1549400" algn="l"/>
              </a:tabLst>
            </a:pPr>
            <a:r>
              <a:rPr lang="en-CA" sz="3201">
                <a:latin typeface="Times New Roman Italic"/>
                <a:cs typeface="Times New Roman Italic"/>
              </a:rPr>
              <a:t>cn</a:t>
            </a:r>
            <a:r>
              <a:rPr lang="en-CA" sz="3201">
                <a:latin typeface="Times New Roman"/>
                <a:cs typeface="Times New Roman"/>
              </a:rPr>
              <a:t>/4</a:t>
            </a:r>
            <a:r>
              <a:rPr lang="en-CA" sz="3201">
                <a:latin typeface="Times New Roman Italic"/>
                <a:cs typeface="Times New Roman Italic"/>
              </a:rPr>
              <a:t>	cn</a:t>
            </a:r>
            <a:r>
              <a:rPr lang="en-CA" sz="3201">
                <a:latin typeface="Times New Roman"/>
                <a:cs typeface="Times New Roman"/>
              </a:rPr>
              <a:t>	/4</a:t>
            </a:r>
          </a:p>
          <a:p>
            <a:pPr>
              <a:lnSpc>
                <a:spcPts val="3680"/>
              </a:lnSpc>
            </a:pPr>
            <a:endParaRPr lang="en-CA" sz="3201"/>
          </a:p>
        </p:txBody>
      </p:sp>
      <p:sp>
        <p:nvSpPr>
          <p:cNvPr id="8" name="TextBox 8"/>
          <p:cNvSpPr txBox="1"/>
          <p:nvPr/>
        </p:nvSpPr>
        <p:spPr>
          <a:xfrm>
            <a:off x="8077200" y="2171700"/>
            <a:ext cx="387927" cy="948978"/>
          </a:xfrm>
          <a:prstGeom prst="rect">
            <a:avLst/>
          </a:prstGeom>
          <a:noFill/>
        </p:spPr>
        <p:txBody>
          <a:bodyPr vert="horz" wrap="none" lIns="0" tIns="0" rIns="0" bIns="0" rtlCol="0">
            <a:spAutoFit/>
          </a:bodyPr>
          <a:lstStyle/>
          <a:p>
            <a:pPr>
              <a:lnSpc>
                <a:spcPts val="3700"/>
              </a:lnSpc>
            </a:pPr>
            <a:r>
              <a:rPr lang="en-CA" sz="3201">
                <a:latin typeface="Times New Roman Italic"/>
                <a:cs typeface="Times New Roman Italic"/>
              </a:rPr>
              <a:t>cn</a:t>
            </a:r>
          </a:p>
          <a:p>
            <a:pPr>
              <a:lnSpc>
                <a:spcPts val="3680"/>
              </a:lnSpc>
            </a:pPr>
            <a:endParaRPr lang="en-CA" sz="3201"/>
          </a:p>
        </p:txBody>
      </p:sp>
      <p:sp>
        <p:nvSpPr>
          <p:cNvPr id="9" name="TextBox 9"/>
          <p:cNvSpPr txBox="1"/>
          <p:nvPr/>
        </p:nvSpPr>
        <p:spPr>
          <a:xfrm>
            <a:off x="5816600" y="2933700"/>
            <a:ext cx="2670603" cy="948978"/>
          </a:xfrm>
          <a:prstGeom prst="rect">
            <a:avLst/>
          </a:prstGeom>
          <a:noFill/>
        </p:spPr>
        <p:txBody>
          <a:bodyPr vert="horz" wrap="none" lIns="0" tIns="0" rIns="0" bIns="0" rtlCol="0">
            <a:spAutoFit/>
          </a:bodyPr>
          <a:lstStyle/>
          <a:p>
            <a:pPr>
              <a:lnSpc>
                <a:spcPts val="3700"/>
              </a:lnSpc>
              <a:tabLst>
                <a:tab pos="2260600" algn="l"/>
              </a:tabLst>
            </a:pPr>
            <a:r>
              <a:rPr lang="en-CA" sz="3201">
                <a:latin typeface="Times New Roman Italic"/>
                <a:cs typeface="Times New Roman Italic"/>
              </a:rPr>
              <a:t>cn</a:t>
            </a:r>
            <a:r>
              <a:rPr lang="en-CA" sz="3201">
                <a:latin typeface="Times New Roman"/>
                <a:cs typeface="Times New Roman"/>
              </a:rPr>
              <a:t>/2</a:t>
            </a:r>
            <a:r>
              <a:rPr lang="en-CA" sz="3201">
                <a:latin typeface="Times New Roman Italic"/>
                <a:cs typeface="Times New Roman Italic"/>
              </a:rPr>
              <a:t>	cn</a:t>
            </a:r>
          </a:p>
          <a:p>
            <a:pPr>
              <a:lnSpc>
                <a:spcPts val="3680"/>
              </a:lnSpc>
            </a:pPr>
            <a:endParaRPr lang="en-CA" sz="3201"/>
          </a:p>
        </p:txBody>
      </p:sp>
      <p:sp>
        <p:nvSpPr>
          <p:cNvPr id="10" name="TextBox 10"/>
          <p:cNvSpPr txBox="1"/>
          <p:nvPr/>
        </p:nvSpPr>
        <p:spPr>
          <a:xfrm>
            <a:off x="6604000" y="3759200"/>
            <a:ext cx="1875513" cy="948978"/>
          </a:xfrm>
          <a:prstGeom prst="rect">
            <a:avLst/>
          </a:prstGeom>
          <a:noFill/>
        </p:spPr>
        <p:txBody>
          <a:bodyPr vert="horz" wrap="none" lIns="0" tIns="0" rIns="0" bIns="0" rtlCol="0">
            <a:spAutoFit/>
          </a:bodyPr>
          <a:lstStyle/>
          <a:p>
            <a:pPr>
              <a:lnSpc>
                <a:spcPts val="3700"/>
              </a:lnSpc>
              <a:tabLst>
                <a:tab pos="1473200" algn="l"/>
              </a:tabLst>
            </a:pPr>
            <a:r>
              <a:rPr lang="en-CA" sz="3201">
                <a:latin typeface="Times New Roman Italic"/>
                <a:cs typeface="Times New Roman Italic"/>
              </a:rPr>
              <a:t>cn</a:t>
            </a:r>
            <a:r>
              <a:rPr lang="en-CA" sz="3201">
                <a:latin typeface="Times New Roman"/>
                <a:cs typeface="Times New Roman"/>
              </a:rPr>
              <a:t>/4</a:t>
            </a:r>
            <a:r>
              <a:rPr lang="en-CA" sz="3201">
                <a:latin typeface="Times New Roman Italic"/>
                <a:cs typeface="Times New Roman Italic"/>
              </a:rPr>
              <a:t>	cn</a:t>
            </a:r>
          </a:p>
          <a:p>
            <a:pPr>
              <a:lnSpc>
                <a:spcPts val="3680"/>
              </a:lnSpc>
            </a:pPr>
            <a:endParaRPr lang="en-CA" sz="3201"/>
          </a:p>
        </p:txBody>
      </p:sp>
      <p:sp>
        <p:nvSpPr>
          <p:cNvPr id="11" name="TextBox 11"/>
          <p:cNvSpPr txBox="1"/>
          <p:nvPr/>
        </p:nvSpPr>
        <p:spPr>
          <a:xfrm>
            <a:off x="1397000" y="5207000"/>
            <a:ext cx="774251" cy="891270"/>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Θ(1)</a:t>
            </a:r>
          </a:p>
          <a:p>
            <a:pPr>
              <a:lnSpc>
                <a:spcPts val="3680"/>
              </a:lnSpc>
            </a:pPr>
            <a:endParaRPr/>
          </a:p>
        </p:txBody>
      </p:sp>
      <p:sp>
        <p:nvSpPr>
          <p:cNvPr id="12" name="TextBox 12"/>
          <p:cNvSpPr txBox="1"/>
          <p:nvPr/>
        </p:nvSpPr>
        <p:spPr>
          <a:xfrm>
            <a:off x="3619500" y="5194300"/>
            <a:ext cx="1873911" cy="891270"/>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#leaves = </a:t>
            </a:r>
            <a:r>
              <a:rPr lang="en-CA" sz="3201">
                <a:latin typeface="Times New Roman Italic"/>
                <a:cs typeface="Times New Roman Italic"/>
              </a:rPr>
              <a:t>n</a:t>
            </a:r>
          </a:p>
          <a:p>
            <a:pPr>
              <a:lnSpc>
                <a:spcPts val="3680"/>
              </a:lnSpc>
            </a:pPr>
            <a:endParaRPr/>
          </a:p>
        </p:txBody>
      </p:sp>
      <p:sp>
        <p:nvSpPr>
          <p:cNvPr id="13" name="TextBox 13"/>
          <p:cNvSpPr txBox="1"/>
          <p:nvPr/>
        </p:nvSpPr>
        <p:spPr>
          <a:xfrm>
            <a:off x="7886700" y="5207000"/>
            <a:ext cx="774251" cy="891270"/>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Θ(</a:t>
            </a:r>
            <a:r>
              <a:rPr lang="en-CA" sz="3201">
                <a:latin typeface="Times New Roman Italic"/>
                <a:cs typeface="Times New Roman Italic"/>
              </a:rPr>
              <a:t>n</a:t>
            </a:r>
            <a:r>
              <a:rPr lang="en-CA" sz="3201">
                <a:latin typeface="Times New Roman"/>
                <a:cs typeface="Times New Roman"/>
              </a:rPr>
              <a:t>)</a:t>
            </a:r>
          </a:p>
          <a:p>
            <a:pPr>
              <a:lnSpc>
                <a:spcPts val="3680"/>
              </a:lnSpc>
            </a:pPr>
            <a:endParaRPr/>
          </a:p>
        </p:txBody>
      </p:sp>
      <p:sp>
        <p:nvSpPr>
          <p:cNvPr id="14" name="TextBox 14"/>
          <p:cNvSpPr txBox="1"/>
          <p:nvPr/>
        </p:nvSpPr>
        <p:spPr>
          <a:xfrm>
            <a:off x="6096000" y="5842000"/>
            <a:ext cx="2776594" cy="891270"/>
          </a:xfrm>
          <a:prstGeom prst="rect">
            <a:avLst/>
          </a:prstGeom>
          <a:noFill/>
        </p:spPr>
        <p:txBody>
          <a:bodyPr vert="horz" wrap="none" lIns="0" tIns="0" rIns="0" bIns="0" rtlCol="0">
            <a:spAutoFit/>
          </a:bodyPr>
          <a:lstStyle/>
          <a:p>
            <a:pPr>
              <a:lnSpc>
                <a:spcPts val="3680"/>
              </a:lnSpc>
            </a:pPr>
            <a:r>
              <a:rPr lang="en-CA" sz="3201">
                <a:latin typeface="Times New Roman"/>
                <a:cs typeface="Times New Roman"/>
              </a:rPr>
              <a:t>Total = Θ(</a:t>
            </a:r>
            <a:r>
              <a:rPr lang="en-CA" sz="3201">
                <a:latin typeface="Times New Roman Italic"/>
                <a:cs typeface="Times New Roman Italic"/>
              </a:rPr>
              <a:t>n</a:t>
            </a:r>
            <a:r>
              <a:rPr lang="en-CA" sz="3201">
                <a:latin typeface="Times New Roman"/>
                <a:cs typeface="Times New Roman"/>
              </a:rPr>
              <a:t> lg</a:t>
            </a:r>
            <a:r>
              <a:rPr lang="en-CA" sz="3201">
                <a:latin typeface="Times New Roman Italic"/>
                <a:cs typeface="Times New Roman Italic"/>
              </a:rPr>
              <a:t> n</a:t>
            </a:r>
            <a:r>
              <a:rPr lang="en-CA" sz="3201">
                <a:latin typeface="Times New Roman"/>
                <a:cs typeface="Times New Roman"/>
              </a:rPr>
              <a:t>)</a:t>
            </a:r>
          </a:p>
          <a:p>
            <a:pPr>
              <a:lnSpc>
                <a:spcPts val="3680"/>
              </a:lnSpc>
            </a:pPr>
            <a:endParaRPr/>
          </a:p>
        </p:txBody>
      </p:sp>
      <p:sp>
        <p:nvSpPr>
          <p:cNvPr id="15" name="TextBox 15"/>
          <p:cNvSpPr txBox="1"/>
          <p:nvPr/>
        </p:nvSpPr>
        <p:spPr>
          <a:xfrm>
            <a:off x="2590800" y="6426200"/>
            <a:ext cx="38472" cy="375103"/>
          </a:xfrm>
          <a:prstGeom prst="rect">
            <a:avLst/>
          </a:prstGeom>
          <a:noFill/>
        </p:spPr>
        <p:txBody>
          <a:bodyPr vert="horz" wrap="none" lIns="0" tIns="0" rIns="0" bIns="0" rtlCol="0">
            <a:spAutoFit/>
          </a:bodyPr>
          <a:lstStyle/>
          <a:p>
            <a:pPr>
              <a:lnSpc>
                <a:spcPts val="1380"/>
              </a:lnSpc>
            </a:pPr>
            <a:r>
              <a:rPr lang="en-CA" sz="1201" dirty="0">
                <a:latin typeface="Times New Roman Italic"/>
                <a:cs typeface="Times New Roman Italic"/>
              </a:rPr>
              <a:t> </a:t>
            </a:r>
          </a:p>
          <a:p>
            <a:pPr>
              <a:lnSpc>
                <a:spcPts val="1380"/>
              </a:lnSpc>
            </a:pPr>
            <a:endParaRPr/>
          </a:p>
        </p:txBody>
      </p:sp>
      <p:sp>
        <p:nvSpPr>
          <p:cNvPr id="16" name="TextBox 16"/>
          <p:cNvSpPr txBox="1"/>
          <p:nvPr/>
        </p:nvSpPr>
        <p:spPr>
          <a:xfrm>
            <a:off x="762000" y="6578600"/>
            <a:ext cx="947375" cy="359073"/>
          </a:xfrm>
          <a:prstGeom prst="rect">
            <a:avLst/>
          </a:prstGeom>
          <a:noFill/>
        </p:spPr>
        <p:txBody>
          <a:bodyPr vert="horz" wrap="none" lIns="0" tIns="0" rIns="0" bIns="0" rtlCol="0">
            <a:spAutoFit/>
          </a:bodyPr>
          <a:lstStyle/>
          <a:p>
            <a:pPr>
              <a:lnSpc>
                <a:spcPts val="1410"/>
              </a:lnSpc>
            </a:pPr>
            <a:r>
              <a:rPr lang="en-CA" sz="1399" dirty="0" err="1">
                <a:latin typeface="Times New Roman"/>
                <a:cs typeface="Times New Roman"/>
              </a:rPr>
              <a:t>feb</a:t>
            </a:r>
            <a:r>
              <a:rPr lang="en-CA" sz="1399" dirty="0">
                <a:latin typeface="Times New Roman"/>
                <a:cs typeface="Times New Roman"/>
              </a:rPr>
              <a:t>  13, 2012</a:t>
            </a:r>
          </a:p>
          <a:p>
            <a:pPr>
              <a:lnSpc>
                <a:spcPts val="1410"/>
              </a:lnSpc>
            </a:pPr>
            <a:endParaRPr/>
          </a:p>
        </p:txBody>
      </p:sp>
      <p:sp>
        <p:nvSpPr>
          <p:cNvPr id="17" name="TextBox 17"/>
          <p:cNvSpPr txBox="1"/>
          <p:nvPr/>
        </p:nvSpPr>
        <p:spPr>
          <a:xfrm>
            <a:off x="3594100" y="6578600"/>
            <a:ext cx="1915268" cy="410369"/>
          </a:xfrm>
          <a:prstGeom prst="rect">
            <a:avLst/>
          </a:prstGeom>
          <a:noFill/>
        </p:spPr>
        <p:txBody>
          <a:bodyPr vert="horz" wrap="none" lIns="0" tIns="0" rIns="0" bIns="0" rtlCol="0">
            <a:spAutoFit/>
          </a:bodyPr>
          <a:lstStyle/>
          <a:p>
            <a:pPr>
              <a:lnSpc>
                <a:spcPts val="1610"/>
              </a:lnSpc>
            </a:pPr>
            <a:r>
              <a:rPr lang="en-CA" sz="1399">
                <a:latin typeface="Times New Roman Italic"/>
                <a:cs typeface="Times New Roman Italic"/>
              </a:rPr>
              <a:t>Introduction to Algorithms</a:t>
            </a:r>
          </a:p>
          <a:p>
            <a:pPr>
              <a:lnSpc>
                <a:spcPts val="1610"/>
              </a:lnSpc>
            </a:pPr>
            <a:endParaRPr/>
          </a:p>
        </p:txBody>
      </p:sp>
      <p:sp>
        <p:nvSpPr>
          <p:cNvPr id="18" name="TextBox 18"/>
          <p:cNvSpPr txBox="1"/>
          <p:nvPr/>
        </p:nvSpPr>
        <p:spPr>
          <a:xfrm>
            <a:off x="7924800" y="6578600"/>
            <a:ext cx="423193" cy="419987"/>
          </a:xfrm>
          <a:prstGeom prst="rect">
            <a:avLst/>
          </a:prstGeom>
          <a:noFill/>
        </p:spPr>
        <p:txBody>
          <a:bodyPr vert="horz" wrap="none" lIns="0" tIns="0" rIns="0" bIns="0" rtlCol="0">
            <a:spAutoFit/>
          </a:bodyPr>
          <a:lstStyle/>
          <a:p>
            <a:pPr>
              <a:lnSpc>
                <a:spcPts val="1610"/>
              </a:lnSpc>
            </a:pPr>
            <a:r>
              <a:rPr lang="en-CA" sz="1399">
                <a:latin typeface="Times New Roman"/>
                <a:cs typeface="Times New Roman"/>
              </a:rPr>
              <a:t>L1.51</a:t>
            </a:r>
          </a:p>
          <a:p>
            <a:pPr>
              <a:lnSpc>
                <a:spcPts val="1610"/>
              </a:lnSpc>
            </a:pP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533400"/>
            <a:ext cx="7594600" cy="838200"/>
          </a:xfrm>
          <a:prstGeom prst="rect">
            <a:avLst/>
          </a:prstGeom>
          <a:noFill/>
        </p:spPr>
        <p:txBody>
          <a:bodyPr vert="horz" wrap="none" lIns="0" tIns="0" rIns="0" bIns="0" rtlCol="0">
            <a:spAutoFit/>
          </a:bodyPr>
          <a:lstStyle/>
          <a:p>
            <a:pPr>
              <a:lnSpc>
                <a:spcPts val="5060"/>
              </a:lnSpc>
            </a:pPr>
            <a:r>
              <a:rPr lang="en-CA" sz="4412" b="1">
                <a:solidFill>
                  <a:srgbClr val="000000"/>
                </a:solidFill>
                <a:latin typeface="Times New Roman Bold"/>
                <a:cs typeface="Times New Roman Bold"/>
              </a:rPr>
              <a:t>Conclusions</a:t>
            </a:r>
          </a:p>
          <a:p>
            <a:pPr>
              <a:lnSpc>
                <a:spcPts val="5060"/>
              </a:lnSpc>
            </a:pPr>
            <a:endParaRPr lang="en-CA" sz="4402">
              <a:solidFill>
                <a:srgbClr val="000000"/>
              </a:solidFill>
            </a:endParaRPr>
          </a:p>
        </p:txBody>
      </p:sp>
      <p:sp>
        <p:nvSpPr>
          <p:cNvPr id="3" name="TextBox 3"/>
          <p:cNvSpPr txBox="1"/>
          <p:nvPr/>
        </p:nvSpPr>
        <p:spPr>
          <a:xfrm>
            <a:off x="1054100" y="1828800"/>
            <a:ext cx="6957033" cy="948978"/>
          </a:xfrm>
          <a:prstGeom prst="rect">
            <a:avLst/>
          </a:prstGeom>
          <a:noFill/>
        </p:spPr>
        <p:txBody>
          <a:bodyPr vert="horz" wrap="none" lIns="0" tIns="0" rIns="0" bIns="0" rtlCol="0">
            <a:spAutoFit/>
          </a:bodyPr>
          <a:lstStyle/>
          <a:p>
            <a:pPr>
              <a:lnSpc>
                <a:spcPts val="3680"/>
              </a:lnSpc>
            </a:pPr>
            <a:r>
              <a:rPr lang="en-CA" sz="3201" dirty="0">
                <a:solidFill>
                  <a:srgbClr val="CC0000"/>
                </a:solidFill>
                <a:latin typeface="Times New Roman"/>
                <a:cs typeface="Times New Roman"/>
              </a:rPr>
              <a:t>•</a:t>
            </a:r>
            <a:r>
              <a:rPr lang="en-CA" sz="3201" dirty="0">
                <a:solidFill>
                  <a:srgbClr val="9A9A00"/>
                </a:solidFill>
                <a:latin typeface="Times New Roman"/>
                <a:cs typeface="Times New Roman"/>
              </a:rPr>
              <a:t> Θ(</a:t>
            </a:r>
            <a:r>
              <a:rPr lang="en-CA" sz="3201" dirty="0">
                <a:solidFill>
                  <a:srgbClr val="9A9A00"/>
                </a:solidFill>
                <a:latin typeface="Times New Roman Italic"/>
                <a:cs typeface="Times New Roman Italic"/>
              </a:rPr>
              <a:t>n</a:t>
            </a:r>
            <a:r>
              <a:rPr lang="en-CA" sz="3201" dirty="0">
                <a:solidFill>
                  <a:srgbClr val="9A9A00"/>
                </a:solidFill>
                <a:latin typeface="Times New Roman"/>
                <a:cs typeface="Times New Roman"/>
              </a:rPr>
              <a:t> </a:t>
            </a:r>
            <a:r>
              <a:rPr lang="en-CA" sz="3201" dirty="0" err="1">
                <a:solidFill>
                  <a:srgbClr val="9A9A00"/>
                </a:solidFill>
                <a:latin typeface="Times New Roman"/>
                <a:cs typeface="Times New Roman"/>
              </a:rPr>
              <a:t>lg</a:t>
            </a:r>
            <a:r>
              <a:rPr lang="en-CA" sz="3201" dirty="0">
                <a:solidFill>
                  <a:srgbClr val="9A9A00"/>
                </a:solidFill>
                <a:latin typeface="Times New Roman Italic"/>
                <a:cs typeface="Times New Roman Italic"/>
              </a:rPr>
              <a:t> n</a:t>
            </a:r>
            <a:r>
              <a:rPr lang="en-CA" sz="3201" dirty="0">
                <a:solidFill>
                  <a:srgbClr val="9A9A00"/>
                </a:solidFill>
                <a:latin typeface="Times New Roman"/>
                <a:cs typeface="Times New Roman"/>
              </a:rPr>
              <a:t>)</a:t>
            </a:r>
            <a:r>
              <a:rPr lang="en-CA" sz="3201" dirty="0">
                <a:solidFill>
                  <a:srgbClr val="000000"/>
                </a:solidFill>
                <a:latin typeface="Times New Roman"/>
                <a:cs typeface="Times New Roman"/>
              </a:rPr>
              <a:t> grows more slowly than </a:t>
            </a:r>
            <a:r>
              <a:rPr lang="en-CA" sz="3201" dirty="0">
                <a:solidFill>
                  <a:srgbClr val="9A9A00"/>
                </a:solidFill>
                <a:latin typeface="Times New Roman"/>
                <a:cs typeface="Times New Roman"/>
              </a:rPr>
              <a:t>Θ(</a:t>
            </a:r>
            <a:r>
              <a:rPr lang="en-CA" sz="3201" dirty="0">
                <a:solidFill>
                  <a:srgbClr val="9A9A00"/>
                </a:solidFill>
                <a:latin typeface="Times New Roman Italic"/>
                <a:cs typeface="Times New Roman Italic"/>
              </a:rPr>
              <a:t>n</a:t>
            </a:r>
            <a:r>
              <a:rPr lang="en-CA" sz="2101" baseline="60000" dirty="0">
                <a:solidFill>
                  <a:srgbClr val="9A9A00"/>
                </a:solidFill>
                <a:latin typeface="Times New Roman"/>
                <a:cs typeface="Times New Roman"/>
              </a:rPr>
              <a:t>2</a:t>
            </a:r>
            <a:r>
              <a:rPr lang="en-CA" sz="3201" dirty="0">
                <a:solidFill>
                  <a:srgbClr val="9A9A00"/>
                </a:solidFill>
                <a:latin typeface="Times New Roman"/>
                <a:cs typeface="Times New Roman"/>
              </a:rPr>
              <a:t>)</a:t>
            </a:r>
            <a:r>
              <a:rPr lang="en-CA" sz="3201" dirty="0">
                <a:solidFill>
                  <a:srgbClr val="000000"/>
                </a:solidFill>
                <a:latin typeface="Times New Roman"/>
                <a:cs typeface="Times New Roman"/>
              </a:rPr>
              <a:t>.</a:t>
            </a:r>
          </a:p>
          <a:p>
            <a:pPr>
              <a:lnSpc>
                <a:spcPts val="3680"/>
              </a:lnSpc>
            </a:pPr>
            <a:endParaRPr lang="en-CA" sz="3174" dirty="0">
              <a:solidFill>
                <a:srgbClr val="000000"/>
              </a:solidFill>
            </a:endParaRPr>
          </a:p>
        </p:txBody>
      </p:sp>
      <p:sp>
        <p:nvSpPr>
          <p:cNvPr id="4" name="TextBox 4"/>
          <p:cNvSpPr txBox="1"/>
          <p:nvPr/>
        </p:nvSpPr>
        <p:spPr>
          <a:xfrm>
            <a:off x="1054100" y="2438400"/>
            <a:ext cx="8064500" cy="1054100"/>
          </a:xfrm>
          <a:prstGeom prst="rect">
            <a:avLst/>
          </a:prstGeom>
          <a:noFill/>
        </p:spPr>
        <p:txBody>
          <a:bodyPr vert="horz" wrap="none" lIns="0" tIns="0" rIns="0" bIns="0" rtlCol="0">
            <a:spAutoFit/>
          </a:bodyPr>
          <a:lstStyle/>
          <a:p>
            <a:pPr>
              <a:lnSpc>
                <a:spcPts val="340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Therefore, merge sort asymptotically</a:t>
            </a:r>
            <a:br>
              <a:rPr lang="en-CA" sz="3201" dirty="0">
                <a:solidFill>
                  <a:srgbClr val="000000"/>
                </a:solidFill>
                <a:latin typeface="Times New Roman"/>
              </a:rPr>
            </a:br>
            <a:r>
              <a:rPr lang="en-CA" sz="3201" dirty="0">
                <a:solidFill>
                  <a:srgbClr val="000000"/>
                </a:solidFill>
                <a:latin typeface="Times New Roman"/>
                <a:cs typeface="Times New Roman"/>
              </a:rPr>
              <a:t>beats insertion sort in the worst case.</a:t>
            </a:r>
          </a:p>
          <a:p>
            <a:pPr>
              <a:lnSpc>
                <a:spcPts val="3400"/>
              </a:lnSpc>
            </a:pPr>
            <a:endParaRPr lang="en-CA" sz="3201" dirty="0">
              <a:solidFill>
                <a:srgbClr val="000000"/>
              </a:solidFill>
            </a:endParaRPr>
          </a:p>
        </p:txBody>
      </p:sp>
      <p:sp>
        <p:nvSpPr>
          <p:cNvPr id="5" name="TextBox 5"/>
          <p:cNvSpPr txBox="1"/>
          <p:nvPr/>
        </p:nvSpPr>
        <p:spPr>
          <a:xfrm>
            <a:off x="1054100" y="3441700"/>
            <a:ext cx="8064500" cy="1054100"/>
          </a:xfrm>
          <a:prstGeom prst="rect">
            <a:avLst/>
          </a:prstGeom>
          <a:noFill/>
        </p:spPr>
        <p:txBody>
          <a:bodyPr vert="horz" wrap="none" lIns="0" tIns="0" rIns="0" bIns="0" rtlCol="0">
            <a:spAutoFit/>
          </a:bodyPr>
          <a:lstStyle/>
          <a:p>
            <a:pPr>
              <a:lnSpc>
                <a:spcPts val="3500"/>
              </a:lnSpc>
            </a:pPr>
            <a:r>
              <a:rPr lang="en-CA" sz="3201" dirty="0">
                <a:solidFill>
                  <a:srgbClr val="CC0000"/>
                </a:solidFill>
                <a:latin typeface="Times New Roman"/>
                <a:cs typeface="Times New Roman"/>
              </a:rPr>
              <a:t>•</a:t>
            </a:r>
            <a:r>
              <a:rPr lang="en-CA" sz="3201" dirty="0">
                <a:solidFill>
                  <a:srgbClr val="000000"/>
                </a:solidFill>
                <a:latin typeface="Times New Roman"/>
                <a:cs typeface="Times New Roman"/>
              </a:rPr>
              <a:t> In practice, merge sort beats insertion</a:t>
            </a:r>
            <a:br>
              <a:rPr lang="en-CA" sz="3201" dirty="0">
                <a:solidFill>
                  <a:srgbClr val="000000"/>
                </a:solidFill>
                <a:latin typeface="Times New Roman"/>
              </a:rPr>
            </a:br>
            <a:r>
              <a:rPr lang="en-CA" sz="3201" dirty="0">
                <a:solidFill>
                  <a:srgbClr val="000000"/>
                </a:solidFill>
                <a:latin typeface="Times New Roman"/>
                <a:cs typeface="Times New Roman"/>
              </a:rPr>
              <a:t>sort for </a:t>
            </a:r>
            <a:r>
              <a:rPr lang="en-CA" sz="3201" dirty="0">
                <a:solidFill>
                  <a:srgbClr val="9A9A00"/>
                </a:solidFill>
                <a:latin typeface="Times New Roman Italic"/>
                <a:cs typeface="Times New Roman Italic"/>
              </a:rPr>
              <a:t>n</a:t>
            </a:r>
            <a:r>
              <a:rPr lang="en-CA" sz="3201" dirty="0">
                <a:solidFill>
                  <a:srgbClr val="9A9A00"/>
                </a:solidFill>
                <a:latin typeface="Times New Roman"/>
                <a:cs typeface="Times New Roman"/>
              </a:rPr>
              <a:t> &gt; 30</a:t>
            </a:r>
            <a:r>
              <a:rPr lang="en-CA" sz="3201" dirty="0">
                <a:solidFill>
                  <a:srgbClr val="000000"/>
                </a:solidFill>
                <a:latin typeface="Times New Roman"/>
                <a:cs typeface="Times New Roman"/>
              </a:rPr>
              <a:t> or so.</a:t>
            </a:r>
          </a:p>
          <a:p>
            <a:pPr>
              <a:lnSpc>
                <a:spcPts val="3500"/>
              </a:lnSpc>
            </a:pPr>
            <a:endParaRPr lang="en-CA" sz="3201" dirty="0">
              <a:solidFill>
                <a:srgbClr val="000000"/>
              </a:solidFill>
            </a:endParaRPr>
          </a:p>
        </p:txBody>
      </p:sp>
      <p:sp>
        <p:nvSpPr>
          <p:cNvPr id="6" name="TextBox 6"/>
          <p:cNvSpPr txBox="1"/>
          <p:nvPr/>
        </p:nvSpPr>
        <p:spPr>
          <a:xfrm>
            <a:off x="1054100" y="4445000"/>
            <a:ext cx="8064500" cy="609600"/>
          </a:xfrm>
          <a:prstGeom prst="rect">
            <a:avLst/>
          </a:prstGeom>
          <a:noFill/>
        </p:spPr>
        <p:txBody>
          <a:bodyPr vert="horz" wrap="none" lIns="0" tIns="0" rIns="0" bIns="0" rtlCol="0">
            <a:spAutoFit/>
          </a:bodyPr>
          <a:lstStyle/>
          <a:p>
            <a:pPr>
              <a:lnSpc>
                <a:spcPts val="3680"/>
              </a:lnSpc>
            </a:pPr>
            <a:r>
              <a:rPr lang="en-CA" sz="3201">
                <a:solidFill>
                  <a:srgbClr val="CC0000"/>
                </a:solidFill>
                <a:latin typeface="Times New Roman"/>
                <a:cs typeface="Times New Roman"/>
              </a:rPr>
              <a:t>•</a:t>
            </a:r>
            <a:r>
              <a:rPr lang="en-CA" sz="3201">
                <a:solidFill>
                  <a:srgbClr val="000000"/>
                </a:solidFill>
                <a:latin typeface="Times New Roman"/>
                <a:cs typeface="Times New Roman"/>
              </a:rPr>
              <a:t> Go test it out for yourself!</a:t>
            </a:r>
          </a:p>
          <a:p>
            <a:pPr>
              <a:lnSpc>
                <a:spcPts val="3680"/>
              </a:lnSpc>
            </a:pPr>
            <a:endParaRPr lang="en-CA" sz="3201">
              <a:solidFill>
                <a:srgbClr val="000000"/>
              </a:solidFill>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487342"/>
            <a:ext cx="5892820" cy="654025"/>
          </a:xfrm>
          <a:prstGeom prst="rect">
            <a:avLst/>
          </a:prstGeom>
          <a:noFill/>
        </p:spPr>
        <p:txBody>
          <a:bodyPr vert="horz" wrap="square" lIns="0" tIns="0" rIns="0" bIns="0" rtlCol="0">
            <a:spAutoFit/>
          </a:bodyPr>
          <a:lstStyle/>
          <a:p>
            <a:pPr>
              <a:lnSpc>
                <a:spcPts val="5060"/>
              </a:lnSpc>
            </a:pPr>
            <a:r>
              <a:rPr lang="en-US" sz="4800" dirty="0"/>
              <a:t>Sequential </a:t>
            </a:r>
            <a:r>
              <a:rPr lang="en-US" sz="4800" i="1" dirty="0"/>
              <a:t>search</a:t>
            </a:r>
            <a:endParaRPr lang="en-CA" sz="4412" b="1" dirty="0">
              <a:solidFill>
                <a:srgbClr val="000000"/>
              </a:solidFill>
              <a:latin typeface="Times New Roman Bold"/>
              <a:cs typeface="Times New Roman Bold"/>
            </a:endParaRPr>
          </a:p>
        </p:txBody>
      </p:sp>
      <p:sp>
        <p:nvSpPr>
          <p:cNvPr id="3" name="TextBox 3"/>
          <p:cNvSpPr txBox="1"/>
          <p:nvPr/>
        </p:nvSpPr>
        <p:spPr>
          <a:xfrm>
            <a:off x="483082" y="1438658"/>
            <a:ext cx="8219622" cy="5645135"/>
          </a:xfrm>
          <a:prstGeom prst="rect">
            <a:avLst/>
          </a:prstGeom>
          <a:noFill/>
        </p:spPr>
        <p:txBody>
          <a:bodyPr vert="horz" wrap="none" lIns="0" tIns="0" rIns="0" bIns="0" rtlCol="0">
            <a:spAutoFit/>
          </a:bodyPr>
          <a:lstStyle/>
          <a:p>
            <a:r>
              <a:rPr lang="en-CA" sz="2800" dirty="0">
                <a:solidFill>
                  <a:srgbClr val="CC0000"/>
                </a:solidFill>
                <a:latin typeface="Times New Roman"/>
                <a:cs typeface="Times New Roman"/>
              </a:rPr>
              <a:t>•</a:t>
            </a:r>
            <a:r>
              <a:rPr lang="en-US" sz="2800" dirty="0"/>
              <a:t>Problem: Is the key </a:t>
            </a:r>
            <a:r>
              <a:rPr lang="en-US" sz="2800" i="1" dirty="0"/>
              <a:t>x</a:t>
            </a:r>
            <a:r>
              <a:rPr lang="en-US" sz="2800" dirty="0"/>
              <a:t> in the array </a:t>
            </a:r>
            <a:r>
              <a:rPr lang="en-US" sz="2800" i="1" dirty="0"/>
              <a:t>S</a:t>
            </a:r>
            <a:r>
              <a:rPr lang="en-US" sz="2800" dirty="0"/>
              <a:t> of </a:t>
            </a:r>
            <a:r>
              <a:rPr lang="en-US" sz="2800" i="1" dirty="0"/>
              <a:t>n</a:t>
            </a:r>
            <a:r>
              <a:rPr lang="en-US" sz="2800" dirty="0"/>
              <a:t> keys?</a:t>
            </a:r>
          </a:p>
          <a:p>
            <a:r>
              <a:rPr lang="en-US" sz="2800" dirty="0"/>
              <a:t>Inputs (parameters): positive integer </a:t>
            </a:r>
            <a:r>
              <a:rPr lang="en-US" sz="2800" i="1" dirty="0"/>
              <a:t>n</a:t>
            </a:r>
            <a:r>
              <a:rPr lang="en-US" sz="2800" dirty="0"/>
              <a:t>, array of keys</a:t>
            </a:r>
          </a:p>
          <a:p>
            <a:r>
              <a:rPr lang="en-US" sz="2800" dirty="0"/>
              <a:t> </a:t>
            </a:r>
            <a:r>
              <a:rPr lang="en-US" sz="2800" i="1" dirty="0"/>
              <a:t>S</a:t>
            </a:r>
            <a:r>
              <a:rPr lang="en-US" sz="2800" dirty="0"/>
              <a:t> indexed from 1 to </a:t>
            </a:r>
            <a:r>
              <a:rPr lang="en-US" sz="2800" i="1" dirty="0"/>
              <a:t>n</a:t>
            </a:r>
            <a:r>
              <a:rPr lang="en-US" sz="2800" dirty="0"/>
              <a:t>, and a key x.</a:t>
            </a:r>
          </a:p>
          <a:p>
            <a:r>
              <a:rPr lang="en-US" sz="2800" dirty="0"/>
              <a:t>Outputs: </a:t>
            </a:r>
            <a:r>
              <a:rPr lang="en-US" sz="2800" i="1" dirty="0"/>
              <a:t>location</a:t>
            </a:r>
            <a:r>
              <a:rPr lang="en-US" sz="2800" dirty="0"/>
              <a:t>, the location of </a:t>
            </a:r>
            <a:r>
              <a:rPr lang="en-US" sz="2800" i="1" dirty="0"/>
              <a:t>x</a:t>
            </a:r>
            <a:r>
              <a:rPr lang="en-US" sz="2800" dirty="0"/>
              <a:t> in </a:t>
            </a:r>
            <a:r>
              <a:rPr lang="en-US" sz="2800" i="1" dirty="0"/>
              <a:t>S</a:t>
            </a:r>
            <a:r>
              <a:rPr lang="en-US" sz="2800" dirty="0"/>
              <a:t> (0 if </a:t>
            </a:r>
            <a:r>
              <a:rPr lang="en-US" sz="2800" i="1" dirty="0"/>
              <a:t>x</a:t>
            </a:r>
            <a:r>
              <a:rPr lang="en-US" sz="2800" dirty="0"/>
              <a:t> is not in </a:t>
            </a:r>
            <a:r>
              <a:rPr lang="en-US" sz="2800" i="1" dirty="0"/>
              <a:t>S.</a:t>
            </a:r>
            <a:r>
              <a:rPr lang="en-US" sz="2800" dirty="0"/>
              <a:t>)</a:t>
            </a:r>
          </a:p>
          <a:p>
            <a:r>
              <a:rPr lang="en-US" sz="2800" b="1" dirty="0"/>
              <a:t>void</a:t>
            </a:r>
            <a:r>
              <a:rPr lang="en-US" sz="2800" dirty="0"/>
              <a:t> </a:t>
            </a:r>
            <a:r>
              <a:rPr lang="en-US" sz="2800" i="1" dirty="0" err="1"/>
              <a:t>seqsearch</a:t>
            </a:r>
            <a:r>
              <a:rPr lang="en-US" sz="2800" dirty="0"/>
              <a:t>(</a:t>
            </a:r>
            <a:r>
              <a:rPr lang="en-US" sz="2800" b="1" dirty="0" err="1"/>
              <a:t>int</a:t>
            </a:r>
            <a:r>
              <a:rPr lang="en-US" sz="2800" dirty="0"/>
              <a:t> </a:t>
            </a:r>
            <a:r>
              <a:rPr lang="en-US" sz="2800" i="1" dirty="0"/>
              <a:t>n</a:t>
            </a:r>
            <a:r>
              <a:rPr lang="en-US" sz="2800" dirty="0"/>
              <a:t>, </a:t>
            </a:r>
            <a:r>
              <a:rPr lang="en-US" sz="2800" b="1" dirty="0"/>
              <a:t>const </a:t>
            </a:r>
            <a:r>
              <a:rPr lang="en-US" sz="2800" b="1" dirty="0" err="1"/>
              <a:t>keytype</a:t>
            </a:r>
            <a:r>
              <a:rPr lang="en-US" sz="2800" dirty="0"/>
              <a:t> </a:t>
            </a:r>
            <a:r>
              <a:rPr lang="en-US" sz="2800" i="1" dirty="0"/>
              <a:t>S</a:t>
            </a:r>
            <a:r>
              <a:rPr lang="en-US" sz="2800" dirty="0"/>
              <a:t> [ ],</a:t>
            </a:r>
          </a:p>
          <a:p>
            <a:r>
              <a:rPr lang="en-US" sz="2800" b="1" dirty="0" err="1"/>
              <a:t>keytype</a:t>
            </a:r>
            <a:r>
              <a:rPr lang="en-US" sz="2800" dirty="0"/>
              <a:t> </a:t>
            </a:r>
            <a:r>
              <a:rPr lang="en-US" sz="2800" i="1" dirty="0"/>
              <a:t>x</a:t>
            </a:r>
            <a:r>
              <a:rPr lang="en-US" sz="2800" dirty="0"/>
              <a:t>, </a:t>
            </a:r>
            <a:r>
              <a:rPr lang="en-US" sz="2800" b="1" dirty="0"/>
              <a:t>index</a:t>
            </a:r>
            <a:r>
              <a:rPr lang="en-US" sz="2800" dirty="0"/>
              <a:t> &amp; </a:t>
            </a:r>
            <a:r>
              <a:rPr lang="en-US" sz="2800" i="1" dirty="0"/>
              <a:t>location</a:t>
            </a:r>
            <a:r>
              <a:rPr lang="en-US" sz="2800" dirty="0"/>
              <a:t>) </a:t>
            </a:r>
          </a:p>
          <a:p>
            <a:r>
              <a:rPr lang="en-US" sz="2800" dirty="0"/>
              <a:t>{ </a:t>
            </a:r>
            <a:r>
              <a:rPr lang="en-US" sz="2800" i="1" dirty="0"/>
              <a:t>location</a:t>
            </a:r>
            <a:r>
              <a:rPr lang="en-US" sz="2800" dirty="0"/>
              <a:t> = 1; </a:t>
            </a:r>
          </a:p>
          <a:p>
            <a:r>
              <a:rPr lang="en-US" sz="2800" b="1" dirty="0"/>
              <a:t>while</a:t>
            </a:r>
            <a:r>
              <a:rPr lang="en-US" sz="2800" dirty="0"/>
              <a:t> (</a:t>
            </a:r>
            <a:r>
              <a:rPr lang="en-US" sz="2800" i="1" dirty="0"/>
              <a:t>location &lt;= n &amp;&amp; S[location] != x</a:t>
            </a:r>
            <a:r>
              <a:rPr lang="en-US" sz="2800" dirty="0"/>
              <a:t>)</a:t>
            </a:r>
          </a:p>
          <a:p>
            <a:r>
              <a:rPr lang="en-US" sz="2800" dirty="0"/>
              <a:t> </a:t>
            </a:r>
            <a:r>
              <a:rPr lang="en-US" sz="2800" i="1" dirty="0"/>
              <a:t>location</a:t>
            </a:r>
            <a:r>
              <a:rPr lang="en-US" sz="2800" dirty="0"/>
              <a:t> ++; </a:t>
            </a:r>
          </a:p>
          <a:p>
            <a:r>
              <a:rPr lang="en-US" sz="2800" b="1" dirty="0"/>
              <a:t>if</a:t>
            </a:r>
            <a:r>
              <a:rPr lang="en-US" sz="2800" dirty="0"/>
              <a:t> (</a:t>
            </a:r>
            <a:r>
              <a:rPr lang="en-US" sz="2800" i="1" dirty="0"/>
              <a:t>location &gt; n</a:t>
            </a:r>
            <a:r>
              <a:rPr lang="en-US" sz="2800" dirty="0"/>
              <a:t>) </a:t>
            </a:r>
          </a:p>
          <a:p>
            <a:r>
              <a:rPr lang="en-US" sz="2800" i="1" dirty="0"/>
              <a:t>location</a:t>
            </a:r>
            <a:r>
              <a:rPr lang="en-US" sz="2800" dirty="0"/>
              <a:t>=0; </a:t>
            </a:r>
          </a:p>
          <a:p>
            <a:r>
              <a:rPr lang="en-US" sz="2800" dirty="0"/>
              <a:t>} </a:t>
            </a:r>
          </a:p>
          <a:p>
            <a:pPr>
              <a:lnSpc>
                <a:spcPts val="3680"/>
              </a:lnSpc>
            </a:pPr>
            <a:endParaRPr lang="en-CA" sz="2800" dirty="0">
              <a:solidFill>
                <a:srgbClr val="000000"/>
              </a:solidFill>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487342"/>
            <a:ext cx="5892820" cy="654025"/>
          </a:xfrm>
          <a:prstGeom prst="rect">
            <a:avLst/>
          </a:prstGeom>
          <a:noFill/>
        </p:spPr>
        <p:txBody>
          <a:bodyPr vert="horz" wrap="square" lIns="0" tIns="0" rIns="0" bIns="0" rtlCol="0">
            <a:spAutoFit/>
          </a:bodyPr>
          <a:lstStyle/>
          <a:p>
            <a:pPr>
              <a:lnSpc>
                <a:spcPts val="5060"/>
              </a:lnSpc>
            </a:pPr>
            <a:r>
              <a:rPr lang="en-US" sz="4800" dirty="0"/>
              <a:t>Add Array Members</a:t>
            </a:r>
            <a:endParaRPr lang="en-CA" sz="4412" b="1" dirty="0">
              <a:solidFill>
                <a:srgbClr val="000000"/>
              </a:solidFill>
              <a:latin typeface="Times New Roman Bold"/>
              <a:cs typeface="Times New Roman Bold"/>
            </a:endParaRPr>
          </a:p>
        </p:txBody>
      </p:sp>
      <p:sp>
        <p:nvSpPr>
          <p:cNvPr id="3" name="TextBox 3"/>
          <p:cNvSpPr txBox="1"/>
          <p:nvPr/>
        </p:nvSpPr>
        <p:spPr>
          <a:xfrm>
            <a:off x="116228" y="1438658"/>
            <a:ext cx="8660961" cy="6076022"/>
          </a:xfrm>
          <a:prstGeom prst="rect">
            <a:avLst/>
          </a:prstGeom>
          <a:noFill/>
        </p:spPr>
        <p:txBody>
          <a:bodyPr vert="horz" wrap="none" lIns="0" tIns="0" rIns="0" bIns="0" rtlCol="0">
            <a:spAutoFit/>
          </a:bodyPr>
          <a:lstStyle/>
          <a:p>
            <a:r>
              <a:rPr lang="en-CA" sz="2800" dirty="0">
                <a:solidFill>
                  <a:srgbClr val="CC0000"/>
                </a:solidFill>
                <a:latin typeface="Times New Roman"/>
                <a:cs typeface="Times New Roman"/>
              </a:rPr>
              <a:t>•</a:t>
            </a:r>
            <a:r>
              <a:rPr lang="en-US" sz="2800" dirty="0"/>
              <a:t> Problem: Add all the numbers in the array </a:t>
            </a:r>
            <a:r>
              <a:rPr lang="en-US" sz="2800" i="1" dirty="0"/>
              <a:t>S</a:t>
            </a:r>
            <a:r>
              <a:rPr lang="en-US" sz="2800" dirty="0"/>
              <a:t> of </a:t>
            </a:r>
            <a:r>
              <a:rPr lang="en-US" sz="2800" i="1" dirty="0"/>
              <a:t>n</a:t>
            </a:r>
            <a:r>
              <a:rPr lang="en-US" sz="2800" dirty="0"/>
              <a:t> numbers.</a:t>
            </a:r>
          </a:p>
          <a:p>
            <a:r>
              <a:rPr lang="en-US" sz="2800" dirty="0"/>
              <a:t>Inputs: positive integer </a:t>
            </a:r>
            <a:r>
              <a:rPr lang="en-US" sz="2800" i="1" dirty="0"/>
              <a:t>n</a:t>
            </a:r>
            <a:r>
              <a:rPr lang="en-US" sz="2800" dirty="0"/>
              <a:t>, array of numbers </a:t>
            </a:r>
            <a:r>
              <a:rPr lang="en-US" sz="2800" i="1" dirty="0"/>
              <a:t>S</a:t>
            </a:r>
            <a:r>
              <a:rPr lang="en-US" sz="2800" dirty="0"/>
              <a:t> </a:t>
            </a:r>
          </a:p>
          <a:p>
            <a:r>
              <a:rPr lang="en-US" sz="2800" dirty="0"/>
              <a:t>indexed from 1 to </a:t>
            </a:r>
            <a:r>
              <a:rPr lang="en-US" sz="2800" i="1" dirty="0"/>
              <a:t>n.</a:t>
            </a:r>
            <a:r>
              <a:rPr lang="en-US" sz="2800" dirty="0"/>
              <a:t> </a:t>
            </a:r>
          </a:p>
          <a:p>
            <a:r>
              <a:rPr lang="en-US" sz="2800" dirty="0"/>
              <a:t>Outputs: </a:t>
            </a:r>
            <a:r>
              <a:rPr lang="en-US" sz="2800" i="1" dirty="0"/>
              <a:t>sum</a:t>
            </a:r>
            <a:r>
              <a:rPr lang="en-US" sz="2800" dirty="0"/>
              <a:t>, the sum of the numbers in </a:t>
            </a:r>
            <a:r>
              <a:rPr lang="en-US" sz="2800" i="1" dirty="0"/>
              <a:t>S</a:t>
            </a:r>
            <a:r>
              <a:rPr lang="en-US" sz="2800" dirty="0"/>
              <a:t>.</a:t>
            </a:r>
          </a:p>
          <a:p>
            <a:r>
              <a:rPr lang="en-US" sz="2800" b="1" dirty="0"/>
              <a:t>number</a:t>
            </a:r>
            <a:r>
              <a:rPr lang="en-US" sz="2800" dirty="0"/>
              <a:t> </a:t>
            </a:r>
            <a:r>
              <a:rPr lang="en-US" sz="2800" i="1" dirty="0"/>
              <a:t>sum</a:t>
            </a:r>
            <a:r>
              <a:rPr lang="en-US" sz="2800" dirty="0"/>
              <a:t> (</a:t>
            </a:r>
            <a:r>
              <a:rPr lang="en-US" sz="2800" b="1" dirty="0" err="1"/>
              <a:t>int</a:t>
            </a:r>
            <a:r>
              <a:rPr lang="en-US" sz="2800" dirty="0"/>
              <a:t> </a:t>
            </a:r>
            <a:r>
              <a:rPr lang="en-US" sz="2800" i="1" dirty="0"/>
              <a:t>n</a:t>
            </a:r>
            <a:r>
              <a:rPr lang="en-US" sz="2800" dirty="0"/>
              <a:t>, </a:t>
            </a:r>
            <a:r>
              <a:rPr lang="en-US" sz="2800" b="1" dirty="0"/>
              <a:t>const number</a:t>
            </a:r>
            <a:r>
              <a:rPr lang="en-US" sz="2800" dirty="0"/>
              <a:t> </a:t>
            </a:r>
            <a:r>
              <a:rPr lang="en-US" sz="2800" i="1" dirty="0"/>
              <a:t>S</a:t>
            </a:r>
            <a:r>
              <a:rPr lang="en-US" sz="2800" dirty="0"/>
              <a:t>[ ])</a:t>
            </a:r>
          </a:p>
          <a:p>
            <a:r>
              <a:rPr lang="en-US" sz="2800" dirty="0"/>
              <a:t> { </a:t>
            </a:r>
            <a:r>
              <a:rPr lang="en-US" sz="2800" b="1" dirty="0"/>
              <a:t>index</a:t>
            </a:r>
            <a:r>
              <a:rPr lang="en-US" sz="2800" dirty="0"/>
              <a:t> </a:t>
            </a:r>
            <a:r>
              <a:rPr lang="en-US" sz="2800" i="1" dirty="0" err="1"/>
              <a:t>i</a:t>
            </a:r>
            <a:r>
              <a:rPr lang="en-US" sz="2800" dirty="0"/>
              <a:t>; </a:t>
            </a:r>
          </a:p>
          <a:p>
            <a:r>
              <a:rPr lang="en-US" sz="2800" b="1" dirty="0"/>
              <a:t>number</a:t>
            </a:r>
            <a:r>
              <a:rPr lang="en-US" sz="2800" dirty="0"/>
              <a:t> </a:t>
            </a:r>
            <a:r>
              <a:rPr lang="en-US" sz="2800" i="1" dirty="0"/>
              <a:t>result</a:t>
            </a:r>
            <a:r>
              <a:rPr lang="en-US" sz="2800" dirty="0"/>
              <a:t>; </a:t>
            </a:r>
          </a:p>
          <a:p>
            <a:r>
              <a:rPr lang="en-US" sz="2800" i="1" dirty="0"/>
              <a:t>result</a:t>
            </a:r>
            <a:r>
              <a:rPr lang="en-US" sz="2800" dirty="0"/>
              <a:t> = 0; </a:t>
            </a:r>
          </a:p>
          <a:p>
            <a:r>
              <a:rPr lang="en-US" sz="2800" b="1" dirty="0"/>
              <a:t>for</a:t>
            </a:r>
            <a:r>
              <a:rPr lang="en-US" sz="2800" dirty="0"/>
              <a:t> (</a:t>
            </a:r>
            <a:r>
              <a:rPr lang="en-US" sz="2800" i="1" dirty="0" err="1"/>
              <a:t>i</a:t>
            </a:r>
            <a:r>
              <a:rPr lang="en-US" sz="2800" dirty="0"/>
              <a:t> = 1; </a:t>
            </a:r>
            <a:r>
              <a:rPr lang="en-US" sz="2800" i="1" dirty="0" err="1"/>
              <a:t>i</a:t>
            </a:r>
            <a:r>
              <a:rPr lang="en-US" sz="2800" i="1" dirty="0"/>
              <a:t> &lt;= n; </a:t>
            </a:r>
            <a:r>
              <a:rPr lang="en-US" sz="2800" i="1" dirty="0" err="1"/>
              <a:t>i</a:t>
            </a:r>
            <a:r>
              <a:rPr lang="en-US" sz="2800" dirty="0"/>
              <a:t>++)</a:t>
            </a:r>
          </a:p>
          <a:p>
            <a:r>
              <a:rPr lang="en-US" sz="2800" dirty="0"/>
              <a:t> </a:t>
            </a:r>
            <a:r>
              <a:rPr lang="en-US" sz="2800" i="1" dirty="0"/>
              <a:t>result</a:t>
            </a:r>
            <a:r>
              <a:rPr lang="en-US" sz="2800" dirty="0"/>
              <a:t> = </a:t>
            </a:r>
            <a:r>
              <a:rPr lang="en-US" sz="2800" i="1" dirty="0"/>
              <a:t>result + S[</a:t>
            </a:r>
            <a:r>
              <a:rPr lang="en-US" sz="2800" i="1" dirty="0" err="1"/>
              <a:t>i</a:t>
            </a:r>
            <a:r>
              <a:rPr lang="en-US" sz="2800" i="1" dirty="0"/>
              <a:t>]</a:t>
            </a:r>
            <a:r>
              <a:rPr lang="en-US" sz="2800" dirty="0"/>
              <a:t>;</a:t>
            </a:r>
          </a:p>
          <a:p>
            <a:r>
              <a:rPr lang="en-US" sz="2800" dirty="0"/>
              <a:t> </a:t>
            </a:r>
            <a:r>
              <a:rPr lang="en-US" sz="2800" b="1" dirty="0"/>
              <a:t>return</a:t>
            </a:r>
            <a:r>
              <a:rPr lang="en-US" sz="2800" dirty="0"/>
              <a:t> </a:t>
            </a:r>
            <a:r>
              <a:rPr lang="en-US" sz="2800" i="1" dirty="0"/>
              <a:t>result</a:t>
            </a:r>
            <a:r>
              <a:rPr lang="en-US" sz="2800" dirty="0"/>
              <a:t>;</a:t>
            </a:r>
          </a:p>
          <a:p>
            <a:r>
              <a:rPr lang="en-US" sz="2800" dirty="0"/>
              <a:t> } </a:t>
            </a:r>
          </a:p>
          <a:p>
            <a:endParaRPr lang="en-US" sz="2800" dirty="0"/>
          </a:p>
          <a:p>
            <a:pPr>
              <a:lnSpc>
                <a:spcPts val="3680"/>
              </a:lnSpc>
            </a:pPr>
            <a:endParaRPr lang="en-CA" sz="2800" dirty="0">
              <a:solidFill>
                <a:srgbClr val="000000"/>
              </a:solidFill>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487342"/>
            <a:ext cx="5892820" cy="654025"/>
          </a:xfrm>
          <a:prstGeom prst="rect">
            <a:avLst/>
          </a:prstGeom>
          <a:noFill/>
        </p:spPr>
        <p:txBody>
          <a:bodyPr vert="horz" wrap="square" lIns="0" tIns="0" rIns="0" bIns="0" rtlCol="0">
            <a:spAutoFit/>
          </a:bodyPr>
          <a:lstStyle/>
          <a:p>
            <a:pPr>
              <a:lnSpc>
                <a:spcPts val="5060"/>
              </a:lnSpc>
            </a:pPr>
            <a:r>
              <a:rPr lang="en-US" sz="4800" dirty="0"/>
              <a:t>Exchange Sort</a:t>
            </a:r>
            <a:endParaRPr lang="en-CA" sz="4412" b="1" dirty="0">
              <a:solidFill>
                <a:srgbClr val="000000"/>
              </a:solidFill>
              <a:latin typeface="Times New Roman Bold"/>
              <a:cs typeface="Times New Roman Bold"/>
            </a:endParaRPr>
          </a:p>
        </p:txBody>
      </p:sp>
      <p:sp>
        <p:nvSpPr>
          <p:cNvPr id="3" name="TextBox 3"/>
          <p:cNvSpPr txBox="1"/>
          <p:nvPr/>
        </p:nvSpPr>
        <p:spPr>
          <a:xfrm>
            <a:off x="116229" y="1438659"/>
            <a:ext cx="8443600" cy="6076022"/>
          </a:xfrm>
          <a:prstGeom prst="rect">
            <a:avLst/>
          </a:prstGeom>
          <a:noFill/>
        </p:spPr>
        <p:txBody>
          <a:bodyPr vert="horz" wrap="square" lIns="0" tIns="0" rIns="0" bIns="0" rtlCol="0">
            <a:spAutoFit/>
          </a:bodyPr>
          <a:lstStyle/>
          <a:p>
            <a:r>
              <a:rPr lang="en-CA" sz="2800" dirty="0">
                <a:solidFill>
                  <a:srgbClr val="CC0000"/>
                </a:solidFill>
                <a:latin typeface="Times New Roman"/>
                <a:cs typeface="Times New Roman"/>
              </a:rPr>
              <a:t>•</a:t>
            </a:r>
            <a:r>
              <a:rPr lang="en-US" sz="2800" dirty="0"/>
              <a:t> </a:t>
            </a:r>
            <a:r>
              <a:rPr lang="en-US" sz="2800" dirty="0" err="1"/>
              <a:t>Problem:Sort</a:t>
            </a:r>
            <a:r>
              <a:rPr lang="en-US" sz="2800" dirty="0"/>
              <a:t> </a:t>
            </a:r>
            <a:r>
              <a:rPr lang="en-US" sz="2800" i="1" dirty="0"/>
              <a:t>n</a:t>
            </a:r>
            <a:r>
              <a:rPr lang="en-US" sz="2800" dirty="0"/>
              <a:t> keys in </a:t>
            </a:r>
            <a:r>
              <a:rPr lang="en-US" sz="2800" dirty="0" err="1"/>
              <a:t>nondecreasing</a:t>
            </a:r>
            <a:r>
              <a:rPr lang="en-US" sz="2800" dirty="0"/>
              <a:t> order.</a:t>
            </a:r>
          </a:p>
          <a:p>
            <a:r>
              <a:rPr lang="en-US" sz="2800" dirty="0"/>
              <a:t>Inputs: positive integer </a:t>
            </a:r>
            <a:r>
              <a:rPr lang="en-US" sz="2800" i="1" dirty="0"/>
              <a:t>n</a:t>
            </a:r>
            <a:r>
              <a:rPr lang="en-US" sz="2800" dirty="0"/>
              <a:t>, array of keys </a:t>
            </a:r>
            <a:r>
              <a:rPr lang="en-US" sz="2800" i="1" dirty="0"/>
              <a:t>S</a:t>
            </a:r>
            <a:r>
              <a:rPr lang="en-US" sz="2800" dirty="0"/>
              <a:t> indexed from 1 to </a:t>
            </a:r>
            <a:r>
              <a:rPr lang="en-US" sz="2800" i="1" dirty="0"/>
              <a:t>n.</a:t>
            </a:r>
            <a:r>
              <a:rPr lang="en-US" sz="2800" dirty="0"/>
              <a:t>.</a:t>
            </a:r>
          </a:p>
          <a:p>
            <a:r>
              <a:rPr lang="en-US" sz="2800" dirty="0"/>
              <a:t>Outputs: the array </a:t>
            </a:r>
            <a:r>
              <a:rPr lang="en-US" sz="2800" i="1" dirty="0"/>
              <a:t>S</a:t>
            </a:r>
            <a:r>
              <a:rPr lang="en-US" sz="2800" dirty="0"/>
              <a:t> containing the keys in </a:t>
            </a:r>
          </a:p>
          <a:p>
            <a:r>
              <a:rPr lang="en-US" sz="2800" dirty="0" err="1"/>
              <a:t>nondecreasing</a:t>
            </a:r>
            <a:r>
              <a:rPr lang="en-US" sz="2800" dirty="0"/>
              <a:t> order.</a:t>
            </a:r>
          </a:p>
          <a:p>
            <a:r>
              <a:rPr lang="en-US" sz="2800" b="1" dirty="0"/>
              <a:t>void</a:t>
            </a:r>
            <a:r>
              <a:rPr lang="en-US" sz="2800" dirty="0"/>
              <a:t> </a:t>
            </a:r>
            <a:r>
              <a:rPr lang="en-US" sz="2800" i="1" dirty="0" err="1"/>
              <a:t>exchangesort</a:t>
            </a:r>
            <a:r>
              <a:rPr lang="en-US" sz="2800" dirty="0"/>
              <a:t> (</a:t>
            </a:r>
            <a:r>
              <a:rPr lang="en-US" sz="2800" b="1" dirty="0" err="1"/>
              <a:t>int</a:t>
            </a:r>
            <a:r>
              <a:rPr lang="en-US" sz="2800" dirty="0"/>
              <a:t> </a:t>
            </a:r>
            <a:r>
              <a:rPr lang="en-US" sz="2800" i="1" dirty="0"/>
              <a:t>n</a:t>
            </a:r>
            <a:r>
              <a:rPr lang="en-US" sz="2800" dirty="0"/>
              <a:t>, </a:t>
            </a:r>
            <a:r>
              <a:rPr lang="en-US" sz="2800" b="1" dirty="0" err="1"/>
              <a:t>keytype</a:t>
            </a:r>
            <a:r>
              <a:rPr lang="en-US" sz="2800" dirty="0"/>
              <a:t> </a:t>
            </a:r>
            <a:r>
              <a:rPr lang="en-US" sz="2800" i="1" dirty="0"/>
              <a:t>S</a:t>
            </a:r>
            <a:r>
              <a:rPr lang="en-US" sz="2800" dirty="0"/>
              <a:t>[]) </a:t>
            </a:r>
          </a:p>
          <a:p>
            <a:r>
              <a:rPr lang="en-US" sz="2800" dirty="0"/>
              <a:t>{ </a:t>
            </a:r>
            <a:r>
              <a:rPr lang="en-US" sz="2800" b="1" dirty="0"/>
              <a:t>index</a:t>
            </a:r>
            <a:r>
              <a:rPr lang="en-US" sz="2800" dirty="0"/>
              <a:t> </a:t>
            </a:r>
            <a:r>
              <a:rPr lang="en-US" sz="2800" i="1" dirty="0" err="1"/>
              <a:t>i</a:t>
            </a:r>
            <a:r>
              <a:rPr lang="en-US" sz="2800" i="1" dirty="0"/>
              <a:t>, j</a:t>
            </a:r>
            <a:r>
              <a:rPr lang="en-US" sz="2800" dirty="0"/>
              <a:t>;</a:t>
            </a:r>
          </a:p>
          <a:p>
            <a:r>
              <a:rPr lang="en-US" sz="2800" dirty="0"/>
              <a:t> </a:t>
            </a:r>
            <a:r>
              <a:rPr lang="en-US" sz="2800" b="1" dirty="0"/>
              <a:t>for</a:t>
            </a:r>
            <a:r>
              <a:rPr lang="en-US" sz="2800" dirty="0"/>
              <a:t> (</a:t>
            </a:r>
            <a:r>
              <a:rPr lang="en-US" sz="2800" i="1" dirty="0" err="1"/>
              <a:t>i</a:t>
            </a:r>
            <a:r>
              <a:rPr lang="en-US" sz="2800" dirty="0"/>
              <a:t>=1;</a:t>
            </a:r>
            <a:r>
              <a:rPr lang="en-US" sz="2800" i="1" dirty="0"/>
              <a:t>i</a:t>
            </a:r>
            <a:r>
              <a:rPr lang="en-US" sz="2800" dirty="0"/>
              <a:t>&lt;= n; </a:t>
            </a:r>
            <a:r>
              <a:rPr lang="en-US" sz="2800" i="1" dirty="0" err="1"/>
              <a:t>i</a:t>
            </a:r>
            <a:r>
              <a:rPr lang="en-US" sz="2800" dirty="0"/>
              <a:t>++) </a:t>
            </a:r>
          </a:p>
          <a:p>
            <a:r>
              <a:rPr lang="en-US" sz="2800" b="1" dirty="0"/>
              <a:t>for</a:t>
            </a:r>
            <a:r>
              <a:rPr lang="en-US" sz="2800" dirty="0"/>
              <a:t> (</a:t>
            </a:r>
            <a:r>
              <a:rPr lang="en-US" sz="2800" i="1" dirty="0"/>
              <a:t>j=</a:t>
            </a:r>
            <a:r>
              <a:rPr lang="en-US" sz="2800" i="1" dirty="0" err="1"/>
              <a:t>i</a:t>
            </a:r>
            <a:r>
              <a:rPr lang="en-US" sz="2800" dirty="0" err="1"/>
              <a:t>+l</a:t>
            </a:r>
            <a:r>
              <a:rPr lang="en-US" sz="2800" dirty="0"/>
              <a:t>; </a:t>
            </a:r>
            <a:r>
              <a:rPr lang="en-US" sz="2800" i="1" dirty="0"/>
              <a:t>j&lt;= n</a:t>
            </a:r>
            <a:r>
              <a:rPr lang="en-US" sz="2800" dirty="0"/>
              <a:t>; </a:t>
            </a:r>
            <a:r>
              <a:rPr lang="en-US" sz="2800" i="1" dirty="0"/>
              <a:t>j</a:t>
            </a:r>
            <a:r>
              <a:rPr lang="en-US" sz="2800" dirty="0"/>
              <a:t>++)</a:t>
            </a:r>
          </a:p>
          <a:p>
            <a:r>
              <a:rPr lang="en-US" sz="2800" dirty="0"/>
              <a:t>	 </a:t>
            </a:r>
            <a:r>
              <a:rPr lang="en-US" sz="2800" b="1" dirty="0"/>
              <a:t>if</a:t>
            </a:r>
            <a:r>
              <a:rPr lang="en-US" sz="2800" dirty="0"/>
              <a:t> (</a:t>
            </a:r>
            <a:r>
              <a:rPr lang="en-US" sz="2800" i="1" dirty="0"/>
              <a:t>S[j] &lt; S[</a:t>
            </a:r>
            <a:r>
              <a:rPr lang="en-US" sz="2800" i="1" dirty="0" err="1"/>
              <a:t>i</a:t>
            </a:r>
            <a:r>
              <a:rPr lang="en-US" sz="2800" i="1" dirty="0"/>
              <a:t>]</a:t>
            </a:r>
            <a:r>
              <a:rPr lang="en-US" sz="2800" dirty="0"/>
              <a:t>) </a:t>
            </a:r>
          </a:p>
          <a:p>
            <a:r>
              <a:rPr lang="en-US" sz="2800" dirty="0"/>
              <a:t>		exchange </a:t>
            </a:r>
            <a:r>
              <a:rPr lang="en-US" sz="2800" i="1" dirty="0"/>
              <a:t>S[</a:t>
            </a:r>
            <a:r>
              <a:rPr lang="en-US" sz="2800" i="1" dirty="0" err="1"/>
              <a:t>i</a:t>
            </a:r>
            <a:r>
              <a:rPr lang="en-US" sz="2800" i="1" dirty="0"/>
              <a:t>]</a:t>
            </a:r>
            <a:r>
              <a:rPr lang="en-US" sz="2800" dirty="0"/>
              <a:t> and </a:t>
            </a:r>
            <a:r>
              <a:rPr lang="en-US" sz="2800" i="1" dirty="0"/>
              <a:t>S[j]</a:t>
            </a:r>
            <a:r>
              <a:rPr lang="en-US" sz="2800" dirty="0"/>
              <a:t>; } </a:t>
            </a:r>
          </a:p>
          <a:p>
            <a:endParaRPr lang="en-US" sz="2800" dirty="0"/>
          </a:p>
          <a:p>
            <a:endParaRPr lang="en-US" sz="2800" dirty="0"/>
          </a:p>
          <a:p>
            <a:pPr>
              <a:lnSpc>
                <a:spcPts val="3680"/>
              </a:lnSpc>
            </a:pPr>
            <a:endParaRPr lang="en-CA" sz="2800" dirty="0">
              <a:solidFill>
                <a:srgbClr val="000000"/>
              </a:solidFill>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487342"/>
            <a:ext cx="5892820" cy="654025"/>
          </a:xfrm>
          <a:prstGeom prst="rect">
            <a:avLst/>
          </a:prstGeom>
          <a:noFill/>
        </p:spPr>
        <p:txBody>
          <a:bodyPr vert="horz" wrap="square" lIns="0" tIns="0" rIns="0" bIns="0" rtlCol="0">
            <a:spAutoFit/>
          </a:bodyPr>
          <a:lstStyle/>
          <a:p>
            <a:pPr>
              <a:lnSpc>
                <a:spcPts val="5060"/>
              </a:lnSpc>
            </a:pPr>
            <a:r>
              <a:rPr lang="en-US" sz="4800" dirty="0"/>
              <a:t>Matrix Multiplication</a:t>
            </a:r>
            <a:endParaRPr lang="en-CA" sz="4412" b="1" dirty="0">
              <a:solidFill>
                <a:srgbClr val="000000"/>
              </a:solidFill>
              <a:latin typeface="Times New Roman Bold"/>
              <a:cs typeface="Times New Roman Bold"/>
            </a:endParaRPr>
          </a:p>
        </p:txBody>
      </p:sp>
      <p:sp>
        <p:nvSpPr>
          <p:cNvPr id="3" name="TextBox 3"/>
          <p:cNvSpPr txBox="1"/>
          <p:nvPr/>
        </p:nvSpPr>
        <p:spPr>
          <a:xfrm>
            <a:off x="116228" y="1412244"/>
            <a:ext cx="8800789" cy="6076022"/>
          </a:xfrm>
          <a:prstGeom prst="rect">
            <a:avLst/>
          </a:prstGeom>
          <a:noFill/>
        </p:spPr>
        <p:txBody>
          <a:bodyPr vert="horz" wrap="square" lIns="0" tIns="0" rIns="0" bIns="0" rtlCol="0">
            <a:spAutoFit/>
          </a:bodyPr>
          <a:lstStyle/>
          <a:p>
            <a:r>
              <a:rPr lang="en-US" sz="2800" dirty="0"/>
              <a:t>Problem: Determine the product of two </a:t>
            </a:r>
            <a:r>
              <a:rPr lang="en-US" sz="2800" i="1" dirty="0"/>
              <a:t>n x n</a:t>
            </a:r>
            <a:r>
              <a:rPr lang="en-US" sz="2800" dirty="0"/>
              <a:t> matrices.</a:t>
            </a:r>
          </a:p>
          <a:p>
            <a:r>
              <a:rPr lang="en-US" sz="2800" dirty="0"/>
              <a:t>Outputs: the product of </a:t>
            </a:r>
            <a:r>
              <a:rPr lang="en-US" sz="2800" i="1" dirty="0"/>
              <a:t>A</a:t>
            </a:r>
            <a:r>
              <a:rPr lang="en-US" sz="2800" dirty="0"/>
              <a:t> and </a:t>
            </a:r>
            <a:r>
              <a:rPr lang="en-US" sz="2800" i="1" dirty="0"/>
              <a:t>B</a:t>
            </a:r>
            <a:r>
              <a:rPr lang="en-US" sz="2800" dirty="0"/>
              <a:t>.</a:t>
            </a:r>
          </a:p>
          <a:p>
            <a:r>
              <a:rPr lang="en-US" sz="2800" b="1" dirty="0"/>
              <a:t>void</a:t>
            </a:r>
            <a:r>
              <a:rPr lang="en-US" sz="2800" dirty="0"/>
              <a:t> </a:t>
            </a:r>
            <a:r>
              <a:rPr lang="en-US" sz="2800" i="1" dirty="0" err="1"/>
              <a:t>matrixmult</a:t>
            </a:r>
            <a:r>
              <a:rPr lang="en-US" sz="2800" dirty="0"/>
              <a:t> (</a:t>
            </a:r>
            <a:r>
              <a:rPr lang="en-US" sz="2800" dirty="0" err="1"/>
              <a:t>int</a:t>
            </a:r>
            <a:r>
              <a:rPr lang="en-US" sz="2800" dirty="0"/>
              <a:t> </a:t>
            </a:r>
            <a:r>
              <a:rPr lang="en-US" sz="2800" i="1" dirty="0"/>
              <a:t>n</a:t>
            </a:r>
            <a:r>
              <a:rPr lang="en-US" sz="2800" dirty="0"/>
              <a:t>, </a:t>
            </a:r>
            <a:r>
              <a:rPr lang="en-US" sz="2800" b="1" dirty="0"/>
              <a:t>const number</a:t>
            </a:r>
            <a:r>
              <a:rPr lang="en-US" sz="2800" dirty="0"/>
              <a:t> </a:t>
            </a:r>
            <a:r>
              <a:rPr lang="en-US" sz="2800" i="1" dirty="0"/>
              <a:t>A</a:t>
            </a:r>
            <a:r>
              <a:rPr lang="en-US" sz="2800" dirty="0"/>
              <a:t>[][], </a:t>
            </a:r>
            <a:r>
              <a:rPr lang="en-US" sz="2800" b="1" dirty="0"/>
              <a:t>const number</a:t>
            </a:r>
            <a:r>
              <a:rPr lang="en-US" sz="2800" dirty="0"/>
              <a:t> </a:t>
            </a:r>
            <a:r>
              <a:rPr lang="en-US" sz="2800" i="1" dirty="0"/>
              <a:t>B</a:t>
            </a:r>
            <a:r>
              <a:rPr lang="en-US" sz="2800" dirty="0"/>
              <a:t>[][], </a:t>
            </a:r>
            <a:r>
              <a:rPr lang="en-US" sz="2800" b="1" dirty="0"/>
              <a:t>number</a:t>
            </a:r>
            <a:r>
              <a:rPr lang="en-US" sz="2800" dirty="0"/>
              <a:t> </a:t>
            </a:r>
            <a:r>
              <a:rPr lang="en-US" sz="2800" i="1" dirty="0"/>
              <a:t>C</a:t>
            </a:r>
            <a:r>
              <a:rPr lang="en-US" sz="2800" dirty="0"/>
              <a:t>[][]) </a:t>
            </a:r>
          </a:p>
          <a:p>
            <a:r>
              <a:rPr lang="en-US" sz="2800" dirty="0"/>
              <a:t>{ </a:t>
            </a:r>
            <a:r>
              <a:rPr lang="en-US" sz="2800" b="1" dirty="0"/>
              <a:t>index</a:t>
            </a:r>
            <a:r>
              <a:rPr lang="en-US" sz="2800" dirty="0"/>
              <a:t> </a:t>
            </a:r>
            <a:r>
              <a:rPr lang="en-US" sz="2800" i="1" dirty="0" err="1"/>
              <a:t>i</a:t>
            </a:r>
            <a:r>
              <a:rPr lang="en-US" sz="2800" i="1" dirty="0"/>
              <a:t>, j, k</a:t>
            </a:r>
            <a:r>
              <a:rPr lang="en-US" sz="2800" dirty="0"/>
              <a:t>;</a:t>
            </a:r>
          </a:p>
          <a:p>
            <a:r>
              <a:rPr lang="en-US" sz="2800" dirty="0"/>
              <a:t> </a:t>
            </a:r>
            <a:r>
              <a:rPr lang="en-US" sz="2800" b="1" dirty="0"/>
              <a:t>for</a:t>
            </a:r>
            <a:r>
              <a:rPr lang="en-US" sz="2800" dirty="0"/>
              <a:t> (</a:t>
            </a:r>
            <a:r>
              <a:rPr lang="en-US" sz="2800" i="1" dirty="0" err="1"/>
              <a:t>i</a:t>
            </a:r>
            <a:r>
              <a:rPr lang="en-US" sz="2800" dirty="0"/>
              <a:t>=1; </a:t>
            </a:r>
            <a:r>
              <a:rPr lang="en-US" sz="2800" i="1" dirty="0"/>
              <a:t>j&lt;= n</a:t>
            </a:r>
            <a:r>
              <a:rPr lang="en-US" sz="2800" dirty="0"/>
              <a:t>; </a:t>
            </a:r>
            <a:r>
              <a:rPr lang="en-US" sz="2800" i="1" dirty="0"/>
              <a:t>j</a:t>
            </a:r>
            <a:r>
              <a:rPr lang="en-US" sz="2800" dirty="0"/>
              <a:t>++) </a:t>
            </a:r>
          </a:p>
          <a:p>
            <a:r>
              <a:rPr lang="en-US" sz="2800" b="1" dirty="0"/>
              <a:t>	for</a:t>
            </a:r>
            <a:r>
              <a:rPr lang="en-US" sz="2800" dirty="0"/>
              <a:t> (</a:t>
            </a:r>
            <a:r>
              <a:rPr lang="en-US" sz="2800" i="1" dirty="0"/>
              <a:t>j</a:t>
            </a:r>
            <a:r>
              <a:rPr lang="en-US" sz="2800" dirty="0"/>
              <a:t>=1; </a:t>
            </a:r>
            <a:r>
              <a:rPr lang="en-US" sz="2800" i="1" dirty="0"/>
              <a:t>j&lt;= n; j</a:t>
            </a:r>
            <a:r>
              <a:rPr lang="en-US" sz="2800" dirty="0"/>
              <a:t>++)</a:t>
            </a:r>
          </a:p>
          <a:p>
            <a:r>
              <a:rPr lang="en-US" sz="2800" dirty="0"/>
              <a:t>	  { </a:t>
            </a:r>
            <a:r>
              <a:rPr lang="en-US" sz="2800" i="1" dirty="0"/>
              <a:t>C[ </a:t>
            </a:r>
            <a:r>
              <a:rPr lang="en-US" sz="2800" i="1" dirty="0" err="1"/>
              <a:t>i</a:t>
            </a:r>
            <a:r>
              <a:rPr lang="en-US" sz="2800" i="1" dirty="0"/>
              <a:t> ] [ j ] = 0;</a:t>
            </a:r>
            <a:r>
              <a:rPr lang="en-US" sz="2800" dirty="0"/>
              <a:t> </a:t>
            </a:r>
          </a:p>
          <a:p>
            <a:r>
              <a:rPr lang="en-US" sz="2800" b="1" dirty="0"/>
              <a:t>	     for</a:t>
            </a:r>
            <a:r>
              <a:rPr lang="en-US" sz="2800" dirty="0"/>
              <a:t> (</a:t>
            </a:r>
            <a:r>
              <a:rPr lang="en-US" sz="2800" i="1" dirty="0"/>
              <a:t>k</a:t>
            </a:r>
            <a:r>
              <a:rPr lang="en-US" sz="2800" dirty="0"/>
              <a:t>=1; </a:t>
            </a:r>
            <a:r>
              <a:rPr lang="en-US" sz="2800" i="1" dirty="0"/>
              <a:t>k&lt;= n</a:t>
            </a:r>
            <a:r>
              <a:rPr lang="en-US" sz="2800" dirty="0"/>
              <a:t>; </a:t>
            </a:r>
            <a:r>
              <a:rPr lang="en-US" sz="2800" i="1" dirty="0"/>
              <a:t>k</a:t>
            </a:r>
            <a:r>
              <a:rPr lang="en-US" sz="2800" dirty="0"/>
              <a:t>++) </a:t>
            </a:r>
          </a:p>
          <a:p>
            <a:r>
              <a:rPr lang="en-US" sz="2800" i="1" dirty="0"/>
              <a:t>                    C[ </a:t>
            </a:r>
            <a:r>
              <a:rPr lang="en-US" sz="2800" i="1" dirty="0" err="1"/>
              <a:t>i</a:t>
            </a:r>
            <a:r>
              <a:rPr lang="en-US" sz="2800" i="1" dirty="0"/>
              <a:t> ] [ j ] = C[ </a:t>
            </a:r>
            <a:r>
              <a:rPr lang="en-US" sz="2800" i="1" dirty="0" err="1"/>
              <a:t>i</a:t>
            </a:r>
            <a:r>
              <a:rPr lang="en-US" sz="2800" i="1" dirty="0"/>
              <a:t> ] [ j ] + A [ </a:t>
            </a:r>
            <a:r>
              <a:rPr lang="en-US" sz="2800" i="1" dirty="0" err="1"/>
              <a:t>i</a:t>
            </a:r>
            <a:r>
              <a:rPr lang="en-US" sz="2800" i="1" dirty="0"/>
              <a:t> ] [ k ] * B [ k ] [ j ]</a:t>
            </a:r>
            <a:r>
              <a:rPr lang="en-US" sz="2800" dirty="0"/>
              <a:t>;</a:t>
            </a:r>
          </a:p>
          <a:p>
            <a:r>
              <a:rPr lang="en-US" sz="2800" dirty="0"/>
              <a:t>             } </a:t>
            </a:r>
          </a:p>
          <a:p>
            <a:r>
              <a:rPr lang="en-US" sz="2800" dirty="0"/>
              <a:t> }</a:t>
            </a:r>
          </a:p>
          <a:p>
            <a:endParaRPr lang="en-US" sz="2800" dirty="0"/>
          </a:p>
          <a:p>
            <a:pPr>
              <a:lnSpc>
                <a:spcPts val="3680"/>
              </a:lnSpc>
            </a:pPr>
            <a:endParaRPr lang="en-CA" sz="2800" dirty="0">
              <a:solidFill>
                <a:srgbClr val="000000"/>
              </a:solidFill>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2732" y="12724"/>
            <a:ext cx="9118600" cy="6832600"/>
          </a:xfrm>
          <a:prstGeom prst="rect">
            <a:avLst/>
          </a:prstGeom>
        </p:spPr>
      </p:pic>
      <p:sp>
        <p:nvSpPr>
          <p:cNvPr id="11" name="TextBox 2"/>
          <p:cNvSpPr txBox="1"/>
          <p:nvPr/>
        </p:nvSpPr>
        <p:spPr>
          <a:xfrm>
            <a:off x="1524000" y="487342"/>
            <a:ext cx="7178704" cy="654025"/>
          </a:xfrm>
          <a:prstGeom prst="rect">
            <a:avLst/>
          </a:prstGeom>
          <a:noFill/>
        </p:spPr>
        <p:txBody>
          <a:bodyPr vert="horz" wrap="square" lIns="0" tIns="0" rIns="0" bIns="0" rtlCol="0">
            <a:spAutoFit/>
          </a:bodyPr>
          <a:lstStyle/>
          <a:p>
            <a:pPr>
              <a:lnSpc>
                <a:spcPts val="5060"/>
              </a:lnSpc>
            </a:pPr>
            <a:r>
              <a:rPr lang="en-US" sz="3000" b="1" dirty="0"/>
              <a:t>Sequential Search Versus Binary Search</a:t>
            </a:r>
            <a:endParaRPr lang="en-CA" sz="3000" b="1" dirty="0">
              <a:solidFill>
                <a:srgbClr val="000000"/>
              </a:solidFill>
              <a:latin typeface="Times New Roman Bold"/>
              <a:cs typeface="Times New Roman Bold"/>
            </a:endParaRPr>
          </a:p>
        </p:txBody>
      </p:sp>
      <p:sp>
        <p:nvSpPr>
          <p:cNvPr id="3" name="TextBox 3"/>
          <p:cNvSpPr txBox="1"/>
          <p:nvPr/>
        </p:nvSpPr>
        <p:spPr>
          <a:xfrm>
            <a:off x="214314" y="1201722"/>
            <a:ext cx="9059894" cy="5770811"/>
          </a:xfrm>
          <a:prstGeom prst="rect">
            <a:avLst/>
          </a:prstGeom>
          <a:noFill/>
        </p:spPr>
        <p:txBody>
          <a:bodyPr vert="horz" wrap="square" lIns="0" tIns="0" rIns="0" bIns="0" rtlCol="0">
            <a:spAutoFit/>
          </a:bodyPr>
          <a:lstStyle/>
          <a:p>
            <a:r>
              <a:rPr lang="en-US" sz="2500" b="1" dirty="0"/>
              <a:t>void</a:t>
            </a:r>
            <a:r>
              <a:rPr lang="en-US" sz="2500" dirty="0"/>
              <a:t> </a:t>
            </a:r>
            <a:r>
              <a:rPr lang="en-US" sz="2500" i="1" dirty="0" err="1"/>
              <a:t>binsearch</a:t>
            </a:r>
            <a:r>
              <a:rPr lang="en-US" sz="2500" dirty="0"/>
              <a:t>(</a:t>
            </a:r>
            <a:r>
              <a:rPr lang="en-US" sz="2500" b="1" dirty="0" err="1"/>
              <a:t>int</a:t>
            </a:r>
            <a:r>
              <a:rPr lang="en-US" sz="2500" dirty="0"/>
              <a:t> </a:t>
            </a:r>
            <a:r>
              <a:rPr lang="en-US" sz="2500" i="1" dirty="0"/>
              <a:t>n</a:t>
            </a:r>
            <a:r>
              <a:rPr lang="en-US" sz="2500" dirty="0"/>
              <a:t>, </a:t>
            </a:r>
            <a:r>
              <a:rPr lang="en-US" sz="2500" b="1" dirty="0"/>
              <a:t>const </a:t>
            </a:r>
            <a:r>
              <a:rPr lang="en-US" sz="2500" b="1" dirty="0" err="1"/>
              <a:t>keytype</a:t>
            </a:r>
            <a:r>
              <a:rPr lang="en-US" sz="2500" dirty="0"/>
              <a:t> </a:t>
            </a:r>
            <a:r>
              <a:rPr lang="en-US" sz="2500" i="1" dirty="0"/>
              <a:t>S</a:t>
            </a:r>
            <a:r>
              <a:rPr lang="en-US" sz="2500" dirty="0"/>
              <a:t>[], </a:t>
            </a:r>
            <a:r>
              <a:rPr lang="en-US" sz="2500" b="1" dirty="0" err="1"/>
              <a:t>keytype</a:t>
            </a:r>
            <a:r>
              <a:rPr lang="en-US" sz="2500" dirty="0"/>
              <a:t> </a:t>
            </a:r>
            <a:r>
              <a:rPr lang="en-US" sz="2500" i="1" dirty="0"/>
              <a:t>x</a:t>
            </a:r>
            <a:r>
              <a:rPr lang="en-US" sz="2500" dirty="0"/>
              <a:t>, </a:t>
            </a:r>
            <a:r>
              <a:rPr lang="en-US" sz="2500" b="1" dirty="0"/>
              <a:t>index</a:t>
            </a:r>
            <a:r>
              <a:rPr lang="en-US" sz="2500" dirty="0"/>
              <a:t>&amp; </a:t>
            </a:r>
            <a:r>
              <a:rPr lang="en-US" sz="2500" i="1" dirty="0"/>
              <a:t>location</a:t>
            </a:r>
            <a:r>
              <a:rPr lang="en-US" sz="2500" dirty="0"/>
              <a:t>)</a:t>
            </a:r>
          </a:p>
          <a:p>
            <a:r>
              <a:rPr lang="en-US" sz="2500" dirty="0"/>
              <a:t> { </a:t>
            </a:r>
          </a:p>
          <a:p>
            <a:r>
              <a:rPr lang="en-US" sz="2500" b="1" dirty="0"/>
              <a:t>	index</a:t>
            </a:r>
            <a:r>
              <a:rPr lang="en-US" sz="2500" dirty="0"/>
              <a:t> </a:t>
            </a:r>
            <a:r>
              <a:rPr lang="en-US" sz="2500" i="1" dirty="0"/>
              <a:t>low, high, mid</a:t>
            </a:r>
            <a:r>
              <a:rPr lang="en-US" sz="2500" dirty="0"/>
              <a:t>;</a:t>
            </a:r>
          </a:p>
          <a:p>
            <a:r>
              <a:rPr lang="en-US" sz="2500" dirty="0"/>
              <a:t> 	</a:t>
            </a:r>
            <a:r>
              <a:rPr lang="en-US" sz="2500" i="1" dirty="0"/>
              <a:t>low</a:t>
            </a:r>
            <a:r>
              <a:rPr lang="en-US" sz="2500" dirty="0"/>
              <a:t> = 1; </a:t>
            </a:r>
            <a:r>
              <a:rPr lang="en-US" sz="2500" i="1" dirty="0"/>
              <a:t>high = n</a:t>
            </a:r>
            <a:r>
              <a:rPr lang="en-US" sz="2500" dirty="0"/>
              <a:t>; </a:t>
            </a:r>
            <a:r>
              <a:rPr lang="en-US" sz="2500" i="1" dirty="0"/>
              <a:t>location</a:t>
            </a:r>
            <a:r>
              <a:rPr lang="en-US" sz="2500" dirty="0"/>
              <a:t> = 0;</a:t>
            </a:r>
          </a:p>
          <a:p>
            <a:r>
              <a:rPr lang="en-US" sz="2500" dirty="0"/>
              <a:t> 	</a:t>
            </a:r>
            <a:r>
              <a:rPr lang="en-US" sz="2500" b="1" dirty="0"/>
              <a:t>while</a:t>
            </a:r>
            <a:r>
              <a:rPr lang="en-US" sz="2500" dirty="0"/>
              <a:t> (</a:t>
            </a:r>
            <a:r>
              <a:rPr lang="en-US" sz="2500" i="1" dirty="0"/>
              <a:t>low &lt; = high</a:t>
            </a:r>
            <a:r>
              <a:rPr lang="en-US" sz="2500" dirty="0"/>
              <a:t> &amp;&amp; </a:t>
            </a:r>
            <a:r>
              <a:rPr lang="en-US" sz="2500" i="1" dirty="0"/>
              <a:t>location</a:t>
            </a:r>
            <a:r>
              <a:rPr lang="en-US" sz="2500" dirty="0"/>
              <a:t> = = 0)</a:t>
            </a:r>
          </a:p>
          <a:p>
            <a:r>
              <a:rPr lang="en-US" sz="2500" dirty="0"/>
              <a:t>	{</a:t>
            </a:r>
          </a:p>
          <a:p>
            <a:r>
              <a:rPr lang="en-US" sz="2500" dirty="0"/>
              <a:t>	 </a:t>
            </a:r>
            <a:r>
              <a:rPr lang="en-US" sz="2500" i="1" dirty="0"/>
              <a:t>mid = ∟(low + high)</a:t>
            </a:r>
            <a:r>
              <a:rPr lang="en-US" sz="2500" dirty="0"/>
              <a:t>/2⌋; </a:t>
            </a:r>
          </a:p>
          <a:p>
            <a:r>
              <a:rPr lang="en-US" sz="2500" b="1" dirty="0"/>
              <a:t>	if</a:t>
            </a:r>
            <a:r>
              <a:rPr lang="en-US" sz="2500" dirty="0"/>
              <a:t> (</a:t>
            </a:r>
            <a:r>
              <a:rPr lang="en-US" sz="2500" i="1" dirty="0"/>
              <a:t>x = = S[mid])</a:t>
            </a:r>
            <a:r>
              <a:rPr lang="en-US" sz="2500" dirty="0"/>
              <a:t> </a:t>
            </a:r>
          </a:p>
          <a:p>
            <a:r>
              <a:rPr lang="en-US" sz="2500" i="1" dirty="0"/>
              <a:t>		location = mid</a:t>
            </a:r>
            <a:r>
              <a:rPr lang="en-US" sz="2500" dirty="0"/>
              <a:t>; </a:t>
            </a:r>
          </a:p>
          <a:p>
            <a:r>
              <a:rPr lang="en-US" sz="2500" b="1" dirty="0"/>
              <a:t>	else if</a:t>
            </a:r>
            <a:r>
              <a:rPr lang="en-US" sz="2500" dirty="0"/>
              <a:t> (</a:t>
            </a:r>
            <a:r>
              <a:rPr lang="en-US" sz="2500" i="1" dirty="0"/>
              <a:t>x &lt; S[ mid ])</a:t>
            </a:r>
            <a:r>
              <a:rPr lang="en-US" sz="2500" dirty="0"/>
              <a:t> </a:t>
            </a:r>
          </a:p>
          <a:p>
            <a:r>
              <a:rPr lang="en-US" sz="2500" i="1" dirty="0"/>
              <a:t>		high = mid</a:t>
            </a:r>
            <a:r>
              <a:rPr lang="en-US" sz="2500" dirty="0"/>
              <a:t> - 1;</a:t>
            </a:r>
          </a:p>
          <a:p>
            <a:r>
              <a:rPr lang="en-US" sz="2500" dirty="0"/>
              <a:t> 	</a:t>
            </a:r>
            <a:r>
              <a:rPr lang="en-US" sz="2500" b="1" dirty="0"/>
              <a:t>else</a:t>
            </a:r>
            <a:r>
              <a:rPr lang="en-US" sz="2500" dirty="0"/>
              <a:t> </a:t>
            </a:r>
          </a:p>
          <a:p>
            <a:r>
              <a:rPr lang="en-US" sz="2500" i="1" dirty="0"/>
              <a:t>	Low = mid</a:t>
            </a:r>
            <a:r>
              <a:rPr lang="en-US" sz="2500" dirty="0"/>
              <a:t> + 1; </a:t>
            </a:r>
          </a:p>
          <a:p>
            <a:r>
              <a:rPr lang="en-US" sz="2500" dirty="0"/>
              <a:t>} </a:t>
            </a:r>
          </a:p>
          <a:p>
            <a:r>
              <a:rPr lang="en-US" sz="2500" dirty="0"/>
              <a:t>}</a:t>
            </a:r>
            <a:endParaRPr lang="en-CA" sz="2500" dirty="0">
              <a:solidFill>
                <a:srgbClr val="000000"/>
              </a:solidFill>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2732" y="12724"/>
            <a:ext cx="9118600" cy="6832600"/>
          </a:xfrm>
          <a:prstGeom prst="rect">
            <a:avLst/>
          </a:prstGeom>
        </p:spPr>
      </p:pic>
      <p:sp>
        <p:nvSpPr>
          <p:cNvPr id="11" name="TextBox 2"/>
          <p:cNvSpPr txBox="1"/>
          <p:nvPr/>
        </p:nvSpPr>
        <p:spPr>
          <a:xfrm>
            <a:off x="1524000" y="487342"/>
            <a:ext cx="7178704" cy="654025"/>
          </a:xfrm>
          <a:prstGeom prst="rect">
            <a:avLst/>
          </a:prstGeom>
          <a:noFill/>
        </p:spPr>
        <p:txBody>
          <a:bodyPr vert="horz" wrap="square" lIns="0" tIns="0" rIns="0" bIns="0" rtlCol="0">
            <a:spAutoFit/>
          </a:bodyPr>
          <a:lstStyle/>
          <a:p>
            <a:pPr>
              <a:lnSpc>
                <a:spcPts val="5060"/>
              </a:lnSpc>
            </a:pPr>
            <a:r>
              <a:rPr lang="en-US" sz="3000" b="1" dirty="0"/>
              <a:t>Sequential Search Versus Binary Search</a:t>
            </a:r>
            <a:endParaRPr lang="en-CA" sz="3000" b="1" dirty="0">
              <a:solidFill>
                <a:srgbClr val="000000"/>
              </a:solidFill>
              <a:latin typeface="Times New Roman Bold"/>
              <a:cs typeface="Times New Roman Bold"/>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graphicFrame>
        <p:nvGraphicFramePr>
          <p:cNvPr id="12" name="Table 11"/>
          <p:cNvGraphicFramePr>
            <a:graphicFrameLocks noGrp="1"/>
          </p:cNvGraphicFramePr>
          <p:nvPr/>
        </p:nvGraphicFramePr>
        <p:xfrm>
          <a:off x="558772" y="1630382"/>
          <a:ext cx="7715304" cy="4114800"/>
        </p:xfrm>
        <a:graphic>
          <a:graphicData uri="http://schemas.openxmlformats.org/drawingml/2006/table">
            <a:tbl>
              <a:tblPr firstRow="1" bandRow="1">
                <a:tableStyleId>{5C22544A-7EE6-4342-B048-85BDC9FD1C3A}</a:tableStyleId>
              </a:tblPr>
              <a:tblGrid>
                <a:gridCol w="2571768">
                  <a:extLst>
                    <a:ext uri="{9D8B030D-6E8A-4147-A177-3AD203B41FA5}">
                      <a16:colId xmlns:a16="http://schemas.microsoft.com/office/drawing/2014/main" val="20000"/>
                    </a:ext>
                  </a:extLst>
                </a:gridCol>
                <a:gridCol w="2571768">
                  <a:extLst>
                    <a:ext uri="{9D8B030D-6E8A-4147-A177-3AD203B41FA5}">
                      <a16:colId xmlns:a16="http://schemas.microsoft.com/office/drawing/2014/main" val="20001"/>
                    </a:ext>
                  </a:extLst>
                </a:gridCol>
                <a:gridCol w="2571768">
                  <a:extLst>
                    <a:ext uri="{9D8B030D-6E8A-4147-A177-3AD203B41FA5}">
                      <a16:colId xmlns:a16="http://schemas.microsoft.com/office/drawing/2014/main" val="20002"/>
                    </a:ext>
                  </a:extLst>
                </a:gridCol>
              </a:tblGrid>
              <a:tr h="1008002">
                <a:tc>
                  <a:txBody>
                    <a:bodyPr/>
                    <a:lstStyle/>
                    <a:p>
                      <a:pPr algn="ctr"/>
                      <a:r>
                        <a:rPr lang="en-US" sz="3000" dirty="0"/>
                        <a:t>Array Size</a:t>
                      </a:r>
                    </a:p>
                  </a:txBody>
                  <a:tcPr anchor="b"/>
                </a:tc>
                <a:tc>
                  <a:txBody>
                    <a:bodyPr/>
                    <a:lstStyle/>
                    <a:p>
                      <a:pPr algn="ctr"/>
                      <a:r>
                        <a:rPr lang="en-US" sz="3000"/>
                        <a:t>Number of Comparisons by Sequential Search</a:t>
                      </a:r>
                    </a:p>
                  </a:txBody>
                  <a:tcPr anchor="b"/>
                </a:tc>
                <a:tc>
                  <a:txBody>
                    <a:bodyPr/>
                    <a:lstStyle/>
                    <a:p>
                      <a:pPr algn="ctr"/>
                      <a:r>
                        <a:rPr lang="en-US" sz="3000"/>
                        <a:t>Number of Comparisons by Binary Search</a:t>
                      </a:r>
                    </a:p>
                  </a:txBody>
                  <a:tcPr anchor="b"/>
                </a:tc>
                <a:extLst>
                  <a:ext uri="{0D108BD9-81ED-4DB2-BD59-A6C34878D82A}">
                    <a16:rowId xmlns:a16="http://schemas.microsoft.com/office/drawing/2014/main" val="10000"/>
                  </a:ext>
                </a:extLst>
              </a:tr>
              <a:tr h="408801">
                <a:tc>
                  <a:txBody>
                    <a:bodyPr/>
                    <a:lstStyle/>
                    <a:p>
                      <a:pPr algn="ctr"/>
                      <a:r>
                        <a:rPr lang="en-US" sz="3000"/>
                        <a:t>128</a:t>
                      </a:r>
                    </a:p>
                  </a:txBody>
                  <a:tcPr/>
                </a:tc>
                <a:tc>
                  <a:txBody>
                    <a:bodyPr/>
                    <a:lstStyle/>
                    <a:p>
                      <a:pPr algn="ctr"/>
                      <a:r>
                        <a:rPr lang="en-US" sz="3000"/>
                        <a:t>128</a:t>
                      </a:r>
                    </a:p>
                  </a:txBody>
                  <a:tcPr/>
                </a:tc>
                <a:tc>
                  <a:txBody>
                    <a:bodyPr/>
                    <a:lstStyle/>
                    <a:p>
                      <a:pPr algn="ctr"/>
                      <a:r>
                        <a:rPr lang="en-US" sz="3000"/>
                        <a:t>8</a:t>
                      </a:r>
                    </a:p>
                  </a:txBody>
                  <a:tcPr/>
                </a:tc>
                <a:extLst>
                  <a:ext uri="{0D108BD9-81ED-4DB2-BD59-A6C34878D82A}">
                    <a16:rowId xmlns:a16="http://schemas.microsoft.com/office/drawing/2014/main" val="10001"/>
                  </a:ext>
                </a:extLst>
              </a:tr>
              <a:tr h="408801">
                <a:tc>
                  <a:txBody>
                    <a:bodyPr/>
                    <a:lstStyle/>
                    <a:p>
                      <a:pPr algn="ctr"/>
                      <a:r>
                        <a:rPr lang="en-US" sz="3000"/>
                        <a:t>1,024</a:t>
                      </a:r>
                    </a:p>
                  </a:txBody>
                  <a:tcPr/>
                </a:tc>
                <a:tc>
                  <a:txBody>
                    <a:bodyPr/>
                    <a:lstStyle/>
                    <a:p>
                      <a:pPr algn="ctr"/>
                      <a:r>
                        <a:rPr lang="en-US" sz="3000"/>
                        <a:t>1,024</a:t>
                      </a:r>
                    </a:p>
                  </a:txBody>
                  <a:tcPr/>
                </a:tc>
                <a:tc>
                  <a:txBody>
                    <a:bodyPr/>
                    <a:lstStyle/>
                    <a:p>
                      <a:pPr algn="ctr"/>
                      <a:r>
                        <a:rPr lang="en-US" sz="3000"/>
                        <a:t>11</a:t>
                      </a:r>
                    </a:p>
                  </a:txBody>
                  <a:tcPr/>
                </a:tc>
                <a:extLst>
                  <a:ext uri="{0D108BD9-81ED-4DB2-BD59-A6C34878D82A}">
                    <a16:rowId xmlns:a16="http://schemas.microsoft.com/office/drawing/2014/main" val="10002"/>
                  </a:ext>
                </a:extLst>
              </a:tr>
              <a:tr h="408801">
                <a:tc>
                  <a:txBody>
                    <a:bodyPr/>
                    <a:lstStyle/>
                    <a:p>
                      <a:pPr algn="ctr"/>
                      <a:r>
                        <a:rPr lang="en-US" sz="3000"/>
                        <a:t>1,048,576</a:t>
                      </a:r>
                    </a:p>
                  </a:txBody>
                  <a:tcPr/>
                </a:tc>
                <a:tc>
                  <a:txBody>
                    <a:bodyPr/>
                    <a:lstStyle/>
                    <a:p>
                      <a:pPr algn="ctr"/>
                      <a:r>
                        <a:rPr lang="en-US" sz="3000"/>
                        <a:t>1,048,576</a:t>
                      </a:r>
                    </a:p>
                  </a:txBody>
                  <a:tcPr/>
                </a:tc>
                <a:tc>
                  <a:txBody>
                    <a:bodyPr/>
                    <a:lstStyle/>
                    <a:p>
                      <a:pPr algn="ctr"/>
                      <a:r>
                        <a:rPr lang="en-US" sz="3000" dirty="0"/>
                        <a:t>21</a:t>
                      </a:r>
                    </a:p>
                  </a:txBody>
                  <a:tcPr/>
                </a:tc>
                <a:extLst>
                  <a:ext uri="{0D108BD9-81ED-4DB2-BD59-A6C34878D82A}">
                    <a16:rowId xmlns:a16="http://schemas.microsoft.com/office/drawing/2014/main" val="10003"/>
                  </a:ext>
                </a:extLst>
              </a:tr>
              <a:tr h="408801">
                <a:tc>
                  <a:txBody>
                    <a:bodyPr/>
                    <a:lstStyle/>
                    <a:p>
                      <a:pPr algn="ctr"/>
                      <a:r>
                        <a:rPr lang="en-US" sz="2500" dirty="0"/>
                        <a:t>4, 294, 967, 296</a:t>
                      </a:r>
                    </a:p>
                  </a:txBody>
                  <a:tcPr/>
                </a:tc>
                <a:tc>
                  <a:txBody>
                    <a:bodyPr/>
                    <a:lstStyle/>
                    <a:p>
                      <a:pPr marL="0" algn="ctr" defTabSz="914400" rtl="0" eaLnBrk="1" latinLnBrk="0" hangingPunct="1"/>
                      <a:r>
                        <a:rPr lang="en-US" sz="2500" kern="1200" dirty="0">
                          <a:solidFill>
                            <a:schemeClr val="dk1"/>
                          </a:solidFill>
                          <a:latin typeface="+mn-lt"/>
                          <a:ea typeface="+mn-ea"/>
                          <a:cs typeface="+mn-cs"/>
                        </a:rPr>
                        <a:t>4, 294, 967, 296</a:t>
                      </a:r>
                    </a:p>
                  </a:txBody>
                  <a:tcPr/>
                </a:tc>
                <a:tc>
                  <a:txBody>
                    <a:bodyPr/>
                    <a:lstStyle/>
                    <a:p>
                      <a:pPr algn="ctr"/>
                      <a:r>
                        <a:rPr lang="en-US" sz="3000" dirty="0"/>
                        <a:t>33</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2732" y="12724"/>
            <a:ext cx="9118600" cy="6832600"/>
          </a:xfrm>
          <a:prstGeom prst="rect">
            <a:avLst/>
          </a:prstGeom>
        </p:spPr>
      </p:pic>
      <p:sp>
        <p:nvSpPr>
          <p:cNvPr id="11" name="TextBox 2"/>
          <p:cNvSpPr txBox="1"/>
          <p:nvPr/>
        </p:nvSpPr>
        <p:spPr>
          <a:xfrm>
            <a:off x="1524000" y="487342"/>
            <a:ext cx="7178704" cy="595676"/>
          </a:xfrm>
          <a:prstGeom prst="rect">
            <a:avLst/>
          </a:prstGeom>
          <a:noFill/>
        </p:spPr>
        <p:txBody>
          <a:bodyPr vert="horz" wrap="square" lIns="0" tIns="0" rIns="0" bIns="0" rtlCol="0">
            <a:spAutoFit/>
          </a:bodyPr>
          <a:lstStyle/>
          <a:p>
            <a:pPr>
              <a:lnSpc>
                <a:spcPts val="5060"/>
              </a:lnSpc>
            </a:pPr>
            <a:r>
              <a:rPr lang="en-US" sz="3200" b="1" dirty="0"/>
              <a:t>The Fibonacci Sequence</a:t>
            </a:r>
            <a:endParaRPr lang="en-CA" sz="3000" b="1" dirty="0">
              <a:solidFill>
                <a:srgbClr val="000000"/>
              </a:solidFill>
              <a:latin typeface="Times New Roman Bold"/>
              <a:cs typeface="Times New Roman Bold"/>
            </a:endParaRPr>
          </a:p>
        </p:txBody>
      </p:sp>
      <p:sp>
        <p:nvSpPr>
          <p:cNvPr id="3" name="TextBox 3"/>
          <p:cNvSpPr txBox="1"/>
          <p:nvPr/>
        </p:nvSpPr>
        <p:spPr>
          <a:xfrm>
            <a:off x="214314" y="1352642"/>
            <a:ext cx="9059894" cy="5278368"/>
          </a:xfrm>
          <a:prstGeom prst="rect">
            <a:avLst/>
          </a:prstGeom>
          <a:noFill/>
        </p:spPr>
        <p:txBody>
          <a:bodyPr vert="horz" wrap="square" lIns="0" tIns="0" rIns="0" bIns="0" rtlCol="0">
            <a:spAutoFit/>
          </a:bodyPr>
          <a:lstStyle/>
          <a:p>
            <a:r>
              <a:rPr lang="en-CA" sz="2500" dirty="0">
                <a:solidFill>
                  <a:srgbClr val="000000"/>
                </a:solidFill>
              </a:rPr>
              <a:t>F0=0</a:t>
            </a:r>
          </a:p>
          <a:p>
            <a:r>
              <a:rPr lang="en-CA" sz="2500" dirty="0">
                <a:solidFill>
                  <a:srgbClr val="000000"/>
                </a:solidFill>
              </a:rPr>
              <a:t>F1=1</a:t>
            </a:r>
          </a:p>
          <a:p>
            <a:r>
              <a:rPr lang="en-CA" sz="2500" dirty="0">
                <a:solidFill>
                  <a:srgbClr val="000000"/>
                </a:solidFill>
              </a:rPr>
              <a:t>Fn=Fn-1+Fn-2 where  n&gt;1</a:t>
            </a:r>
          </a:p>
          <a:p>
            <a:endParaRPr lang="en-CA" sz="2500" dirty="0">
              <a:solidFill>
                <a:srgbClr val="000000"/>
              </a:solidFill>
            </a:endParaRPr>
          </a:p>
          <a:p>
            <a:r>
              <a:rPr lang="en-CA" sz="2500" dirty="0">
                <a:solidFill>
                  <a:srgbClr val="000000"/>
                </a:solidFill>
              </a:rPr>
              <a:t>F2= F1+F0</a:t>
            </a:r>
          </a:p>
          <a:p>
            <a:r>
              <a:rPr lang="en-CA" sz="2500" dirty="0">
                <a:solidFill>
                  <a:srgbClr val="000000"/>
                </a:solidFill>
              </a:rPr>
              <a:t>F3</a:t>
            </a:r>
            <a:r>
              <a:rPr lang="en-CA" sz="2500">
                <a:solidFill>
                  <a:srgbClr val="000000"/>
                </a:solidFill>
              </a:rPr>
              <a:t>= F2+F1</a:t>
            </a:r>
            <a:endParaRPr lang="en-CA" sz="2500" dirty="0">
              <a:solidFill>
                <a:srgbClr val="000000"/>
              </a:solidFill>
            </a:endParaRPr>
          </a:p>
          <a:p>
            <a:r>
              <a:rPr lang="en-US" sz="2800" b="1" dirty="0" err="1"/>
              <a:t>int</a:t>
            </a:r>
            <a:r>
              <a:rPr lang="en-US" sz="2800" dirty="0"/>
              <a:t> </a:t>
            </a:r>
            <a:r>
              <a:rPr lang="en-US" sz="2800" i="1" dirty="0"/>
              <a:t>fib</a:t>
            </a:r>
            <a:r>
              <a:rPr lang="en-US" sz="2800" dirty="0"/>
              <a:t> (</a:t>
            </a:r>
            <a:r>
              <a:rPr lang="en-US" sz="2800" b="1" dirty="0" err="1"/>
              <a:t>int</a:t>
            </a:r>
            <a:r>
              <a:rPr lang="en-US" sz="2800" dirty="0"/>
              <a:t> </a:t>
            </a:r>
            <a:r>
              <a:rPr lang="en-US" sz="2800" i="1" dirty="0"/>
              <a:t>n</a:t>
            </a:r>
            <a:r>
              <a:rPr lang="en-US" sz="2800" dirty="0"/>
              <a:t>)</a:t>
            </a:r>
          </a:p>
          <a:p>
            <a:r>
              <a:rPr lang="en-US" sz="2800" dirty="0"/>
              <a:t> { </a:t>
            </a:r>
          </a:p>
          <a:p>
            <a:r>
              <a:rPr lang="en-US" sz="2800" b="1" dirty="0"/>
              <a:t>	if</a:t>
            </a:r>
            <a:r>
              <a:rPr lang="en-US" sz="2800" dirty="0"/>
              <a:t> (</a:t>
            </a:r>
            <a:r>
              <a:rPr lang="en-US" sz="2800" i="1" dirty="0"/>
              <a:t>n</a:t>
            </a:r>
            <a:r>
              <a:rPr lang="en-US" sz="2800" dirty="0"/>
              <a:t> &lt;= 1) </a:t>
            </a:r>
          </a:p>
          <a:p>
            <a:r>
              <a:rPr lang="en-US" sz="2800" b="1" dirty="0"/>
              <a:t>		return</a:t>
            </a:r>
            <a:r>
              <a:rPr lang="en-US" sz="2800" dirty="0"/>
              <a:t> </a:t>
            </a:r>
            <a:r>
              <a:rPr lang="en-US" sz="2800" i="1" dirty="0"/>
              <a:t>n</a:t>
            </a:r>
            <a:r>
              <a:rPr lang="en-US" sz="2800" dirty="0"/>
              <a:t>; </a:t>
            </a:r>
          </a:p>
          <a:p>
            <a:r>
              <a:rPr lang="en-US" sz="2800" dirty="0"/>
              <a:t>	else</a:t>
            </a:r>
          </a:p>
          <a:p>
            <a:r>
              <a:rPr lang="en-US" sz="2800" dirty="0"/>
              <a:t>		 </a:t>
            </a:r>
            <a:r>
              <a:rPr lang="en-US" sz="2800" b="1" dirty="0"/>
              <a:t>return</a:t>
            </a:r>
            <a:r>
              <a:rPr lang="en-US" sz="2800" dirty="0"/>
              <a:t> </a:t>
            </a:r>
            <a:r>
              <a:rPr lang="en-US" sz="2800" i="1" dirty="0"/>
              <a:t>fib</a:t>
            </a:r>
            <a:r>
              <a:rPr lang="en-US" sz="2800" dirty="0"/>
              <a:t> (</a:t>
            </a:r>
            <a:r>
              <a:rPr lang="en-US" sz="2800" i="1" dirty="0"/>
              <a:t>n</a:t>
            </a:r>
            <a:r>
              <a:rPr lang="en-US" sz="2800" dirty="0"/>
              <a:t> - 1) + </a:t>
            </a:r>
            <a:r>
              <a:rPr lang="en-US" sz="2800" i="1" dirty="0"/>
              <a:t>fib</a:t>
            </a:r>
            <a:r>
              <a:rPr lang="en-US" sz="2800" dirty="0"/>
              <a:t> (</a:t>
            </a:r>
            <a:r>
              <a:rPr lang="en-US" sz="2800" i="1" dirty="0"/>
              <a:t>n</a:t>
            </a:r>
            <a:r>
              <a:rPr lang="en-US" sz="2800" dirty="0"/>
              <a:t>-2);</a:t>
            </a:r>
            <a:endParaRPr lang="en-CA" sz="2500" dirty="0">
              <a:solidFill>
                <a:srgbClr val="000000"/>
              </a:solidFill>
            </a:endParaRPr>
          </a:p>
          <a:p>
            <a:r>
              <a:rPr lang="en-CA" sz="2500" dirty="0">
                <a:solidFill>
                  <a:srgbClr val="000000"/>
                </a:solidFill>
              </a:rPr>
              <a:t>}</a:t>
            </a: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487342"/>
            <a:ext cx="7178704" cy="595676"/>
          </a:xfrm>
          <a:prstGeom prst="rect">
            <a:avLst/>
          </a:prstGeom>
          <a:noFill/>
        </p:spPr>
        <p:txBody>
          <a:bodyPr vert="horz" wrap="square" lIns="0" tIns="0" rIns="0" bIns="0" rtlCol="0">
            <a:spAutoFit/>
          </a:bodyPr>
          <a:lstStyle/>
          <a:p>
            <a:pPr>
              <a:lnSpc>
                <a:spcPts val="5060"/>
              </a:lnSpc>
            </a:pPr>
            <a:r>
              <a:rPr lang="en-US" sz="2800" b="1" dirty="0"/>
              <a:t>The Fibonacci Sequence</a:t>
            </a:r>
            <a:endParaRPr lang="en-CA" sz="2800" b="1" dirty="0">
              <a:solidFill>
                <a:srgbClr val="000000"/>
              </a:solidFill>
              <a:latin typeface="Times New Roman Bold"/>
              <a:cs typeface="Times New Roman Bold"/>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graphicFrame>
        <p:nvGraphicFramePr>
          <p:cNvPr id="13" name="Table 12"/>
          <p:cNvGraphicFramePr>
            <a:graphicFrameLocks noGrp="1"/>
          </p:cNvGraphicFramePr>
          <p:nvPr/>
        </p:nvGraphicFramePr>
        <p:xfrm>
          <a:off x="1519766" y="1389944"/>
          <a:ext cx="6079068" cy="4846320"/>
        </p:xfrm>
        <a:graphic>
          <a:graphicData uri="http://schemas.openxmlformats.org/drawingml/2006/table">
            <a:tbl>
              <a:tblPr firstRow="1" bandRow="1">
                <a:tableStyleId>{5C22544A-7EE6-4342-B048-85BDC9FD1C3A}</a:tableStyleId>
              </a:tblPr>
              <a:tblGrid>
                <a:gridCol w="3039534">
                  <a:extLst>
                    <a:ext uri="{9D8B030D-6E8A-4147-A177-3AD203B41FA5}">
                      <a16:colId xmlns:a16="http://schemas.microsoft.com/office/drawing/2014/main" val="20000"/>
                    </a:ext>
                  </a:extLst>
                </a:gridCol>
                <a:gridCol w="3039534">
                  <a:extLst>
                    <a:ext uri="{9D8B030D-6E8A-4147-A177-3AD203B41FA5}">
                      <a16:colId xmlns:a16="http://schemas.microsoft.com/office/drawing/2014/main" val="20001"/>
                    </a:ext>
                  </a:extLst>
                </a:gridCol>
              </a:tblGrid>
              <a:tr h="370840">
                <a:tc>
                  <a:txBody>
                    <a:bodyPr/>
                    <a:lstStyle/>
                    <a:p>
                      <a:pPr algn="ctr"/>
                      <a:r>
                        <a:rPr lang="en-US" sz="3000" i="1" dirty="0"/>
                        <a:t>n</a:t>
                      </a:r>
                      <a:r>
                        <a:rPr lang="en-US" sz="3000" dirty="0"/>
                        <a:t> </a:t>
                      </a:r>
                    </a:p>
                  </a:txBody>
                  <a:tcPr/>
                </a:tc>
                <a:tc>
                  <a:txBody>
                    <a:bodyPr/>
                    <a:lstStyle/>
                    <a:p>
                      <a:pPr algn="ctr"/>
                      <a:r>
                        <a:rPr lang="en-US" sz="3000"/>
                        <a:t>Number of Terms Computed</a:t>
                      </a:r>
                    </a:p>
                  </a:txBody>
                  <a:tcPr/>
                </a:tc>
                <a:extLst>
                  <a:ext uri="{0D108BD9-81ED-4DB2-BD59-A6C34878D82A}">
                    <a16:rowId xmlns:a16="http://schemas.microsoft.com/office/drawing/2014/main" val="10000"/>
                  </a:ext>
                </a:extLst>
              </a:tr>
              <a:tr h="370840">
                <a:tc>
                  <a:txBody>
                    <a:bodyPr/>
                    <a:lstStyle/>
                    <a:p>
                      <a:pPr algn="ctr"/>
                      <a:r>
                        <a:rPr lang="en-US" sz="3000"/>
                        <a:t>0</a:t>
                      </a:r>
                    </a:p>
                  </a:txBody>
                  <a:tcPr/>
                </a:tc>
                <a:tc>
                  <a:txBody>
                    <a:bodyPr/>
                    <a:lstStyle/>
                    <a:p>
                      <a:pPr algn="ctr"/>
                      <a:r>
                        <a:rPr lang="en-US" sz="3000"/>
                        <a:t>1</a:t>
                      </a:r>
                    </a:p>
                  </a:txBody>
                  <a:tcPr/>
                </a:tc>
                <a:extLst>
                  <a:ext uri="{0D108BD9-81ED-4DB2-BD59-A6C34878D82A}">
                    <a16:rowId xmlns:a16="http://schemas.microsoft.com/office/drawing/2014/main" val="10001"/>
                  </a:ext>
                </a:extLst>
              </a:tr>
              <a:tr h="370840">
                <a:tc>
                  <a:txBody>
                    <a:bodyPr/>
                    <a:lstStyle/>
                    <a:p>
                      <a:pPr algn="ctr"/>
                      <a:r>
                        <a:rPr lang="en-US" sz="3000"/>
                        <a:t>1</a:t>
                      </a:r>
                    </a:p>
                  </a:txBody>
                  <a:tcPr/>
                </a:tc>
                <a:tc>
                  <a:txBody>
                    <a:bodyPr/>
                    <a:lstStyle/>
                    <a:p>
                      <a:pPr algn="ctr"/>
                      <a:r>
                        <a:rPr lang="en-US" sz="3000"/>
                        <a:t>1</a:t>
                      </a:r>
                    </a:p>
                  </a:txBody>
                  <a:tcPr/>
                </a:tc>
                <a:extLst>
                  <a:ext uri="{0D108BD9-81ED-4DB2-BD59-A6C34878D82A}">
                    <a16:rowId xmlns:a16="http://schemas.microsoft.com/office/drawing/2014/main" val="10002"/>
                  </a:ext>
                </a:extLst>
              </a:tr>
              <a:tr h="370840">
                <a:tc>
                  <a:txBody>
                    <a:bodyPr/>
                    <a:lstStyle/>
                    <a:p>
                      <a:pPr algn="ctr"/>
                      <a:r>
                        <a:rPr lang="en-US" sz="3000"/>
                        <a:t>2</a:t>
                      </a:r>
                    </a:p>
                  </a:txBody>
                  <a:tcPr/>
                </a:tc>
                <a:tc>
                  <a:txBody>
                    <a:bodyPr/>
                    <a:lstStyle/>
                    <a:p>
                      <a:pPr algn="ctr"/>
                      <a:r>
                        <a:rPr lang="en-US" sz="3000"/>
                        <a:t>3</a:t>
                      </a:r>
                    </a:p>
                  </a:txBody>
                  <a:tcPr/>
                </a:tc>
                <a:extLst>
                  <a:ext uri="{0D108BD9-81ED-4DB2-BD59-A6C34878D82A}">
                    <a16:rowId xmlns:a16="http://schemas.microsoft.com/office/drawing/2014/main" val="10003"/>
                  </a:ext>
                </a:extLst>
              </a:tr>
              <a:tr h="370840">
                <a:tc>
                  <a:txBody>
                    <a:bodyPr/>
                    <a:lstStyle/>
                    <a:p>
                      <a:pPr algn="ctr"/>
                      <a:r>
                        <a:rPr lang="en-US" sz="3000"/>
                        <a:t>3</a:t>
                      </a:r>
                    </a:p>
                  </a:txBody>
                  <a:tcPr/>
                </a:tc>
                <a:tc>
                  <a:txBody>
                    <a:bodyPr/>
                    <a:lstStyle/>
                    <a:p>
                      <a:pPr algn="ctr"/>
                      <a:r>
                        <a:rPr lang="en-US" sz="3000"/>
                        <a:t>5</a:t>
                      </a:r>
                    </a:p>
                  </a:txBody>
                  <a:tcPr/>
                </a:tc>
                <a:extLst>
                  <a:ext uri="{0D108BD9-81ED-4DB2-BD59-A6C34878D82A}">
                    <a16:rowId xmlns:a16="http://schemas.microsoft.com/office/drawing/2014/main" val="10004"/>
                  </a:ext>
                </a:extLst>
              </a:tr>
              <a:tr h="370840">
                <a:tc>
                  <a:txBody>
                    <a:bodyPr/>
                    <a:lstStyle/>
                    <a:p>
                      <a:pPr algn="ctr"/>
                      <a:r>
                        <a:rPr lang="en-US" sz="3000"/>
                        <a:t>4</a:t>
                      </a:r>
                    </a:p>
                  </a:txBody>
                  <a:tcPr/>
                </a:tc>
                <a:tc>
                  <a:txBody>
                    <a:bodyPr/>
                    <a:lstStyle/>
                    <a:p>
                      <a:pPr algn="ctr"/>
                      <a:r>
                        <a:rPr lang="en-US" sz="3000"/>
                        <a:t>9</a:t>
                      </a:r>
                    </a:p>
                  </a:txBody>
                  <a:tcPr/>
                </a:tc>
                <a:extLst>
                  <a:ext uri="{0D108BD9-81ED-4DB2-BD59-A6C34878D82A}">
                    <a16:rowId xmlns:a16="http://schemas.microsoft.com/office/drawing/2014/main" val="10005"/>
                  </a:ext>
                </a:extLst>
              </a:tr>
              <a:tr h="370840">
                <a:tc>
                  <a:txBody>
                    <a:bodyPr/>
                    <a:lstStyle/>
                    <a:p>
                      <a:pPr algn="ctr"/>
                      <a:r>
                        <a:rPr lang="en-US" sz="3000"/>
                        <a:t>5</a:t>
                      </a:r>
                    </a:p>
                  </a:txBody>
                  <a:tcPr/>
                </a:tc>
                <a:tc>
                  <a:txBody>
                    <a:bodyPr/>
                    <a:lstStyle/>
                    <a:p>
                      <a:pPr algn="ctr"/>
                      <a:r>
                        <a:rPr lang="en-US" sz="3000"/>
                        <a:t>15</a:t>
                      </a:r>
                    </a:p>
                  </a:txBody>
                  <a:tcPr/>
                </a:tc>
                <a:extLst>
                  <a:ext uri="{0D108BD9-81ED-4DB2-BD59-A6C34878D82A}">
                    <a16:rowId xmlns:a16="http://schemas.microsoft.com/office/drawing/2014/main" val="10006"/>
                  </a:ext>
                </a:extLst>
              </a:tr>
              <a:tr h="370840">
                <a:tc>
                  <a:txBody>
                    <a:bodyPr/>
                    <a:lstStyle/>
                    <a:p>
                      <a:pPr algn="ctr"/>
                      <a:r>
                        <a:rPr lang="en-US" sz="3000"/>
                        <a:t>6</a:t>
                      </a:r>
                    </a:p>
                  </a:txBody>
                  <a:tcPr/>
                </a:tc>
                <a:tc>
                  <a:txBody>
                    <a:bodyPr/>
                    <a:lstStyle/>
                    <a:p>
                      <a:pPr algn="ctr"/>
                      <a:r>
                        <a:rPr lang="en-US" sz="3000" dirty="0"/>
                        <a:t>25</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2732" y="12724"/>
            <a:ext cx="9118600" cy="6832600"/>
          </a:xfrm>
          <a:prstGeom prst="rect">
            <a:avLst/>
          </a:prstGeom>
        </p:spPr>
      </p:pic>
      <p:sp>
        <p:nvSpPr>
          <p:cNvPr id="11" name="TextBox 2"/>
          <p:cNvSpPr txBox="1"/>
          <p:nvPr/>
        </p:nvSpPr>
        <p:spPr>
          <a:xfrm>
            <a:off x="1524000" y="487342"/>
            <a:ext cx="7178704" cy="595676"/>
          </a:xfrm>
          <a:prstGeom prst="rect">
            <a:avLst/>
          </a:prstGeom>
          <a:noFill/>
        </p:spPr>
        <p:txBody>
          <a:bodyPr vert="horz" wrap="square" lIns="0" tIns="0" rIns="0" bIns="0" rtlCol="0">
            <a:spAutoFit/>
          </a:bodyPr>
          <a:lstStyle/>
          <a:p>
            <a:pPr>
              <a:lnSpc>
                <a:spcPts val="5060"/>
              </a:lnSpc>
            </a:pPr>
            <a:r>
              <a:rPr lang="en-US" sz="3200" b="1" dirty="0"/>
              <a:t>The Fibonacci Sequence</a:t>
            </a:r>
            <a:endParaRPr lang="en-CA" sz="3000" b="1" dirty="0">
              <a:solidFill>
                <a:srgbClr val="000000"/>
              </a:solidFill>
              <a:latin typeface="Times New Roman Bold"/>
              <a:cs typeface="Times New Roman Bold"/>
            </a:endParaRPr>
          </a:p>
        </p:txBody>
      </p:sp>
      <p:sp>
        <p:nvSpPr>
          <p:cNvPr id="3" name="TextBox 3"/>
          <p:cNvSpPr txBox="1"/>
          <p:nvPr/>
        </p:nvSpPr>
        <p:spPr>
          <a:xfrm>
            <a:off x="214314" y="1352642"/>
            <a:ext cx="9059894" cy="5001369"/>
          </a:xfrm>
          <a:prstGeom prst="rect">
            <a:avLst/>
          </a:prstGeom>
          <a:noFill/>
        </p:spPr>
        <p:txBody>
          <a:bodyPr vert="horz" wrap="square" lIns="0" tIns="0" rIns="0" bIns="0" rtlCol="0">
            <a:spAutoFit/>
          </a:bodyPr>
          <a:lstStyle/>
          <a:p>
            <a:r>
              <a:rPr lang="en-CA" sz="2500" dirty="0">
                <a:solidFill>
                  <a:srgbClr val="000000"/>
                </a:solidFill>
              </a:rPr>
              <a:t>Show  recursion Tree from the e book</a:t>
            </a:r>
          </a:p>
          <a:p>
            <a:endParaRPr lang="en-CA" sz="2500" dirty="0">
              <a:solidFill>
                <a:srgbClr val="000000"/>
              </a:solidFill>
            </a:endParaRPr>
          </a:p>
          <a:p>
            <a:r>
              <a:rPr lang="en-CA" sz="2500" dirty="0">
                <a:solidFill>
                  <a:srgbClr val="000000"/>
                </a:solidFill>
              </a:rPr>
              <a:t>Not like binary search tree</a:t>
            </a:r>
          </a:p>
          <a:p>
            <a:r>
              <a:rPr lang="en-CA" sz="2500" dirty="0">
                <a:solidFill>
                  <a:srgbClr val="000000"/>
                </a:solidFill>
              </a:rPr>
              <a:t>We can not determine the number of nodes in it</a:t>
            </a:r>
          </a:p>
          <a:p>
            <a:r>
              <a:rPr lang="en-CA" sz="2500" dirty="0">
                <a:solidFill>
                  <a:srgbClr val="000000"/>
                </a:solidFill>
              </a:rPr>
              <a:t> but from previous  table</a:t>
            </a:r>
          </a:p>
          <a:p>
            <a:r>
              <a:rPr lang="en-CA" sz="2500" dirty="0">
                <a:solidFill>
                  <a:srgbClr val="000000"/>
                </a:solidFill>
              </a:rPr>
              <a:t>T(n)&gt;2 * T(n-2) </a:t>
            </a:r>
          </a:p>
          <a:p>
            <a:r>
              <a:rPr lang="en-CA" sz="2500" dirty="0">
                <a:solidFill>
                  <a:srgbClr val="000000"/>
                </a:solidFill>
              </a:rPr>
              <a:t>        &gt;2*2*T(n-4)</a:t>
            </a:r>
          </a:p>
          <a:p>
            <a:r>
              <a:rPr lang="en-CA" sz="2500" dirty="0">
                <a:solidFill>
                  <a:srgbClr val="000000"/>
                </a:solidFill>
              </a:rPr>
              <a:t>        &gt;2*2*2*T(n-8)</a:t>
            </a:r>
          </a:p>
          <a:p>
            <a:r>
              <a:rPr lang="en-CA" sz="2500" dirty="0">
                <a:solidFill>
                  <a:srgbClr val="000000"/>
                </a:solidFill>
              </a:rPr>
              <a:t>     .</a:t>
            </a:r>
          </a:p>
          <a:p>
            <a:r>
              <a:rPr lang="en-CA" sz="2500" dirty="0">
                <a:solidFill>
                  <a:srgbClr val="000000"/>
                </a:solidFill>
              </a:rPr>
              <a:t>     .</a:t>
            </a:r>
          </a:p>
          <a:p>
            <a:r>
              <a:rPr lang="en-CA" sz="2500" dirty="0">
                <a:solidFill>
                  <a:srgbClr val="000000"/>
                </a:solidFill>
              </a:rPr>
              <a:t>       &gt;2*2*2*2*2*2....T(0)</a:t>
            </a:r>
          </a:p>
          <a:p>
            <a:r>
              <a:rPr lang="en-CA" sz="2500" dirty="0">
                <a:solidFill>
                  <a:srgbClr val="000000"/>
                </a:solidFill>
              </a:rPr>
              <a:t>                  n/2 terms</a:t>
            </a:r>
          </a:p>
          <a:p>
            <a:r>
              <a:rPr lang="en-CA" sz="2500" dirty="0">
                <a:solidFill>
                  <a:srgbClr val="000000"/>
                </a:solidFill>
              </a:rPr>
              <a:t> T(0)=1 then      T(n) &gt;2</a:t>
            </a:r>
            <a:r>
              <a:rPr lang="en-CA" sz="2500" baseline="60000" dirty="0">
                <a:solidFill>
                  <a:srgbClr val="000000"/>
                </a:solidFill>
              </a:rPr>
              <a:t>n/2</a:t>
            </a:r>
            <a:endParaRPr lang="en-CA" sz="2500" dirty="0">
              <a:solidFill>
                <a:srgbClr val="000000"/>
              </a:solidFill>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2732" y="12724"/>
            <a:ext cx="9118600" cy="6832600"/>
          </a:xfrm>
          <a:prstGeom prst="rect">
            <a:avLst/>
          </a:prstGeom>
        </p:spPr>
      </p:pic>
      <p:sp>
        <p:nvSpPr>
          <p:cNvPr id="11" name="TextBox 2"/>
          <p:cNvSpPr txBox="1"/>
          <p:nvPr/>
        </p:nvSpPr>
        <p:spPr>
          <a:xfrm>
            <a:off x="1524000" y="487342"/>
            <a:ext cx="7178704" cy="595676"/>
          </a:xfrm>
          <a:prstGeom prst="rect">
            <a:avLst/>
          </a:prstGeom>
          <a:noFill/>
        </p:spPr>
        <p:txBody>
          <a:bodyPr vert="horz" wrap="square" lIns="0" tIns="0" rIns="0" bIns="0" rtlCol="0">
            <a:spAutoFit/>
          </a:bodyPr>
          <a:lstStyle/>
          <a:p>
            <a:pPr>
              <a:lnSpc>
                <a:spcPts val="5060"/>
              </a:lnSpc>
            </a:pPr>
            <a:r>
              <a:rPr lang="en-US" sz="3200" b="1" dirty="0"/>
              <a:t>The Fibonacci Sequence</a:t>
            </a:r>
            <a:endParaRPr lang="en-CA" sz="3000" b="1" dirty="0">
              <a:solidFill>
                <a:srgbClr val="000000"/>
              </a:solidFill>
              <a:latin typeface="Times New Roman Bold"/>
              <a:cs typeface="Times New Roman Bold"/>
            </a:endParaRPr>
          </a:p>
        </p:txBody>
      </p:sp>
      <p:sp>
        <p:nvSpPr>
          <p:cNvPr id="3" name="TextBox 3"/>
          <p:cNvSpPr txBox="1"/>
          <p:nvPr/>
        </p:nvSpPr>
        <p:spPr>
          <a:xfrm>
            <a:off x="214314" y="1316358"/>
            <a:ext cx="9059894" cy="5637441"/>
          </a:xfrm>
          <a:prstGeom prst="rect">
            <a:avLst/>
          </a:prstGeom>
          <a:noFill/>
        </p:spPr>
        <p:txBody>
          <a:bodyPr vert="horz" wrap="square" lIns="0" tIns="0" rIns="0" bIns="0" rtlCol="0">
            <a:spAutoFit/>
          </a:bodyPr>
          <a:lstStyle/>
          <a:p>
            <a:r>
              <a:rPr lang="en-CA" sz="2500" dirty="0">
                <a:solidFill>
                  <a:srgbClr val="000000"/>
                </a:solidFill>
              </a:rPr>
              <a:t>Proof by induction       T(n) &gt;2</a:t>
            </a:r>
            <a:r>
              <a:rPr lang="en-CA" sz="2500" baseline="60000" dirty="0">
                <a:solidFill>
                  <a:srgbClr val="000000"/>
                </a:solidFill>
              </a:rPr>
              <a:t>n/2</a:t>
            </a:r>
          </a:p>
          <a:p>
            <a:endParaRPr lang="en-CA" sz="2500" baseline="60000" dirty="0">
              <a:solidFill>
                <a:srgbClr val="000000"/>
              </a:solidFill>
            </a:endParaRPr>
          </a:p>
          <a:p>
            <a:r>
              <a:rPr lang="en-US" sz="2800" b="1" dirty="0" err="1"/>
              <a:t>int</a:t>
            </a:r>
            <a:r>
              <a:rPr lang="en-US" sz="2800" dirty="0"/>
              <a:t> </a:t>
            </a:r>
            <a:r>
              <a:rPr lang="en-US" sz="2800" i="1" dirty="0"/>
              <a:t>fib</a:t>
            </a:r>
            <a:r>
              <a:rPr lang="en-US" sz="2800" dirty="0"/>
              <a:t> 2 (</a:t>
            </a:r>
            <a:r>
              <a:rPr lang="en-US" sz="2800" b="1" dirty="0" err="1"/>
              <a:t>int</a:t>
            </a:r>
            <a:r>
              <a:rPr lang="en-US" sz="2800" dirty="0"/>
              <a:t> </a:t>
            </a:r>
            <a:r>
              <a:rPr lang="en-US" sz="2800" i="1" dirty="0"/>
              <a:t>n</a:t>
            </a:r>
            <a:r>
              <a:rPr lang="en-US" sz="2800" dirty="0"/>
              <a:t>) </a:t>
            </a:r>
          </a:p>
          <a:p>
            <a:r>
              <a:rPr lang="en-US" sz="2800" dirty="0"/>
              <a:t>{  </a:t>
            </a:r>
            <a:r>
              <a:rPr lang="en-US" sz="2800" b="1" dirty="0"/>
              <a:t>index</a:t>
            </a:r>
            <a:r>
              <a:rPr lang="en-US" sz="2800" dirty="0"/>
              <a:t> </a:t>
            </a:r>
            <a:r>
              <a:rPr lang="en-US" sz="2800" i="1" dirty="0" err="1"/>
              <a:t>i</a:t>
            </a:r>
            <a:r>
              <a:rPr lang="en-US" sz="2800" dirty="0"/>
              <a:t>;</a:t>
            </a:r>
          </a:p>
          <a:p>
            <a:r>
              <a:rPr lang="en-US" sz="2800" dirty="0"/>
              <a:t> </a:t>
            </a:r>
            <a:r>
              <a:rPr lang="en-US" sz="2800" b="1" dirty="0" err="1"/>
              <a:t>int</a:t>
            </a:r>
            <a:r>
              <a:rPr lang="en-US" sz="2800" dirty="0"/>
              <a:t> </a:t>
            </a:r>
            <a:r>
              <a:rPr lang="en-US" sz="2800" i="1" dirty="0"/>
              <a:t>f</a:t>
            </a:r>
            <a:r>
              <a:rPr lang="en-US" sz="2800" dirty="0"/>
              <a:t>[0 .. </a:t>
            </a:r>
            <a:r>
              <a:rPr lang="en-US" sz="2800" i="1" dirty="0"/>
              <a:t>n</a:t>
            </a:r>
            <a:r>
              <a:rPr lang="en-US" sz="2800" dirty="0"/>
              <a:t>];</a:t>
            </a:r>
          </a:p>
          <a:p>
            <a:r>
              <a:rPr lang="en-US" sz="2800" dirty="0"/>
              <a:t> </a:t>
            </a:r>
            <a:r>
              <a:rPr lang="en-US" sz="2800" i="1" dirty="0"/>
              <a:t>f</a:t>
            </a:r>
            <a:r>
              <a:rPr lang="en-US" sz="2800" dirty="0"/>
              <a:t>[ 0 ] = 0; </a:t>
            </a:r>
          </a:p>
          <a:p>
            <a:r>
              <a:rPr lang="en-US" sz="2800" b="1" dirty="0"/>
              <a:t>if</a:t>
            </a:r>
            <a:r>
              <a:rPr lang="en-US" sz="2800" dirty="0"/>
              <a:t> (</a:t>
            </a:r>
            <a:r>
              <a:rPr lang="en-US" sz="2800" i="1" dirty="0"/>
              <a:t>n</a:t>
            </a:r>
            <a:r>
              <a:rPr lang="en-US" sz="2800" dirty="0"/>
              <a:t> &gt; 0) </a:t>
            </a:r>
          </a:p>
          <a:p>
            <a:r>
              <a:rPr lang="en-US" sz="2800" i="1" dirty="0"/>
              <a:t>{	f</a:t>
            </a:r>
            <a:r>
              <a:rPr lang="en-US" sz="2800" dirty="0"/>
              <a:t>[ 1 ] = 1; </a:t>
            </a:r>
          </a:p>
          <a:p>
            <a:r>
              <a:rPr lang="en-US" sz="2800" b="1" dirty="0"/>
              <a:t>	for</a:t>
            </a:r>
            <a:r>
              <a:rPr lang="en-US" sz="2800" dirty="0"/>
              <a:t> (</a:t>
            </a:r>
            <a:r>
              <a:rPr lang="en-US" sz="2800" i="1" dirty="0" err="1"/>
              <a:t>i</a:t>
            </a:r>
            <a:r>
              <a:rPr lang="en-US" sz="2800" dirty="0"/>
              <a:t> = 2; </a:t>
            </a:r>
            <a:r>
              <a:rPr lang="en-US" sz="2800" i="1" dirty="0" err="1"/>
              <a:t>i</a:t>
            </a:r>
            <a:r>
              <a:rPr lang="en-US" sz="2800" i="1" dirty="0"/>
              <a:t>&lt;= n; </a:t>
            </a:r>
            <a:r>
              <a:rPr lang="en-US" sz="2800" i="1" dirty="0" err="1"/>
              <a:t>i</a:t>
            </a:r>
            <a:r>
              <a:rPr lang="en-US" sz="2800" dirty="0"/>
              <a:t>++) </a:t>
            </a:r>
          </a:p>
          <a:p>
            <a:r>
              <a:rPr lang="en-US" sz="2800" i="1" dirty="0"/>
              <a:t>		f[ </a:t>
            </a:r>
            <a:r>
              <a:rPr lang="en-US" sz="2800" i="1" dirty="0" err="1"/>
              <a:t>i</a:t>
            </a:r>
            <a:r>
              <a:rPr lang="en-US" sz="2800" i="1" dirty="0"/>
              <a:t> ] = f[</a:t>
            </a:r>
            <a:r>
              <a:rPr lang="en-US" sz="2800" i="1" dirty="0" err="1"/>
              <a:t>i</a:t>
            </a:r>
            <a:r>
              <a:rPr lang="en-US" sz="2800" dirty="0"/>
              <a:t> - 1] + </a:t>
            </a:r>
            <a:r>
              <a:rPr lang="en-US" sz="2800" i="1" dirty="0"/>
              <a:t>f [</a:t>
            </a:r>
            <a:r>
              <a:rPr lang="en-US" sz="2800" i="1" dirty="0" err="1"/>
              <a:t>i</a:t>
            </a:r>
            <a:r>
              <a:rPr lang="en-US" sz="2800" dirty="0"/>
              <a:t> -2 ]; </a:t>
            </a:r>
          </a:p>
          <a:p>
            <a:r>
              <a:rPr lang="en-US" sz="2800" dirty="0"/>
              <a:t>}</a:t>
            </a:r>
          </a:p>
          <a:p>
            <a:r>
              <a:rPr lang="en-US" sz="2800" dirty="0"/>
              <a:t> </a:t>
            </a:r>
            <a:r>
              <a:rPr lang="en-US" sz="2800" b="1" dirty="0"/>
              <a:t>return</a:t>
            </a:r>
            <a:r>
              <a:rPr lang="en-US" sz="2800" dirty="0"/>
              <a:t> </a:t>
            </a:r>
            <a:r>
              <a:rPr lang="en-US" sz="2800" i="1" dirty="0"/>
              <a:t>f[ n ]</a:t>
            </a:r>
            <a:r>
              <a:rPr lang="en-US" sz="2800" dirty="0"/>
              <a:t>;</a:t>
            </a:r>
          </a:p>
          <a:p>
            <a:r>
              <a:rPr lang="en-US" sz="2800" dirty="0"/>
              <a:t> }</a:t>
            </a:r>
            <a:endParaRPr lang="en-CA" sz="2500" baseline="60000" dirty="0">
              <a:solidFill>
                <a:srgbClr val="000000"/>
              </a:solidFill>
            </a:endParaRPr>
          </a:p>
          <a:p>
            <a:endParaRPr lang="en-CA" sz="2500" baseline="60000" dirty="0">
              <a:solidFill>
                <a:srgbClr val="000000"/>
              </a:solidFill>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12732" y="12724"/>
            <a:ext cx="9118600" cy="6832600"/>
          </a:xfrm>
          <a:prstGeom prst="rect">
            <a:avLst/>
          </a:prstGeom>
        </p:spPr>
      </p:pic>
      <p:sp>
        <p:nvSpPr>
          <p:cNvPr id="11" name="TextBox 2"/>
          <p:cNvSpPr txBox="1"/>
          <p:nvPr/>
        </p:nvSpPr>
        <p:spPr>
          <a:xfrm>
            <a:off x="1524000" y="487342"/>
            <a:ext cx="7178704" cy="595676"/>
          </a:xfrm>
          <a:prstGeom prst="rect">
            <a:avLst/>
          </a:prstGeom>
          <a:noFill/>
        </p:spPr>
        <p:txBody>
          <a:bodyPr vert="horz" wrap="square" lIns="0" tIns="0" rIns="0" bIns="0" rtlCol="0">
            <a:spAutoFit/>
          </a:bodyPr>
          <a:lstStyle/>
          <a:p>
            <a:pPr>
              <a:lnSpc>
                <a:spcPts val="5060"/>
              </a:lnSpc>
            </a:pPr>
            <a:r>
              <a:rPr lang="en-US" sz="3200" b="1" dirty="0"/>
              <a:t>The Fibonacci Sequence  </a:t>
            </a:r>
            <a:endParaRPr lang="en-CA" sz="3000" b="1" dirty="0">
              <a:solidFill>
                <a:srgbClr val="000000"/>
              </a:solidFill>
              <a:latin typeface="Times New Roman Bold"/>
              <a:cs typeface="Times New Roman Bold"/>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graphicFrame>
        <p:nvGraphicFramePr>
          <p:cNvPr id="12" name="Table 11"/>
          <p:cNvGraphicFramePr>
            <a:graphicFrameLocks noGrp="1"/>
          </p:cNvGraphicFramePr>
          <p:nvPr/>
        </p:nvGraphicFramePr>
        <p:xfrm>
          <a:off x="487336" y="1389944"/>
          <a:ext cx="8358245" cy="4754880"/>
        </p:xfrm>
        <a:graphic>
          <a:graphicData uri="http://schemas.openxmlformats.org/drawingml/2006/table">
            <a:tbl>
              <a:tblPr firstRow="1" bandRow="1">
                <a:tableStyleId>{5C22544A-7EE6-4342-B048-85BDC9FD1C3A}</a:tableStyleId>
              </a:tblPr>
              <a:tblGrid>
                <a:gridCol w="1671649">
                  <a:extLst>
                    <a:ext uri="{9D8B030D-6E8A-4147-A177-3AD203B41FA5}">
                      <a16:colId xmlns:a16="http://schemas.microsoft.com/office/drawing/2014/main" val="20000"/>
                    </a:ext>
                  </a:extLst>
                </a:gridCol>
                <a:gridCol w="1671649">
                  <a:extLst>
                    <a:ext uri="{9D8B030D-6E8A-4147-A177-3AD203B41FA5}">
                      <a16:colId xmlns:a16="http://schemas.microsoft.com/office/drawing/2014/main" val="20001"/>
                    </a:ext>
                  </a:extLst>
                </a:gridCol>
                <a:gridCol w="1671649">
                  <a:extLst>
                    <a:ext uri="{9D8B030D-6E8A-4147-A177-3AD203B41FA5}">
                      <a16:colId xmlns:a16="http://schemas.microsoft.com/office/drawing/2014/main" val="20002"/>
                    </a:ext>
                  </a:extLst>
                </a:gridCol>
                <a:gridCol w="1671649">
                  <a:extLst>
                    <a:ext uri="{9D8B030D-6E8A-4147-A177-3AD203B41FA5}">
                      <a16:colId xmlns:a16="http://schemas.microsoft.com/office/drawing/2014/main" val="20003"/>
                    </a:ext>
                  </a:extLst>
                </a:gridCol>
                <a:gridCol w="1671649">
                  <a:extLst>
                    <a:ext uri="{9D8B030D-6E8A-4147-A177-3AD203B41FA5}">
                      <a16:colId xmlns:a16="http://schemas.microsoft.com/office/drawing/2014/main" val="20004"/>
                    </a:ext>
                  </a:extLst>
                </a:gridCol>
              </a:tblGrid>
              <a:tr h="370840">
                <a:tc>
                  <a:txBody>
                    <a:bodyPr/>
                    <a:lstStyle/>
                    <a:p>
                      <a:pPr algn="ctr"/>
                      <a:r>
                        <a:rPr lang="en-US" sz="2400" i="1" dirty="0"/>
                        <a:t>n</a:t>
                      </a:r>
                      <a:r>
                        <a:rPr lang="en-US" sz="2400" dirty="0"/>
                        <a:t> </a:t>
                      </a:r>
                    </a:p>
                  </a:txBody>
                  <a:tcPr anchor="b"/>
                </a:tc>
                <a:tc>
                  <a:txBody>
                    <a:bodyPr/>
                    <a:lstStyle/>
                    <a:p>
                      <a:pPr algn="ctr"/>
                      <a:r>
                        <a:rPr lang="en-US" sz="2400" i="1"/>
                        <a:t>n</a:t>
                      </a:r>
                      <a:r>
                        <a:rPr lang="en-US" sz="2400"/>
                        <a:t> + 1</a:t>
                      </a:r>
                    </a:p>
                  </a:txBody>
                  <a:tcPr anchor="b"/>
                </a:tc>
                <a:tc>
                  <a:txBody>
                    <a:bodyPr/>
                    <a:lstStyle/>
                    <a:p>
                      <a:pPr algn="ctr"/>
                      <a:r>
                        <a:rPr lang="en-US" sz="2400"/>
                        <a:t>2</a:t>
                      </a:r>
                      <a:r>
                        <a:rPr lang="en-US" sz="2400" i="1" baseline="30000"/>
                        <a:t>n</a:t>
                      </a:r>
                      <a:r>
                        <a:rPr lang="en-US" sz="2400" baseline="30000"/>
                        <a:t>/2</a:t>
                      </a:r>
                      <a:r>
                        <a:rPr lang="en-US" sz="2400"/>
                        <a:t> </a:t>
                      </a:r>
                    </a:p>
                  </a:txBody>
                  <a:tcPr anchor="b"/>
                </a:tc>
                <a:tc>
                  <a:txBody>
                    <a:bodyPr/>
                    <a:lstStyle/>
                    <a:p>
                      <a:pPr algn="ctr"/>
                      <a:r>
                        <a:rPr lang="en-US" sz="2400" dirty="0"/>
                        <a:t>Execution Time A2</a:t>
                      </a:r>
                    </a:p>
                  </a:txBody>
                  <a:tcPr anchor="b"/>
                </a:tc>
                <a:tc>
                  <a:txBody>
                    <a:bodyPr/>
                    <a:lstStyle/>
                    <a:p>
                      <a:pPr algn="ctr"/>
                      <a:r>
                        <a:rPr lang="en-US" sz="2400" dirty="0"/>
                        <a:t>A!</a:t>
                      </a:r>
                    </a:p>
                  </a:txBody>
                  <a:tcPr anchor="b"/>
                </a:tc>
                <a:extLst>
                  <a:ext uri="{0D108BD9-81ED-4DB2-BD59-A6C34878D82A}">
                    <a16:rowId xmlns:a16="http://schemas.microsoft.com/office/drawing/2014/main" val="10000"/>
                  </a:ext>
                </a:extLst>
              </a:tr>
              <a:tr h="370840">
                <a:tc>
                  <a:txBody>
                    <a:bodyPr/>
                    <a:lstStyle/>
                    <a:p>
                      <a:pPr algn="ctr"/>
                      <a:r>
                        <a:rPr lang="en-US" sz="2400"/>
                        <a:t>40</a:t>
                      </a:r>
                    </a:p>
                  </a:txBody>
                  <a:tcPr/>
                </a:tc>
                <a:tc>
                  <a:txBody>
                    <a:bodyPr/>
                    <a:lstStyle/>
                    <a:p>
                      <a:pPr algn="ctr"/>
                      <a:r>
                        <a:rPr lang="en-US" sz="2400"/>
                        <a:t>41</a:t>
                      </a:r>
                    </a:p>
                  </a:txBody>
                  <a:tcPr/>
                </a:tc>
                <a:tc>
                  <a:txBody>
                    <a:bodyPr/>
                    <a:lstStyle/>
                    <a:p>
                      <a:pPr algn="ctr"/>
                      <a:r>
                        <a:rPr lang="en-US" sz="2400"/>
                        <a:t>1,048,576</a:t>
                      </a:r>
                    </a:p>
                  </a:txBody>
                  <a:tcPr/>
                </a:tc>
                <a:tc>
                  <a:txBody>
                    <a:bodyPr/>
                    <a:lstStyle/>
                    <a:p>
                      <a:pPr algn="ctr"/>
                      <a:r>
                        <a:rPr lang="en-US" sz="2400"/>
                        <a:t>41 ns</a:t>
                      </a:r>
                      <a:r>
                        <a:rPr lang="en-US" sz="2400" baseline="30000"/>
                        <a:t>[</a:t>
                      </a:r>
                      <a:r>
                        <a:rPr lang="en-US" sz="2400" baseline="30000">
                          <a:hlinkClick r:id="" action="ppaction://hlinkfile"/>
                        </a:rPr>
                        <a:t>*</a:t>
                      </a:r>
                      <a:r>
                        <a:rPr lang="en-US" sz="2400" baseline="30000"/>
                        <a:t>]</a:t>
                      </a:r>
                      <a:r>
                        <a:rPr lang="en-US" sz="2400"/>
                        <a:t> </a:t>
                      </a:r>
                    </a:p>
                  </a:txBody>
                  <a:tcPr/>
                </a:tc>
                <a:tc>
                  <a:txBody>
                    <a:bodyPr/>
                    <a:lstStyle/>
                    <a:p>
                      <a:pPr algn="ctr"/>
                      <a:r>
                        <a:rPr lang="el-GR" sz="2400" dirty="0"/>
                        <a:t>1048 μ</a:t>
                      </a:r>
                      <a:r>
                        <a:rPr lang="en-US" sz="2400" i="1" dirty="0"/>
                        <a:t>s</a:t>
                      </a:r>
                      <a:r>
                        <a:rPr lang="en-US" sz="2400" baseline="30000" dirty="0"/>
                        <a:t>[</a:t>
                      </a:r>
                      <a:r>
                        <a:rPr lang="en-US" sz="2400" baseline="30000" dirty="0">
                          <a:hlinkClick r:id="" action="ppaction://hlinkfile"/>
                        </a:rPr>
                        <a:t>†</a:t>
                      </a:r>
                      <a:r>
                        <a:rPr lang="en-US" sz="2400" baseline="30000" dirty="0"/>
                        <a:t>]</a:t>
                      </a:r>
                      <a:r>
                        <a:rPr lang="en-US" sz="2400" dirty="0"/>
                        <a:t> </a:t>
                      </a:r>
                    </a:p>
                  </a:txBody>
                  <a:tcPr/>
                </a:tc>
                <a:extLst>
                  <a:ext uri="{0D108BD9-81ED-4DB2-BD59-A6C34878D82A}">
                    <a16:rowId xmlns:a16="http://schemas.microsoft.com/office/drawing/2014/main" val="10001"/>
                  </a:ext>
                </a:extLst>
              </a:tr>
              <a:tr h="370840">
                <a:tc>
                  <a:txBody>
                    <a:bodyPr/>
                    <a:lstStyle/>
                    <a:p>
                      <a:pPr algn="ctr"/>
                      <a:r>
                        <a:rPr lang="en-US" sz="2400"/>
                        <a:t>60</a:t>
                      </a:r>
                    </a:p>
                  </a:txBody>
                  <a:tcPr/>
                </a:tc>
                <a:tc>
                  <a:txBody>
                    <a:bodyPr/>
                    <a:lstStyle/>
                    <a:p>
                      <a:pPr algn="ctr"/>
                      <a:r>
                        <a:rPr lang="en-US" sz="2400"/>
                        <a:t>61</a:t>
                      </a:r>
                    </a:p>
                  </a:txBody>
                  <a:tcPr/>
                </a:tc>
                <a:tc>
                  <a:txBody>
                    <a:bodyPr/>
                    <a:lstStyle/>
                    <a:p>
                      <a:pPr algn="ctr"/>
                      <a:r>
                        <a:rPr lang="en-US" sz="2400"/>
                        <a:t>1.l × 1O</a:t>
                      </a:r>
                      <a:r>
                        <a:rPr lang="en-US" sz="2400" baseline="30000"/>
                        <a:t>9</a:t>
                      </a:r>
                      <a:r>
                        <a:rPr lang="en-US" sz="2400"/>
                        <a:t> </a:t>
                      </a:r>
                    </a:p>
                  </a:txBody>
                  <a:tcPr/>
                </a:tc>
                <a:tc>
                  <a:txBody>
                    <a:bodyPr/>
                    <a:lstStyle/>
                    <a:p>
                      <a:pPr algn="ctr"/>
                      <a:r>
                        <a:rPr lang="en-US" sz="2400"/>
                        <a:t>61 ns</a:t>
                      </a:r>
                    </a:p>
                  </a:txBody>
                  <a:tcPr/>
                </a:tc>
                <a:tc>
                  <a:txBody>
                    <a:bodyPr/>
                    <a:lstStyle/>
                    <a:p>
                      <a:pPr algn="ctr"/>
                      <a:r>
                        <a:rPr lang="en-US" sz="2400"/>
                        <a:t>1 s</a:t>
                      </a:r>
                    </a:p>
                  </a:txBody>
                  <a:tcPr/>
                </a:tc>
                <a:extLst>
                  <a:ext uri="{0D108BD9-81ED-4DB2-BD59-A6C34878D82A}">
                    <a16:rowId xmlns:a16="http://schemas.microsoft.com/office/drawing/2014/main" val="10002"/>
                  </a:ext>
                </a:extLst>
              </a:tr>
              <a:tr h="370840">
                <a:tc>
                  <a:txBody>
                    <a:bodyPr/>
                    <a:lstStyle/>
                    <a:p>
                      <a:pPr algn="ctr"/>
                      <a:r>
                        <a:rPr lang="en-US" sz="2400"/>
                        <a:t>80</a:t>
                      </a:r>
                    </a:p>
                  </a:txBody>
                  <a:tcPr/>
                </a:tc>
                <a:tc>
                  <a:txBody>
                    <a:bodyPr/>
                    <a:lstStyle/>
                    <a:p>
                      <a:pPr algn="ctr"/>
                      <a:r>
                        <a:rPr lang="en-US" sz="2400"/>
                        <a:t>81</a:t>
                      </a:r>
                    </a:p>
                  </a:txBody>
                  <a:tcPr/>
                </a:tc>
                <a:tc>
                  <a:txBody>
                    <a:bodyPr/>
                    <a:lstStyle/>
                    <a:p>
                      <a:pPr algn="ctr"/>
                      <a:r>
                        <a:rPr lang="en-US" sz="2400"/>
                        <a:t>1.1 × 10</a:t>
                      </a:r>
                      <a:r>
                        <a:rPr lang="en-US" sz="2400" baseline="30000"/>
                        <a:t>12</a:t>
                      </a:r>
                      <a:r>
                        <a:rPr lang="en-US" sz="2400"/>
                        <a:t> </a:t>
                      </a:r>
                    </a:p>
                  </a:txBody>
                  <a:tcPr/>
                </a:tc>
                <a:tc>
                  <a:txBody>
                    <a:bodyPr/>
                    <a:lstStyle/>
                    <a:p>
                      <a:pPr algn="ctr"/>
                      <a:r>
                        <a:rPr lang="en-US" sz="2400"/>
                        <a:t>81 ns</a:t>
                      </a:r>
                    </a:p>
                  </a:txBody>
                  <a:tcPr/>
                </a:tc>
                <a:tc>
                  <a:txBody>
                    <a:bodyPr/>
                    <a:lstStyle/>
                    <a:p>
                      <a:pPr algn="ctr"/>
                      <a:r>
                        <a:rPr lang="en-US" sz="2400"/>
                        <a:t>18 min</a:t>
                      </a:r>
                    </a:p>
                  </a:txBody>
                  <a:tcPr/>
                </a:tc>
                <a:extLst>
                  <a:ext uri="{0D108BD9-81ED-4DB2-BD59-A6C34878D82A}">
                    <a16:rowId xmlns:a16="http://schemas.microsoft.com/office/drawing/2014/main" val="10003"/>
                  </a:ext>
                </a:extLst>
              </a:tr>
              <a:tr h="370840">
                <a:tc>
                  <a:txBody>
                    <a:bodyPr/>
                    <a:lstStyle/>
                    <a:p>
                      <a:pPr algn="ctr"/>
                      <a:r>
                        <a:rPr lang="en-US" sz="2400"/>
                        <a:t>100</a:t>
                      </a:r>
                    </a:p>
                  </a:txBody>
                  <a:tcPr/>
                </a:tc>
                <a:tc>
                  <a:txBody>
                    <a:bodyPr/>
                    <a:lstStyle/>
                    <a:p>
                      <a:pPr algn="ctr"/>
                      <a:r>
                        <a:rPr lang="en-US" sz="2400"/>
                        <a:t>101</a:t>
                      </a:r>
                    </a:p>
                  </a:txBody>
                  <a:tcPr/>
                </a:tc>
                <a:tc>
                  <a:txBody>
                    <a:bodyPr/>
                    <a:lstStyle/>
                    <a:p>
                      <a:pPr algn="ctr"/>
                      <a:r>
                        <a:rPr lang="en-US" sz="2400"/>
                        <a:t>1.1 × 10</a:t>
                      </a:r>
                      <a:r>
                        <a:rPr lang="en-US" sz="2400" baseline="30000"/>
                        <a:t>15</a:t>
                      </a:r>
                      <a:r>
                        <a:rPr lang="en-US" sz="2400"/>
                        <a:t> </a:t>
                      </a:r>
                    </a:p>
                  </a:txBody>
                  <a:tcPr/>
                </a:tc>
                <a:tc>
                  <a:txBody>
                    <a:bodyPr/>
                    <a:lstStyle/>
                    <a:p>
                      <a:pPr algn="ctr"/>
                      <a:r>
                        <a:rPr lang="en-US" sz="2400"/>
                        <a:t>101 ns</a:t>
                      </a:r>
                    </a:p>
                  </a:txBody>
                  <a:tcPr/>
                </a:tc>
                <a:tc>
                  <a:txBody>
                    <a:bodyPr/>
                    <a:lstStyle/>
                    <a:p>
                      <a:pPr algn="ctr"/>
                      <a:r>
                        <a:rPr lang="en-US" sz="2400"/>
                        <a:t>13 days</a:t>
                      </a:r>
                    </a:p>
                  </a:txBody>
                  <a:tcPr/>
                </a:tc>
                <a:extLst>
                  <a:ext uri="{0D108BD9-81ED-4DB2-BD59-A6C34878D82A}">
                    <a16:rowId xmlns:a16="http://schemas.microsoft.com/office/drawing/2014/main" val="10004"/>
                  </a:ext>
                </a:extLst>
              </a:tr>
              <a:tr h="370840">
                <a:tc>
                  <a:txBody>
                    <a:bodyPr/>
                    <a:lstStyle/>
                    <a:p>
                      <a:pPr algn="ctr"/>
                      <a:r>
                        <a:rPr lang="en-US" sz="2400"/>
                        <a:t>120</a:t>
                      </a:r>
                    </a:p>
                  </a:txBody>
                  <a:tcPr/>
                </a:tc>
                <a:tc>
                  <a:txBody>
                    <a:bodyPr/>
                    <a:lstStyle/>
                    <a:p>
                      <a:pPr algn="ctr"/>
                      <a:r>
                        <a:rPr lang="en-US" sz="2400"/>
                        <a:t>121</a:t>
                      </a:r>
                    </a:p>
                  </a:txBody>
                  <a:tcPr/>
                </a:tc>
                <a:tc>
                  <a:txBody>
                    <a:bodyPr/>
                    <a:lstStyle/>
                    <a:p>
                      <a:pPr algn="ctr"/>
                      <a:r>
                        <a:rPr lang="en-US" sz="2400"/>
                        <a:t>1.2 × 10</a:t>
                      </a:r>
                      <a:r>
                        <a:rPr lang="en-US" sz="2400" baseline="30000"/>
                        <a:t>18</a:t>
                      </a:r>
                      <a:r>
                        <a:rPr lang="en-US" sz="2400"/>
                        <a:t> </a:t>
                      </a:r>
                    </a:p>
                  </a:txBody>
                  <a:tcPr/>
                </a:tc>
                <a:tc>
                  <a:txBody>
                    <a:bodyPr/>
                    <a:lstStyle/>
                    <a:p>
                      <a:pPr algn="ctr"/>
                      <a:r>
                        <a:rPr lang="en-US" sz="2400"/>
                        <a:t>121 ns</a:t>
                      </a:r>
                    </a:p>
                  </a:txBody>
                  <a:tcPr/>
                </a:tc>
                <a:tc>
                  <a:txBody>
                    <a:bodyPr/>
                    <a:lstStyle/>
                    <a:p>
                      <a:pPr algn="ctr"/>
                      <a:r>
                        <a:rPr lang="en-US" sz="2400"/>
                        <a:t>36 years</a:t>
                      </a:r>
                    </a:p>
                  </a:txBody>
                  <a:tcPr/>
                </a:tc>
                <a:extLst>
                  <a:ext uri="{0D108BD9-81ED-4DB2-BD59-A6C34878D82A}">
                    <a16:rowId xmlns:a16="http://schemas.microsoft.com/office/drawing/2014/main" val="10005"/>
                  </a:ext>
                </a:extLst>
              </a:tr>
              <a:tr h="370840">
                <a:tc>
                  <a:txBody>
                    <a:bodyPr/>
                    <a:lstStyle/>
                    <a:p>
                      <a:pPr algn="ctr"/>
                      <a:r>
                        <a:rPr lang="en-US" sz="2400"/>
                        <a:t>160</a:t>
                      </a:r>
                    </a:p>
                  </a:txBody>
                  <a:tcPr/>
                </a:tc>
                <a:tc>
                  <a:txBody>
                    <a:bodyPr/>
                    <a:lstStyle/>
                    <a:p>
                      <a:pPr algn="ctr"/>
                      <a:r>
                        <a:rPr lang="en-US" sz="2400" dirty="0"/>
                        <a:t>161</a:t>
                      </a:r>
                    </a:p>
                  </a:txBody>
                  <a:tcPr/>
                </a:tc>
                <a:tc>
                  <a:txBody>
                    <a:bodyPr/>
                    <a:lstStyle/>
                    <a:p>
                      <a:pPr algn="ctr"/>
                      <a:r>
                        <a:rPr lang="en-US" sz="2400"/>
                        <a:t>1.2 × 10</a:t>
                      </a:r>
                      <a:r>
                        <a:rPr lang="en-US" sz="2400" baseline="30000"/>
                        <a:t>24</a:t>
                      </a:r>
                      <a:r>
                        <a:rPr lang="en-US" sz="2400"/>
                        <a:t> </a:t>
                      </a:r>
                    </a:p>
                  </a:txBody>
                  <a:tcPr/>
                </a:tc>
                <a:tc>
                  <a:txBody>
                    <a:bodyPr/>
                    <a:lstStyle/>
                    <a:p>
                      <a:pPr algn="ctr"/>
                      <a:r>
                        <a:rPr lang="en-US" sz="2400"/>
                        <a:t>161 ns</a:t>
                      </a:r>
                    </a:p>
                  </a:txBody>
                  <a:tcPr/>
                </a:tc>
                <a:tc>
                  <a:txBody>
                    <a:bodyPr/>
                    <a:lstStyle/>
                    <a:p>
                      <a:pPr algn="ctr"/>
                      <a:r>
                        <a:rPr lang="en-US" sz="2400"/>
                        <a:t>3.8 × 10</a:t>
                      </a:r>
                      <a:r>
                        <a:rPr lang="en-US" sz="2400" baseline="30000"/>
                        <a:t>7</a:t>
                      </a:r>
                      <a:r>
                        <a:rPr lang="en-US" sz="2400"/>
                        <a:t> years</a:t>
                      </a:r>
                    </a:p>
                  </a:txBody>
                  <a:tcPr/>
                </a:tc>
                <a:extLst>
                  <a:ext uri="{0D108BD9-81ED-4DB2-BD59-A6C34878D82A}">
                    <a16:rowId xmlns:a16="http://schemas.microsoft.com/office/drawing/2014/main" val="10006"/>
                  </a:ext>
                </a:extLst>
              </a:tr>
              <a:tr h="370840">
                <a:tc>
                  <a:txBody>
                    <a:bodyPr/>
                    <a:lstStyle/>
                    <a:p>
                      <a:pPr algn="ctr"/>
                      <a:r>
                        <a:rPr lang="en-US" sz="2400"/>
                        <a:t>200</a:t>
                      </a:r>
                    </a:p>
                  </a:txBody>
                  <a:tcPr/>
                </a:tc>
                <a:tc>
                  <a:txBody>
                    <a:bodyPr/>
                    <a:lstStyle/>
                    <a:p>
                      <a:pPr algn="ctr"/>
                      <a:r>
                        <a:rPr lang="en-US" sz="2400" dirty="0"/>
                        <a:t>201 </a:t>
                      </a:r>
                    </a:p>
                  </a:txBody>
                  <a:tcPr/>
                </a:tc>
                <a:tc>
                  <a:txBody>
                    <a:bodyPr/>
                    <a:lstStyle/>
                    <a:p>
                      <a:pPr algn="ctr"/>
                      <a:r>
                        <a:rPr lang="en-US" sz="2400"/>
                        <a:t>1.3 × 10</a:t>
                      </a:r>
                      <a:r>
                        <a:rPr lang="en-US" sz="2400" baseline="30000"/>
                        <a:t>30</a:t>
                      </a:r>
                      <a:r>
                        <a:rPr lang="en-US" sz="2400"/>
                        <a:t> </a:t>
                      </a:r>
                    </a:p>
                  </a:txBody>
                  <a:tcPr/>
                </a:tc>
                <a:tc>
                  <a:txBody>
                    <a:bodyPr/>
                    <a:lstStyle/>
                    <a:p>
                      <a:pPr algn="ctr"/>
                      <a:r>
                        <a:rPr lang="en-US" sz="2400"/>
                        <a:t>201 ns</a:t>
                      </a:r>
                    </a:p>
                  </a:txBody>
                  <a:tcPr/>
                </a:tc>
                <a:tc>
                  <a:txBody>
                    <a:bodyPr/>
                    <a:lstStyle/>
                    <a:p>
                      <a:pPr algn="ctr"/>
                      <a:r>
                        <a:rPr lang="en-US" sz="2400" dirty="0"/>
                        <a:t>4 × 10</a:t>
                      </a:r>
                      <a:r>
                        <a:rPr lang="en-US" sz="2400" baseline="30000" dirty="0"/>
                        <a:t>13</a:t>
                      </a:r>
                      <a:r>
                        <a:rPr lang="en-US" sz="2400" dirty="0"/>
                        <a:t> years</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487342"/>
            <a:ext cx="7178704" cy="595676"/>
          </a:xfrm>
          <a:prstGeom prst="rect">
            <a:avLst/>
          </a:prstGeom>
          <a:noFill/>
        </p:spPr>
        <p:txBody>
          <a:bodyPr vert="horz" wrap="square" lIns="0" tIns="0" rIns="0" bIns="0" rtlCol="0">
            <a:spAutoFit/>
          </a:bodyPr>
          <a:lstStyle/>
          <a:p>
            <a:pPr>
              <a:lnSpc>
                <a:spcPts val="5060"/>
              </a:lnSpc>
            </a:pPr>
            <a:r>
              <a:rPr lang="en-US" sz="3200" b="1" dirty="0"/>
              <a:t>Every-Case time complexity</a:t>
            </a:r>
            <a:endParaRPr lang="en-CA" sz="3000" b="1" dirty="0">
              <a:solidFill>
                <a:srgbClr val="000000"/>
              </a:solidFill>
              <a:latin typeface="Times New Roman Bold"/>
              <a:cs typeface="Times New Roman Bold"/>
            </a:endParaRPr>
          </a:p>
        </p:txBody>
      </p:sp>
      <p:sp>
        <p:nvSpPr>
          <p:cNvPr id="3" name="TextBox 3"/>
          <p:cNvSpPr txBox="1"/>
          <p:nvPr/>
        </p:nvSpPr>
        <p:spPr>
          <a:xfrm>
            <a:off x="214314" y="1316358"/>
            <a:ext cx="8904286" cy="3272691"/>
          </a:xfrm>
          <a:prstGeom prst="rect">
            <a:avLst/>
          </a:prstGeom>
          <a:noFill/>
        </p:spPr>
        <p:txBody>
          <a:bodyPr vert="horz" wrap="square" lIns="0" tIns="0" rIns="0" bIns="0" rtlCol="0">
            <a:spAutoFit/>
          </a:bodyPr>
          <a:lstStyle/>
          <a:p>
            <a:r>
              <a:rPr lang="en-US" sz="2800" b="1" dirty="0"/>
              <a:t>Every-Case Time Complexity (Add Array Members) T(n) = n</a:t>
            </a:r>
          </a:p>
          <a:p>
            <a:endParaRPr lang="en-US" sz="2800" b="1" dirty="0"/>
          </a:p>
          <a:p>
            <a:r>
              <a:rPr lang="en-US" sz="2800" b="1" dirty="0"/>
              <a:t>Every−Case Time Complexity (Exchange Sort)</a:t>
            </a:r>
          </a:p>
          <a:p>
            <a:r>
              <a:rPr lang="en-US" sz="2800" b="1" dirty="0"/>
              <a:t>T(n)=(n-1) +(n-2)+…..+1=(n-1)n/2</a:t>
            </a:r>
          </a:p>
          <a:p>
            <a:endParaRPr lang="en-US" sz="2800" b="1" dirty="0"/>
          </a:p>
          <a:p>
            <a:r>
              <a:rPr lang="en-US" sz="2800" b="1" dirty="0"/>
              <a:t>Every-Case Time Complexity (Matrix Multiplication)</a:t>
            </a:r>
          </a:p>
          <a:p>
            <a:r>
              <a:rPr lang="en-US" sz="2800" b="1" dirty="0"/>
              <a:t>T(n)=n*n*n =n</a:t>
            </a:r>
            <a:r>
              <a:rPr lang="en-US" sz="2800" b="1" baseline="30000" dirty="0"/>
              <a:t>3</a:t>
            </a:r>
          </a:p>
          <a:p>
            <a:endParaRPr lang="en-CA" sz="2500" baseline="60000" dirty="0">
              <a:solidFill>
                <a:srgbClr val="000000"/>
              </a:solidFill>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487342"/>
            <a:ext cx="7178704" cy="595676"/>
          </a:xfrm>
          <a:prstGeom prst="rect">
            <a:avLst/>
          </a:prstGeom>
          <a:noFill/>
        </p:spPr>
        <p:txBody>
          <a:bodyPr vert="horz" wrap="square" lIns="0" tIns="0" rIns="0" bIns="0" rtlCol="0">
            <a:spAutoFit/>
          </a:bodyPr>
          <a:lstStyle/>
          <a:p>
            <a:pPr>
              <a:lnSpc>
                <a:spcPts val="5060"/>
              </a:lnSpc>
            </a:pPr>
            <a:r>
              <a:rPr lang="en-US" sz="3200" b="1" dirty="0"/>
              <a:t>Every-Case time complexity</a:t>
            </a:r>
            <a:endParaRPr lang="en-CA" sz="3000" b="1" dirty="0">
              <a:solidFill>
                <a:srgbClr val="000000"/>
              </a:solidFill>
              <a:latin typeface="Times New Roman Bold"/>
              <a:cs typeface="Times New Roman Bold"/>
            </a:endParaRPr>
          </a:p>
        </p:txBody>
      </p:sp>
      <p:sp>
        <p:nvSpPr>
          <p:cNvPr id="3" name="TextBox 3"/>
          <p:cNvSpPr txBox="1"/>
          <p:nvPr/>
        </p:nvSpPr>
        <p:spPr>
          <a:xfrm>
            <a:off x="214314" y="1316358"/>
            <a:ext cx="8904286" cy="3272691"/>
          </a:xfrm>
          <a:prstGeom prst="rect">
            <a:avLst/>
          </a:prstGeom>
          <a:noFill/>
        </p:spPr>
        <p:txBody>
          <a:bodyPr vert="horz" wrap="square" lIns="0" tIns="0" rIns="0" bIns="0" rtlCol="0">
            <a:spAutoFit/>
          </a:bodyPr>
          <a:lstStyle/>
          <a:p>
            <a:r>
              <a:rPr lang="en-US" sz="2800" b="1" dirty="0"/>
              <a:t>Every-Case Time Complexity (Add Array Members) T(n) = n</a:t>
            </a:r>
          </a:p>
          <a:p>
            <a:endParaRPr lang="en-US" sz="2800" b="1" dirty="0"/>
          </a:p>
          <a:p>
            <a:r>
              <a:rPr lang="en-US" sz="2800" b="1" dirty="0"/>
              <a:t>Every−Case Time Complexity (Exchange Sort)</a:t>
            </a:r>
          </a:p>
          <a:p>
            <a:r>
              <a:rPr lang="en-US" sz="2800" b="1" dirty="0"/>
              <a:t>T(n)=(n-1) +(n-2)+…..+1=(n-1)n/2</a:t>
            </a:r>
          </a:p>
          <a:p>
            <a:endParaRPr lang="en-US" sz="2800" b="1" dirty="0"/>
          </a:p>
          <a:p>
            <a:r>
              <a:rPr lang="en-US" sz="2800" b="1" dirty="0"/>
              <a:t>Every-Case Time Complexity (Matrix Multiplication)</a:t>
            </a:r>
          </a:p>
          <a:p>
            <a:r>
              <a:rPr lang="en-US" sz="2800" b="1" dirty="0"/>
              <a:t>T(n)=n*n*n =n</a:t>
            </a:r>
            <a:r>
              <a:rPr lang="en-US" sz="2800" b="1" baseline="30000" dirty="0"/>
              <a:t>3</a:t>
            </a:r>
          </a:p>
          <a:p>
            <a:endParaRPr lang="en-CA" sz="2500" baseline="60000" dirty="0">
              <a:solidFill>
                <a:srgbClr val="000000"/>
              </a:solidFill>
            </a:endParaRP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273028"/>
            <a:ext cx="7178704" cy="1249701"/>
          </a:xfrm>
          <a:prstGeom prst="rect">
            <a:avLst/>
          </a:prstGeom>
          <a:noFill/>
        </p:spPr>
        <p:txBody>
          <a:bodyPr vert="horz" wrap="square" lIns="0" tIns="0" rIns="0" bIns="0" rtlCol="0">
            <a:spAutoFit/>
          </a:bodyPr>
          <a:lstStyle/>
          <a:p>
            <a:pPr>
              <a:lnSpc>
                <a:spcPts val="5060"/>
              </a:lnSpc>
            </a:pPr>
            <a:r>
              <a:rPr lang="en-US" sz="3200" b="1" dirty="0"/>
              <a:t>What if algorithm not have an  Every-Case time complexity</a:t>
            </a:r>
            <a:endParaRPr lang="en-CA" sz="3000" b="1" dirty="0">
              <a:solidFill>
                <a:srgbClr val="000000"/>
              </a:solidFill>
              <a:latin typeface="Times New Roman Bold"/>
              <a:cs typeface="Times New Roman Bold"/>
            </a:endParaRPr>
          </a:p>
        </p:txBody>
      </p:sp>
      <p:sp>
        <p:nvSpPr>
          <p:cNvPr id="3" name="TextBox 3"/>
          <p:cNvSpPr txBox="1"/>
          <p:nvPr/>
        </p:nvSpPr>
        <p:spPr>
          <a:xfrm>
            <a:off x="214314" y="1786683"/>
            <a:ext cx="8904286" cy="861774"/>
          </a:xfrm>
          <a:prstGeom prst="rect">
            <a:avLst/>
          </a:prstGeom>
          <a:noFill/>
        </p:spPr>
        <p:txBody>
          <a:bodyPr vert="horz" wrap="square" lIns="0" tIns="0" rIns="0" bIns="0" rtlCol="0">
            <a:spAutoFit/>
          </a:bodyPr>
          <a:lstStyle/>
          <a:p>
            <a:r>
              <a:rPr lang="en-US" sz="2800" b="1" dirty="0"/>
              <a:t>The basic operation on Sequential search algorithm is not done the same number of times for all instances of size n</a:t>
            </a:r>
            <a:endParaRPr lang="en-US" sz="2800" b="1" baseline="30000" dirty="0"/>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273028"/>
            <a:ext cx="7178704" cy="1249701"/>
          </a:xfrm>
          <a:prstGeom prst="rect">
            <a:avLst/>
          </a:prstGeom>
          <a:noFill/>
        </p:spPr>
        <p:txBody>
          <a:bodyPr vert="horz" wrap="square" lIns="0" tIns="0" rIns="0" bIns="0" rtlCol="0">
            <a:spAutoFit/>
          </a:bodyPr>
          <a:lstStyle/>
          <a:p>
            <a:pPr>
              <a:lnSpc>
                <a:spcPts val="5060"/>
              </a:lnSpc>
            </a:pPr>
            <a:r>
              <a:rPr lang="en-US" sz="3200" b="1" dirty="0"/>
              <a:t>Worst−Case Time Complexity (Sequential Search)</a:t>
            </a:r>
            <a:endParaRPr lang="en-CA" sz="3000" b="1" dirty="0">
              <a:solidFill>
                <a:srgbClr val="000000"/>
              </a:solidFill>
              <a:latin typeface="Times New Roman Bold"/>
              <a:cs typeface="Times New Roman Bold"/>
            </a:endParaRPr>
          </a:p>
        </p:txBody>
      </p:sp>
      <p:sp>
        <p:nvSpPr>
          <p:cNvPr id="3" name="TextBox 3"/>
          <p:cNvSpPr txBox="1"/>
          <p:nvPr/>
        </p:nvSpPr>
        <p:spPr>
          <a:xfrm>
            <a:off x="214314" y="1786683"/>
            <a:ext cx="8904286" cy="4739759"/>
          </a:xfrm>
          <a:prstGeom prst="rect">
            <a:avLst/>
          </a:prstGeom>
          <a:noFill/>
        </p:spPr>
        <p:txBody>
          <a:bodyPr vert="horz" wrap="square" lIns="0" tIns="0" rIns="0" bIns="0" rtlCol="0">
            <a:spAutoFit/>
          </a:bodyPr>
          <a:lstStyle/>
          <a:p>
            <a:r>
              <a:rPr lang="en-US" sz="2800" b="1" dirty="0"/>
              <a:t>The basic operation is done at most n times, which is the case if x is the last item in the array or if x is not in the array. Therefore</a:t>
            </a:r>
          </a:p>
          <a:p>
            <a:r>
              <a:rPr lang="en-US" sz="2800" b="1" dirty="0"/>
              <a:t>W(n)=n</a:t>
            </a:r>
          </a:p>
          <a:p>
            <a:endParaRPr lang="en-US" sz="2800" b="1" dirty="0"/>
          </a:p>
          <a:p>
            <a:r>
              <a:rPr lang="en-US" sz="2800" b="1" dirty="0"/>
              <a:t>the worst-case analysis informs us of the absolute maximum amount of time consumed</a:t>
            </a:r>
          </a:p>
          <a:p>
            <a:endParaRPr lang="en-US" sz="2800" b="1" dirty="0"/>
          </a:p>
          <a:p>
            <a:r>
              <a:rPr lang="en-US" sz="2800" b="1" dirty="0"/>
              <a:t>A(n) is defined as the average (expected value) of the number of times the algorithm does the basic operation for an input size of n</a:t>
            </a: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273028"/>
            <a:ext cx="7178704" cy="1249701"/>
          </a:xfrm>
          <a:prstGeom prst="rect">
            <a:avLst/>
          </a:prstGeom>
          <a:noFill/>
        </p:spPr>
        <p:txBody>
          <a:bodyPr vert="horz" wrap="square" lIns="0" tIns="0" rIns="0" bIns="0" rtlCol="0">
            <a:spAutoFit/>
          </a:bodyPr>
          <a:lstStyle/>
          <a:p>
            <a:pPr>
              <a:lnSpc>
                <a:spcPts val="5060"/>
              </a:lnSpc>
            </a:pPr>
            <a:r>
              <a:rPr lang="en-US" sz="3200" b="1" dirty="0"/>
              <a:t>Average-Case Time Complexity (Sequential Search)</a:t>
            </a:r>
            <a:endParaRPr lang="en-CA" sz="3000" b="1" dirty="0">
              <a:solidFill>
                <a:srgbClr val="000000"/>
              </a:solidFill>
              <a:latin typeface="Times New Roman Bold"/>
              <a:cs typeface="Times New Roman Bold"/>
            </a:endParaRPr>
          </a:p>
        </p:txBody>
      </p:sp>
      <p:sp>
        <p:nvSpPr>
          <p:cNvPr id="3" name="TextBox 3"/>
          <p:cNvSpPr txBox="1"/>
          <p:nvPr/>
        </p:nvSpPr>
        <p:spPr>
          <a:xfrm>
            <a:off x="214314" y="1786683"/>
            <a:ext cx="8904286" cy="3877985"/>
          </a:xfrm>
          <a:prstGeom prst="rect">
            <a:avLst/>
          </a:prstGeom>
          <a:noFill/>
        </p:spPr>
        <p:txBody>
          <a:bodyPr vert="horz" wrap="square" lIns="0" tIns="0" rIns="0" bIns="0" rtlCol="0">
            <a:spAutoFit/>
          </a:bodyPr>
          <a:lstStyle/>
          <a:p>
            <a:r>
              <a:rPr lang="en-US" sz="2800" b="1" dirty="0"/>
              <a:t>for 1 ≤ k ≤ n, the probability that x is in the </a:t>
            </a:r>
            <a:r>
              <a:rPr lang="en-US" sz="2800" b="1" dirty="0" err="1"/>
              <a:t>kth</a:t>
            </a:r>
            <a:r>
              <a:rPr lang="en-US" sz="2800" b="1" dirty="0"/>
              <a:t> array slot is 1/n. If x is in the </a:t>
            </a:r>
            <a:r>
              <a:rPr lang="en-US" sz="2800" b="1" dirty="0" err="1"/>
              <a:t>kth</a:t>
            </a:r>
            <a:r>
              <a:rPr lang="en-US" sz="2800" b="1" dirty="0"/>
              <a:t> array slot, the number of times the basic operation is done to locate x is k. This means that the average time complexity is given by</a:t>
            </a:r>
          </a:p>
          <a:p>
            <a:endParaRPr lang="en-US" sz="2800" b="1" dirty="0"/>
          </a:p>
          <a:p>
            <a:r>
              <a:rPr lang="en-US" sz="2800" b="1" dirty="0"/>
              <a:t>Sum from  k=1 to n (k* 1/n)=1/n*(n*(n+1)/2 =(n+1)/2</a:t>
            </a:r>
          </a:p>
          <a:p>
            <a:endParaRPr lang="en-US" sz="2800" b="1" dirty="0"/>
          </a:p>
          <a:p>
            <a:endParaRPr lang="en-US" sz="2800" b="1" dirty="0"/>
          </a:p>
          <a:p>
            <a:r>
              <a:rPr lang="en-US" sz="2800" b="1" dirty="0"/>
              <a:t>If x is not in array  p probability if found and (1-p) if  not.  </a:t>
            </a: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273028"/>
            <a:ext cx="7178704" cy="1249701"/>
          </a:xfrm>
          <a:prstGeom prst="rect">
            <a:avLst/>
          </a:prstGeom>
          <a:noFill/>
        </p:spPr>
        <p:txBody>
          <a:bodyPr vert="horz" wrap="square" lIns="0" tIns="0" rIns="0" bIns="0" rtlCol="0">
            <a:spAutoFit/>
          </a:bodyPr>
          <a:lstStyle/>
          <a:p>
            <a:pPr>
              <a:lnSpc>
                <a:spcPts val="5060"/>
              </a:lnSpc>
            </a:pPr>
            <a:r>
              <a:rPr lang="en-US" sz="3200" b="1" dirty="0"/>
              <a:t>Best-Case Time Complexity (sequential Search)</a:t>
            </a:r>
            <a:endParaRPr lang="en-CA" sz="3000" b="1" dirty="0">
              <a:solidFill>
                <a:srgbClr val="000000"/>
              </a:solidFill>
              <a:latin typeface="Times New Roman Bold"/>
              <a:cs typeface="Times New Roman Bold"/>
            </a:endParaRPr>
          </a:p>
        </p:txBody>
      </p:sp>
      <p:sp>
        <p:nvSpPr>
          <p:cNvPr id="3" name="TextBox 3"/>
          <p:cNvSpPr txBox="1"/>
          <p:nvPr/>
        </p:nvSpPr>
        <p:spPr>
          <a:xfrm>
            <a:off x="214314" y="1786683"/>
            <a:ext cx="8904286" cy="4739759"/>
          </a:xfrm>
          <a:prstGeom prst="rect">
            <a:avLst/>
          </a:prstGeom>
          <a:noFill/>
        </p:spPr>
        <p:txBody>
          <a:bodyPr vert="horz" wrap="square" lIns="0" tIns="0" rIns="0" bIns="0" rtlCol="0">
            <a:spAutoFit/>
          </a:bodyPr>
          <a:lstStyle/>
          <a:p>
            <a:r>
              <a:rPr lang="en-US" sz="2800" dirty="0"/>
              <a:t>Because </a:t>
            </a:r>
            <a:r>
              <a:rPr lang="en-US" sz="2800" i="1" dirty="0"/>
              <a:t>n</a:t>
            </a:r>
            <a:r>
              <a:rPr lang="en-US" sz="2800" dirty="0"/>
              <a:t> ≥ 1, there must be at least one pass through the loop, If </a:t>
            </a:r>
            <a:r>
              <a:rPr lang="en-US" sz="2800" i="1" dirty="0"/>
              <a:t>x</a:t>
            </a:r>
            <a:r>
              <a:rPr lang="en-US" sz="2800" dirty="0"/>
              <a:t> = </a:t>
            </a:r>
            <a:r>
              <a:rPr lang="en-US" sz="2800" i="1" dirty="0"/>
              <a:t>S</a:t>
            </a:r>
            <a:r>
              <a:rPr lang="en-US" sz="2800" dirty="0"/>
              <a:t>[1], there will be one pass through the loop regardless of the size of n. Therefore,</a:t>
            </a:r>
          </a:p>
          <a:p>
            <a:r>
              <a:rPr lang="en-US" sz="2800" dirty="0"/>
              <a:t>B(n)=1</a:t>
            </a:r>
          </a:p>
          <a:p>
            <a:endParaRPr lang="en-US" sz="2800" i="1" dirty="0"/>
          </a:p>
          <a:p>
            <a:r>
              <a:rPr lang="en-US" sz="2800" i="1" dirty="0"/>
              <a:t>complexity function</a:t>
            </a:r>
            <a:r>
              <a:rPr lang="en-US" sz="2800" dirty="0"/>
              <a:t> can be any function that maps the positive integers to the nonnegative </a:t>
            </a:r>
            <a:r>
              <a:rPr lang="en-US" sz="2800" dirty="0" err="1"/>
              <a:t>reals</a:t>
            </a:r>
            <a:r>
              <a:rPr lang="en-US" sz="2800" dirty="0"/>
              <a:t>. When not referring to the time complexity or memory complexity for some particular algorithm, we will usually use standard function notation, such as </a:t>
            </a:r>
            <a:r>
              <a:rPr lang="en-US" sz="2800" i="1" dirty="0"/>
              <a:t>f</a:t>
            </a:r>
            <a:r>
              <a:rPr lang="en-US" sz="2800" dirty="0"/>
              <a:t>(</a:t>
            </a:r>
            <a:r>
              <a:rPr lang="en-US" sz="2800" i="1" dirty="0"/>
              <a:t>n</a:t>
            </a:r>
            <a:r>
              <a:rPr lang="en-US" sz="2800" dirty="0"/>
              <a:t>) and </a:t>
            </a:r>
            <a:r>
              <a:rPr lang="en-US" sz="2800" i="1" dirty="0"/>
              <a:t>g(n</a:t>
            </a:r>
            <a:r>
              <a:rPr lang="en-US" sz="2800" dirty="0"/>
              <a:t>), to represent complexity functions. Like f(n) =n or f(n) = n</a:t>
            </a:r>
            <a:r>
              <a:rPr lang="en-US" sz="2800" baseline="30000" dirty="0"/>
              <a:t>2</a:t>
            </a: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273028"/>
            <a:ext cx="7178704" cy="595676"/>
          </a:xfrm>
          <a:prstGeom prst="rect">
            <a:avLst/>
          </a:prstGeom>
          <a:noFill/>
        </p:spPr>
        <p:txBody>
          <a:bodyPr vert="horz" wrap="square" lIns="0" tIns="0" rIns="0" bIns="0" rtlCol="0">
            <a:spAutoFit/>
          </a:bodyPr>
          <a:lstStyle/>
          <a:p>
            <a:pPr>
              <a:lnSpc>
                <a:spcPts val="5060"/>
              </a:lnSpc>
            </a:pPr>
            <a:r>
              <a:rPr lang="en-US" sz="3200" b="1" dirty="0"/>
              <a:t>Applying the Theory</a:t>
            </a:r>
            <a:endParaRPr lang="en-CA" sz="3000" b="1" dirty="0">
              <a:solidFill>
                <a:srgbClr val="000000"/>
              </a:solidFill>
              <a:latin typeface="Times New Roman Bold"/>
              <a:cs typeface="Times New Roman Bold"/>
            </a:endParaRPr>
          </a:p>
        </p:txBody>
      </p:sp>
      <p:sp>
        <p:nvSpPr>
          <p:cNvPr id="3" name="TextBox 3"/>
          <p:cNvSpPr txBox="1"/>
          <p:nvPr/>
        </p:nvSpPr>
        <p:spPr>
          <a:xfrm>
            <a:off x="214314" y="1375371"/>
            <a:ext cx="8904286" cy="4739759"/>
          </a:xfrm>
          <a:prstGeom prst="rect">
            <a:avLst/>
          </a:prstGeom>
          <a:noFill/>
        </p:spPr>
        <p:txBody>
          <a:bodyPr vert="horz" wrap="square" lIns="0" tIns="0" rIns="0" bIns="0" rtlCol="0">
            <a:spAutoFit/>
          </a:bodyPr>
          <a:lstStyle/>
          <a:p>
            <a:r>
              <a:rPr lang="en-US" sz="2200" dirty="0"/>
              <a:t>Suppose we have two algorithms for the same problem with the following every-case time complexities: </a:t>
            </a:r>
            <a:r>
              <a:rPr lang="en-US" sz="2200" i="1" dirty="0"/>
              <a:t>n</a:t>
            </a:r>
            <a:r>
              <a:rPr lang="en-US" sz="2200" dirty="0"/>
              <a:t> for the first algorithm and </a:t>
            </a:r>
            <a:r>
              <a:rPr lang="en-US" sz="2200" i="1" dirty="0"/>
              <a:t>n</a:t>
            </a:r>
            <a:r>
              <a:rPr lang="en-US" sz="2200" baseline="30000" dirty="0"/>
              <a:t>2</a:t>
            </a:r>
            <a:r>
              <a:rPr lang="en-US" sz="2200" dirty="0"/>
              <a:t> for the second algorithm. The first algorithm appears more efficient. Suppose, however, a given computer takes 1,000 times as long to process the basic operation once in the first algorithm as it takes to process the basic operation once in the second algorithm. By "process" we mean that we are including the time it takes to execute the control instructions. Therefore, if </a:t>
            </a:r>
            <a:r>
              <a:rPr lang="en-US" sz="2200" i="1" dirty="0"/>
              <a:t>t</a:t>
            </a:r>
            <a:r>
              <a:rPr lang="en-US" sz="2200" dirty="0"/>
              <a:t> is the time required to process the basic operation once in the second algorithm, 1,000</a:t>
            </a:r>
            <a:r>
              <a:rPr lang="en-US" sz="2200" i="1" dirty="0"/>
              <a:t>t</a:t>
            </a:r>
            <a:r>
              <a:rPr lang="en-US" sz="2200" dirty="0"/>
              <a:t> is the time required to process the basic operation once in the first algorithm. </a:t>
            </a:r>
          </a:p>
          <a:p>
            <a:r>
              <a:rPr lang="en-US" sz="2200" dirty="0"/>
              <a:t>This means the times it takes the computer to process an instance of size </a:t>
            </a:r>
            <a:r>
              <a:rPr lang="en-US" sz="2200" i="1" dirty="0"/>
              <a:t>n</a:t>
            </a:r>
            <a:r>
              <a:rPr lang="en-US" sz="2200" dirty="0"/>
              <a:t> are </a:t>
            </a:r>
            <a:r>
              <a:rPr lang="en-US" sz="2200" i="1" dirty="0"/>
              <a:t>n</a:t>
            </a:r>
            <a:r>
              <a:rPr lang="en-US" sz="2200" dirty="0"/>
              <a:t> × 1,000</a:t>
            </a:r>
            <a:r>
              <a:rPr lang="en-US" sz="2200" i="1" dirty="0"/>
              <a:t>t </a:t>
            </a:r>
            <a:r>
              <a:rPr lang="en-US" sz="2200" dirty="0"/>
              <a:t> for the first algorithm and </a:t>
            </a:r>
          </a:p>
          <a:p>
            <a:r>
              <a:rPr lang="en-US" sz="2200" i="1" dirty="0"/>
              <a:t>n</a:t>
            </a:r>
            <a:r>
              <a:rPr lang="en-US" sz="2200" baseline="30000" dirty="0"/>
              <a:t>2</a:t>
            </a:r>
            <a:r>
              <a:rPr lang="en-US" sz="2200" dirty="0"/>
              <a:t> × </a:t>
            </a:r>
            <a:r>
              <a:rPr lang="en-US" sz="2200" i="1" dirty="0"/>
              <a:t>t </a:t>
            </a:r>
            <a:r>
              <a:rPr lang="en-US" sz="2200" dirty="0"/>
              <a:t> for the second algorithm. We must solve the following inequality to determine when the first algorithm is more efficient:</a:t>
            </a:r>
          </a:p>
          <a:p>
            <a:r>
              <a:rPr lang="en-US" sz="2200" dirty="0"/>
              <a:t>n</a:t>
            </a:r>
            <a:r>
              <a:rPr lang="en-US" sz="2200" baseline="30000" dirty="0"/>
              <a:t>2</a:t>
            </a:r>
            <a:r>
              <a:rPr lang="en-US" sz="2200" dirty="0"/>
              <a:t>*t  &gt;n*1000t     div by </a:t>
            </a:r>
            <a:r>
              <a:rPr lang="en-US" sz="2200" dirty="0" err="1"/>
              <a:t>nt</a:t>
            </a:r>
            <a:r>
              <a:rPr lang="en-US" sz="2200" dirty="0"/>
              <a:t>     n &gt;1000</a:t>
            </a: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dirty="0">
                <a:solidFill>
                  <a:srgbClr val="000000"/>
                </a:solidFill>
                <a:latin typeface="Times New Roman"/>
                <a:cs typeface="Times New Roman"/>
              </a:rPr>
              <a:t>L1.52</a:t>
            </a:r>
          </a:p>
          <a:p>
            <a:pPr>
              <a:lnSpc>
                <a:spcPts val="1610"/>
              </a:lnSpc>
            </a:pP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273028"/>
            <a:ext cx="7178704" cy="595676"/>
          </a:xfrm>
          <a:prstGeom prst="rect">
            <a:avLst/>
          </a:prstGeom>
          <a:noFill/>
        </p:spPr>
        <p:txBody>
          <a:bodyPr vert="horz" wrap="square" lIns="0" tIns="0" rIns="0" bIns="0" rtlCol="0">
            <a:spAutoFit/>
          </a:bodyPr>
          <a:lstStyle/>
          <a:p>
            <a:pPr>
              <a:lnSpc>
                <a:spcPts val="5060"/>
              </a:lnSpc>
            </a:pPr>
            <a:r>
              <a:rPr lang="en-US" sz="3200" b="1" dirty="0"/>
              <a:t>Order </a:t>
            </a:r>
            <a:endParaRPr lang="en-CA" sz="3000" b="1" dirty="0">
              <a:solidFill>
                <a:srgbClr val="000000"/>
              </a:solidFill>
              <a:latin typeface="Times New Roman Bold"/>
              <a:cs typeface="Times New Roman Bold"/>
            </a:endParaRPr>
          </a:p>
        </p:txBody>
      </p:sp>
      <p:sp>
        <p:nvSpPr>
          <p:cNvPr id="3" name="TextBox 3"/>
          <p:cNvSpPr txBox="1"/>
          <p:nvPr/>
        </p:nvSpPr>
        <p:spPr>
          <a:xfrm>
            <a:off x="214314" y="1558912"/>
            <a:ext cx="8904286" cy="5170646"/>
          </a:xfrm>
          <a:prstGeom prst="rect">
            <a:avLst/>
          </a:prstGeom>
          <a:noFill/>
        </p:spPr>
        <p:txBody>
          <a:bodyPr vert="horz" wrap="square" lIns="0" tIns="0" rIns="0" bIns="0" rtlCol="0">
            <a:spAutoFit/>
          </a:bodyPr>
          <a:lstStyle/>
          <a:p>
            <a:r>
              <a:rPr lang="en-US" sz="2400" b="1" dirty="0"/>
              <a:t>We just illustrated that an algorithm with a time complexity of n is more efficient than one with a time complexity of n</a:t>
            </a:r>
            <a:r>
              <a:rPr lang="en-US" sz="2400" b="1" baseline="30000" dirty="0"/>
              <a:t>2</a:t>
            </a:r>
          </a:p>
          <a:p>
            <a:endParaRPr lang="en-US" sz="2400" b="1" dirty="0"/>
          </a:p>
          <a:p>
            <a:r>
              <a:rPr lang="en-US" sz="2400" b="1" dirty="0"/>
              <a:t>every-case time complexities are 100n for the first algorithm and 0.01n</a:t>
            </a:r>
            <a:r>
              <a:rPr lang="en-US" sz="2400" b="1" baseline="30000" dirty="0"/>
              <a:t>2</a:t>
            </a:r>
            <a:r>
              <a:rPr lang="en-US" sz="2400" b="1" dirty="0"/>
              <a:t> for the second algorithm.</a:t>
            </a:r>
          </a:p>
          <a:p>
            <a:r>
              <a:rPr lang="en-US" sz="2400" b="1" dirty="0"/>
              <a:t>the first algorithm will be more efficient if</a:t>
            </a:r>
          </a:p>
          <a:p>
            <a:r>
              <a:rPr lang="en-US" sz="2400" b="1" dirty="0"/>
              <a:t>0.01n</a:t>
            </a:r>
            <a:r>
              <a:rPr lang="en-US" sz="2400" b="1" baseline="30000" dirty="0"/>
              <a:t>2 </a:t>
            </a:r>
            <a:r>
              <a:rPr lang="en-US" sz="2400" b="1" dirty="0"/>
              <a:t> &gt; 100n</a:t>
            </a:r>
          </a:p>
          <a:p>
            <a:r>
              <a:rPr lang="en-US" sz="2400" b="1" dirty="0"/>
              <a:t>There is a fundamental principle here. That is, any linear-time algorithm is eventually more efficient than any quadratic-time algorithm. Next we will show how algorithms can be grouped according to their eventual behavior. In this way we can readily determine whether one algorithm's eventual behavior is better than another's</a:t>
            </a:r>
          </a:p>
          <a:p>
            <a:endParaRPr lang="en-US" sz="2400" b="1" dirty="0"/>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273028"/>
            <a:ext cx="7178704" cy="595676"/>
          </a:xfrm>
          <a:prstGeom prst="rect">
            <a:avLst/>
          </a:prstGeom>
          <a:noFill/>
        </p:spPr>
        <p:txBody>
          <a:bodyPr vert="horz" wrap="square" lIns="0" tIns="0" rIns="0" bIns="0" rtlCol="0">
            <a:spAutoFit/>
          </a:bodyPr>
          <a:lstStyle/>
          <a:p>
            <a:pPr>
              <a:lnSpc>
                <a:spcPts val="5060"/>
              </a:lnSpc>
            </a:pPr>
            <a:r>
              <a:rPr lang="en-US" sz="3200" b="1" dirty="0"/>
              <a:t>Order </a:t>
            </a:r>
            <a:endParaRPr lang="en-CA" sz="3000" b="1" dirty="0">
              <a:solidFill>
                <a:srgbClr val="000000"/>
              </a:solidFill>
              <a:latin typeface="Times New Roman Bold"/>
              <a:cs typeface="Times New Roman Bold"/>
            </a:endParaRPr>
          </a:p>
        </p:txBody>
      </p:sp>
      <p:sp>
        <p:nvSpPr>
          <p:cNvPr id="3" name="TextBox 3"/>
          <p:cNvSpPr txBox="1"/>
          <p:nvPr/>
        </p:nvSpPr>
        <p:spPr>
          <a:xfrm>
            <a:off x="214314" y="1273160"/>
            <a:ext cx="8904286" cy="3046988"/>
          </a:xfrm>
          <a:prstGeom prst="rect">
            <a:avLst/>
          </a:prstGeom>
          <a:noFill/>
        </p:spPr>
        <p:txBody>
          <a:bodyPr vert="horz" wrap="square" lIns="0" tIns="0" rIns="0" bIns="0" rtlCol="0">
            <a:spAutoFit/>
          </a:bodyPr>
          <a:lstStyle/>
          <a:p>
            <a:pPr marL="457200" indent="-457200">
              <a:buFont typeface="+mj-lt"/>
              <a:buAutoNum type="arabicPeriod"/>
            </a:pPr>
            <a:r>
              <a:rPr lang="en-US" sz="2200" b="1" dirty="0"/>
              <a:t>Functions such as 5n</a:t>
            </a:r>
            <a:r>
              <a:rPr lang="en-US" sz="2200" b="1" baseline="30000" dirty="0"/>
              <a:t>2</a:t>
            </a:r>
            <a:r>
              <a:rPr lang="en-US" sz="2200" b="1" dirty="0"/>
              <a:t> and 5n</a:t>
            </a:r>
            <a:r>
              <a:rPr lang="en-US" sz="2200" b="1" baseline="30000" dirty="0"/>
              <a:t>2 </a:t>
            </a:r>
            <a:r>
              <a:rPr lang="en-US" sz="2200" b="1" dirty="0"/>
              <a:t>+ 100 are called pure quadratic functions because they contain no linear term</a:t>
            </a:r>
          </a:p>
          <a:p>
            <a:pPr marL="457200" indent="-457200">
              <a:buFont typeface="+mj-lt"/>
              <a:buAutoNum type="arabicPeriod"/>
            </a:pPr>
            <a:r>
              <a:rPr lang="en-US" sz="2200" b="1" dirty="0"/>
              <a:t>whereas a function such as 0. 1n</a:t>
            </a:r>
            <a:r>
              <a:rPr lang="en-US" sz="2200" b="1" baseline="30000" dirty="0"/>
              <a:t>2</a:t>
            </a:r>
            <a:r>
              <a:rPr lang="en-US" sz="2200" b="1" dirty="0"/>
              <a:t> + n + 100 is called a complete quadratic function </a:t>
            </a:r>
            <a:r>
              <a:rPr lang="en-US" sz="2200" b="1" dirty="0" err="1"/>
              <a:t>becanse</a:t>
            </a:r>
            <a:r>
              <a:rPr lang="en-US" sz="2200" b="1" dirty="0"/>
              <a:t> it contains a linear term</a:t>
            </a:r>
          </a:p>
          <a:p>
            <a:pPr marL="457200" indent="-457200">
              <a:buFont typeface="+mj-lt"/>
              <a:buAutoNum type="arabicPeriod"/>
            </a:pPr>
            <a:r>
              <a:rPr lang="en-US" sz="2200" b="1" dirty="0"/>
              <a:t>Next table shows that eventually the quadratic term dominates this function That is, the values of the other terms eventually become insignificant compared with the value of the quadratic term</a:t>
            </a:r>
          </a:p>
          <a:p>
            <a:pPr marL="457200" indent="-457200">
              <a:buFont typeface="+mj-lt"/>
              <a:buAutoNum type="arabicPeriod"/>
            </a:pPr>
            <a:r>
              <a:rPr lang="en-US" sz="2200" b="1" dirty="0"/>
              <a:t>Therefore, although the function is not a pure quadratic function, we can classify it with the pure quadratic functions</a:t>
            </a:r>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graphicFrame>
        <p:nvGraphicFramePr>
          <p:cNvPr id="12" name="Table 11"/>
          <p:cNvGraphicFramePr>
            <a:graphicFrameLocks noGrp="1"/>
          </p:cNvGraphicFramePr>
          <p:nvPr/>
        </p:nvGraphicFramePr>
        <p:xfrm>
          <a:off x="773086" y="4344994"/>
          <a:ext cx="6929487" cy="2225040"/>
        </p:xfrm>
        <a:graphic>
          <a:graphicData uri="http://schemas.openxmlformats.org/drawingml/2006/table">
            <a:tbl>
              <a:tblPr firstRow="1" bandRow="1">
                <a:tableStyleId>{5C22544A-7EE6-4342-B048-85BDC9FD1C3A}</a:tableStyleId>
              </a:tblPr>
              <a:tblGrid>
                <a:gridCol w="2309829">
                  <a:extLst>
                    <a:ext uri="{9D8B030D-6E8A-4147-A177-3AD203B41FA5}">
                      <a16:colId xmlns:a16="http://schemas.microsoft.com/office/drawing/2014/main" val="20000"/>
                    </a:ext>
                  </a:extLst>
                </a:gridCol>
                <a:gridCol w="2309829">
                  <a:extLst>
                    <a:ext uri="{9D8B030D-6E8A-4147-A177-3AD203B41FA5}">
                      <a16:colId xmlns:a16="http://schemas.microsoft.com/office/drawing/2014/main" val="20001"/>
                    </a:ext>
                  </a:extLst>
                </a:gridCol>
                <a:gridCol w="2309829">
                  <a:extLst>
                    <a:ext uri="{9D8B030D-6E8A-4147-A177-3AD203B41FA5}">
                      <a16:colId xmlns:a16="http://schemas.microsoft.com/office/drawing/2014/main" val="20002"/>
                    </a:ext>
                  </a:extLst>
                </a:gridCol>
              </a:tblGrid>
              <a:tr h="370840">
                <a:tc>
                  <a:txBody>
                    <a:bodyPr/>
                    <a:lstStyle/>
                    <a:p>
                      <a:pPr algn="r"/>
                      <a:r>
                        <a:rPr lang="en-US" sz="1600" i="1" dirty="0"/>
                        <a:t>n</a:t>
                      </a:r>
                      <a:r>
                        <a:rPr lang="en-US" sz="1600" dirty="0"/>
                        <a:t> </a:t>
                      </a:r>
                    </a:p>
                  </a:txBody>
                  <a:tcPr/>
                </a:tc>
                <a:tc>
                  <a:txBody>
                    <a:bodyPr/>
                    <a:lstStyle/>
                    <a:p>
                      <a:pPr algn="r"/>
                      <a:r>
                        <a:rPr lang="en-US" sz="1600"/>
                        <a:t>0.1</a:t>
                      </a:r>
                      <a:r>
                        <a:rPr lang="en-US" sz="1600" i="1"/>
                        <a:t>n</a:t>
                      </a:r>
                      <a:r>
                        <a:rPr lang="en-US" sz="1600" baseline="30000"/>
                        <a:t>2</a:t>
                      </a:r>
                      <a:r>
                        <a:rPr lang="en-US" sz="1600"/>
                        <a:t> </a:t>
                      </a:r>
                    </a:p>
                  </a:txBody>
                  <a:tcPr/>
                </a:tc>
                <a:tc>
                  <a:txBody>
                    <a:bodyPr/>
                    <a:lstStyle/>
                    <a:p>
                      <a:pPr algn="r"/>
                      <a:r>
                        <a:rPr lang="en-US" sz="1600"/>
                        <a:t>0.1</a:t>
                      </a:r>
                      <a:r>
                        <a:rPr lang="en-US" sz="1600" i="1"/>
                        <a:t>n</a:t>
                      </a:r>
                      <a:r>
                        <a:rPr lang="en-US" sz="1600" baseline="30000"/>
                        <a:t>2</a:t>
                      </a:r>
                      <a:r>
                        <a:rPr lang="en-US" sz="1600"/>
                        <a:t> + </a:t>
                      </a:r>
                      <a:r>
                        <a:rPr lang="en-US" sz="1600" i="1"/>
                        <a:t>n</a:t>
                      </a:r>
                      <a:r>
                        <a:rPr lang="en-US" sz="1600"/>
                        <a:t> + 100</a:t>
                      </a:r>
                    </a:p>
                  </a:txBody>
                  <a:tcPr/>
                </a:tc>
                <a:extLst>
                  <a:ext uri="{0D108BD9-81ED-4DB2-BD59-A6C34878D82A}">
                    <a16:rowId xmlns:a16="http://schemas.microsoft.com/office/drawing/2014/main" val="10000"/>
                  </a:ext>
                </a:extLst>
              </a:tr>
              <a:tr h="370840">
                <a:tc>
                  <a:txBody>
                    <a:bodyPr/>
                    <a:lstStyle/>
                    <a:p>
                      <a:pPr algn="r"/>
                      <a:r>
                        <a:rPr lang="en-US" sz="1600"/>
                        <a:t>10</a:t>
                      </a:r>
                    </a:p>
                  </a:txBody>
                  <a:tcPr/>
                </a:tc>
                <a:tc>
                  <a:txBody>
                    <a:bodyPr/>
                    <a:lstStyle/>
                    <a:p>
                      <a:pPr algn="r"/>
                      <a:r>
                        <a:rPr lang="en-US" sz="1600"/>
                        <a:t>10</a:t>
                      </a:r>
                    </a:p>
                  </a:txBody>
                  <a:tcPr/>
                </a:tc>
                <a:tc>
                  <a:txBody>
                    <a:bodyPr/>
                    <a:lstStyle/>
                    <a:p>
                      <a:pPr algn="r"/>
                      <a:r>
                        <a:rPr lang="en-US" sz="1600"/>
                        <a:t>120</a:t>
                      </a:r>
                    </a:p>
                  </a:txBody>
                  <a:tcPr/>
                </a:tc>
                <a:extLst>
                  <a:ext uri="{0D108BD9-81ED-4DB2-BD59-A6C34878D82A}">
                    <a16:rowId xmlns:a16="http://schemas.microsoft.com/office/drawing/2014/main" val="10001"/>
                  </a:ext>
                </a:extLst>
              </a:tr>
              <a:tr h="370840">
                <a:tc>
                  <a:txBody>
                    <a:bodyPr/>
                    <a:lstStyle/>
                    <a:p>
                      <a:pPr algn="r"/>
                      <a:r>
                        <a:rPr lang="en-US" sz="1600"/>
                        <a:t>20</a:t>
                      </a:r>
                    </a:p>
                  </a:txBody>
                  <a:tcPr/>
                </a:tc>
                <a:tc>
                  <a:txBody>
                    <a:bodyPr/>
                    <a:lstStyle/>
                    <a:p>
                      <a:pPr algn="r"/>
                      <a:r>
                        <a:rPr lang="en-US" sz="1600"/>
                        <a:t>40</a:t>
                      </a:r>
                    </a:p>
                  </a:txBody>
                  <a:tcPr/>
                </a:tc>
                <a:tc>
                  <a:txBody>
                    <a:bodyPr/>
                    <a:lstStyle/>
                    <a:p>
                      <a:pPr algn="r"/>
                      <a:r>
                        <a:rPr lang="en-US" sz="1600"/>
                        <a:t>160</a:t>
                      </a:r>
                    </a:p>
                  </a:txBody>
                  <a:tcPr/>
                </a:tc>
                <a:extLst>
                  <a:ext uri="{0D108BD9-81ED-4DB2-BD59-A6C34878D82A}">
                    <a16:rowId xmlns:a16="http://schemas.microsoft.com/office/drawing/2014/main" val="10002"/>
                  </a:ext>
                </a:extLst>
              </a:tr>
              <a:tr h="370840">
                <a:tc>
                  <a:txBody>
                    <a:bodyPr/>
                    <a:lstStyle/>
                    <a:p>
                      <a:pPr algn="r"/>
                      <a:r>
                        <a:rPr lang="en-US" sz="1600"/>
                        <a:t>50</a:t>
                      </a:r>
                    </a:p>
                  </a:txBody>
                  <a:tcPr/>
                </a:tc>
                <a:tc>
                  <a:txBody>
                    <a:bodyPr/>
                    <a:lstStyle/>
                    <a:p>
                      <a:pPr algn="r"/>
                      <a:r>
                        <a:rPr lang="en-US" sz="1600"/>
                        <a:t>250</a:t>
                      </a:r>
                    </a:p>
                  </a:txBody>
                  <a:tcPr/>
                </a:tc>
                <a:tc>
                  <a:txBody>
                    <a:bodyPr/>
                    <a:lstStyle/>
                    <a:p>
                      <a:pPr algn="r"/>
                      <a:r>
                        <a:rPr lang="en-US" sz="1600"/>
                        <a:t>400</a:t>
                      </a:r>
                    </a:p>
                  </a:txBody>
                  <a:tcPr/>
                </a:tc>
                <a:extLst>
                  <a:ext uri="{0D108BD9-81ED-4DB2-BD59-A6C34878D82A}">
                    <a16:rowId xmlns:a16="http://schemas.microsoft.com/office/drawing/2014/main" val="10003"/>
                  </a:ext>
                </a:extLst>
              </a:tr>
              <a:tr h="370840">
                <a:tc>
                  <a:txBody>
                    <a:bodyPr/>
                    <a:lstStyle/>
                    <a:p>
                      <a:pPr algn="r"/>
                      <a:r>
                        <a:rPr lang="en-US" sz="1600"/>
                        <a:t>100</a:t>
                      </a:r>
                    </a:p>
                  </a:txBody>
                  <a:tcPr/>
                </a:tc>
                <a:tc>
                  <a:txBody>
                    <a:bodyPr/>
                    <a:lstStyle/>
                    <a:p>
                      <a:pPr algn="r"/>
                      <a:r>
                        <a:rPr lang="en-US" sz="1600"/>
                        <a:t>1,000</a:t>
                      </a:r>
                    </a:p>
                  </a:txBody>
                  <a:tcPr/>
                </a:tc>
                <a:tc>
                  <a:txBody>
                    <a:bodyPr/>
                    <a:lstStyle/>
                    <a:p>
                      <a:pPr algn="r"/>
                      <a:r>
                        <a:rPr lang="en-US" sz="1600"/>
                        <a:t>1,200</a:t>
                      </a:r>
                    </a:p>
                  </a:txBody>
                  <a:tcPr/>
                </a:tc>
                <a:extLst>
                  <a:ext uri="{0D108BD9-81ED-4DB2-BD59-A6C34878D82A}">
                    <a16:rowId xmlns:a16="http://schemas.microsoft.com/office/drawing/2014/main" val="10004"/>
                  </a:ext>
                </a:extLst>
              </a:tr>
              <a:tr h="370840">
                <a:tc>
                  <a:txBody>
                    <a:bodyPr/>
                    <a:lstStyle/>
                    <a:p>
                      <a:pPr algn="r"/>
                      <a:r>
                        <a:rPr lang="en-US" sz="1600"/>
                        <a:t>1,000</a:t>
                      </a:r>
                    </a:p>
                  </a:txBody>
                  <a:tcPr/>
                </a:tc>
                <a:tc>
                  <a:txBody>
                    <a:bodyPr/>
                    <a:lstStyle/>
                    <a:p>
                      <a:pPr algn="r"/>
                      <a:r>
                        <a:rPr lang="en-US" sz="1600"/>
                        <a:t>100,000</a:t>
                      </a:r>
                    </a:p>
                  </a:txBody>
                  <a:tcPr/>
                </a:tc>
                <a:tc>
                  <a:txBody>
                    <a:bodyPr/>
                    <a:lstStyle/>
                    <a:p>
                      <a:pPr algn="r"/>
                      <a:r>
                        <a:rPr lang="en-US" sz="1600" dirty="0"/>
                        <a:t>101,100</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273028"/>
            <a:ext cx="7178704" cy="595676"/>
          </a:xfrm>
          <a:prstGeom prst="rect">
            <a:avLst/>
          </a:prstGeom>
          <a:noFill/>
        </p:spPr>
        <p:txBody>
          <a:bodyPr vert="horz" wrap="square" lIns="0" tIns="0" rIns="0" bIns="0" rtlCol="0">
            <a:spAutoFit/>
          </a:bodyPr>
          <a:lstStyle/>
          <a:p>
            <a:pPr>
              <a:lnSpc>
                <a:spcPts val="5060"/>
              </a:lnSpc>
            </a:pPr>
            <a:r>
              <a:rPr lang="en-US" sz="3200" b="1" dirty="0"/>
              <a:t>Order </a:t>
            </a:r>
            <a:endParaRPr lang="en-CA" sz="3000" b="1" dirty="0">
              <a:solidFill>
                <a:srgbClr val="000000"/>
              </a:solidFill>
              <a:latin typeface="Times New Roman Bold"/>
              <a:cs typeface="Times New Roman Bold"/>
            </a:endParaRPr>
          </a:p>
        </p:txBody>
      </p:sp>
      <p:sp>
        <p:nvSpPr>
          <p:cNvPr id="3" name="TextBox 3"/>
          <p:cNvSpPr txBox="1"/>
          <p:nvPr/>
        </p:nvSpPr>
        <p:spPr>
          <a:xfrm>
            <a:off x="214314" y="1558912"/>
            <a:ext cx="8904286" cy="5170646"/>
          </a:xfrm>
          <a:prstGeom prst="rect">
            <a:avLst/>
          </a:prstGeom>
          <a:noFill/>
        </p:spPr>
        <p:txBody>
          <a:bodyPr vert="horz" wrap="square" lIns="0" tIns="0" rIns="0" bIns="0" rtlCol="0">
            <a:spAutoFit/>
          </a:bodyPr>
          <a:lstStyle/>
          <a:p>
            <a:r>
              <a:rPr lang="en-US" sz="2800" b="1" dirty="0"/>
              <a:t>The set of all complexity functions that can be classified with pure quadratic functions is called Θ(n</a:t>
            </a:r>
            <a:r>
              <a:rPr lang="en-US" sz="2800" b="1" baseline="30000" dirty="0"/>
              <a:t>2</a:t>
            </a:r>
            <a:r>
              <a:rPr lang="en-US" sz="2800" b="1" dirty="0"/>
              <a:t>), where Θ is the Greek capital letter "theta." If a function is a member of the set Θ(n</a:t>
            </a:r>
            <a:r>
              <a:rPr lang="en-US" sz="2800" b="1" baseline="30000" dirty="0"/>
              <a:t>2</a:t>
            </a:r>
            <a:r>
              <a:rPr lang="en-US" sz="2800" b="1" dirty="0"/>
              <a:t>), we say that the function is order of n</a:t>
            </a:r>
            <a:r>
              <a:rPr lang="en-US" sz="2800" b="1" baseline="30000" dirty="0"/>
              <a:t>2</a:t>
            </a:r>
            <a:r>
              <a:rPr lang="en-US" sz="2800" b="1" dirty="0"/>
              <a:t>. For example, because we can throw away low-order terms</a:t>
            </a:r>
          </a:p>
          <a:p>
            <a:endParaRPr lang="en-US" sz="2800" b="1" dirty="0"/>
          </a:p>
          <a:p>
            <a:r>
              <a:rPr lang="en-US" sz="2800" b="1" dirty="0"/>
              <a:t>g(n)=5n</a:t>
            </a:r>
            <a:r>
              <a:rPr lang="en-US" sz="2800" b="1" baseline="30000" dirty="0"/>
              <a:t>2</a:t>
            </a:r>
            <a:r>
              <a:rPr lang="en-US" sz="2800" b="1" dirty="0"/>
              <a:t> + 100n +20 Ɛ  Θ(n</a:t>
            </a:r>
            <a:r>
              <a:rPr lang="en-US" sz="2800" b="1" baseline="30000" dirty="0"/>
              <a:t>2</a:t>
            </a:r>
            <a:r>
              <a:rPr lang="en-US" sz="2800" b="1" dirty="0"/>
              <a:t>)</a:t>
            </a:r>
          </a:p>
          <a:p>
            <a:endParaRPr lang="en-US" sz="2800" b="1" dirty="0"/>
          </a:p>
          <a:p>
            <a:r>
              <a:rPr lang="en-US" sz="2800" b="1" dirty="0"/>
              <a:t>Most common categories </a:t>
            </a:r>
          </a:p>
          <a:p>
            <a:r>
              <a:rPr lang="en-US" sz="2800" b="1" dirty="0"/>
              <a:t>Θ(</a:t>
            </a:r>
            <a:r>
              <a:rPr lang="en-US" sz="2800" b="1" dirty="0" err="1"/>
              <a:t>lgn</a:t>
            </a:r>
            <a:r>
              <a:rPr lang="en-US" sz="2800" b="1" dirty="0"/>
              <a:t>) , Θ(n) ,  Θ(</a:t>
            </a:r>
            <a:r>
              <a:rPr lang="en-US" sz="2800" b="1" dirty="0" err="1"/>
              <a:t>nlgn</a:t>
            </a:r>
            <a:r>
              <a:rPr lang="en-US" sz="2800" b="1" dirty="0"/>
              <a:t>) , Θ(n</a:t>
            </a:r>
            <a:r>
              <a:rPr lang="en-US" sz="2800" b="1" baseline="30000" dirty="0"/>
              <a:t>2</a:t>
            </a:r>
            <a:r>
              <a:rPr lang="en-US" sz="2800" b="1" dirty="0"/>
              <a:t>) , Θ(n</a:t>
            </a:r>
            <a:r>
              <a:rPr lang="en-US" sz="2800" b="1" baseline="30000" dirty="0"/>
              <a:t>3</a:t>
            </a:r>
            <a:r>
              <a:rPr lang="en-US" sz="2800" b="1" dirty="0"/>
              <a:t>) , Θ(2</a:t>
            </a:r>
            <a:r>
              <a:rPr lang="en-US" sz="2800" b="1" baseline="30000" dirty="0"/>
              <a:t>n</a:t>
            </a:r>
            <a:r>
              <a:rPr lang="en-US" sz="2800" b="1" dirty="0"/>
              <a:t>)</a:t>
            </a:r>
          </a:p>
          <a:p>
            <a:endParaRPr lang="en-US" sz="2800" b="1" dirty="0"/>
          </a:p>
          <a:p>
            <a:endParaRPr lang="en-US" sz="2800" b="1" dirty="0"/>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p:cNvPicPr>
          <p:nvPr/>
        </p:nvPicPr>
        <p:blipFill>
          <a:blip r:embed="rId2" cstate="print"/>
          <a:stretch>
            <a:fillRect/>
          </a:stretch>
        </p:blipFill>
        <p:spPr>
          <a:xfrm>
            <a:off x="0" y="0"/>
            <a:ext cx="9118600" cy="6832600"/>
          </a:xfrm>
          <a:prstGeom prst="rect">
            <a:avLst/>
          </a:prstGeom>
        </p:spPr>
      </p:pic>
      <p:sp>
        <p:nvSpPr>
          <p:cNvPr id="11" name="TextBox 2"/>
          <p:cNvSpPr txBox="1"/>
          <p:nvPr/>
        </p:nvSpPr>
        <p:spPr>
          <a:xfrm>
            <a:off x="1524000" y="273028"/>
            <a:ext cx="7178704" cy="595676"/>
          </a:xfrm>
          <a:prstGeom prst="rect">
            <a:avLst/>
          </a:prstGeom>
          <a:noFill/>
        </p:spPr>
        <p:txBody>
          <a:bodyPr vert="horz" wrap="square" lIns="0" tIns="0" rIns="0" bIns="0" rtlCol="0">
            <a:spAutoFit/>
          </a:bodyPr>
          <a:lstStyle/>
          <a:p>
            <a:pPr>
              <a:lnSpc>
                <a:spcPts val="5060"/>
              </a:lnSpc>
            </a:pPr>
            <a:r>
              <a:rPr lang="en-US" sz="3200" b="1" dirty="0"/>
              <a:t>Order </a:t>
            </a:r>
            <a:endParaRPr lang="en-CA" sz="3000" b="1" dirty="0">
              <a:solidFill>
                <a:srgbClr val="000000"/>
              </a:solidFill>
              <a:latin typeface="Times New Roman Bold"/>
              <a:cs typeface="Times New Roman Bold"/>
            </a:endParaRPr>
          </a:p>
        </p:txBody>
      </p:sp>
      <p:sp>
        <p:nvSpPr>
          <p:cNvPr id="3" name="TextBox 3"/>
          <p:cNvSpPr txBox="1"/>
          <p:nvPr/>
        </p:nvSpPr>
        <p:spPr>
          <a:xfrm>
            <a:off x="214314" y="1558913"/>
            <a:ext cx="8904286" cy="2585323"/>
          </a:xfrm>
          <a:prstGeom prst="rect">
            <a:avLst/>
          </a:prstGeom>
          <a:noFill/>
        </p:spPr>
        <p:txBody>
          <a:bodyPr vert="horz" wrap="square" lIns="0" tIns="0" rIns="0" bIns="0" rtlCol="0">
            <a:spAutoFit/>
          </a:bodyPr>
          <a:lstStyle/>
          <a:p>
            <a:r>
              <a:rPr lang="en-US" sz="2800" b="1" dirty="0"/>
              <a:t>For a given complexity function f(n), O(f(n)) is the set of complexity functions g(n) for which there exists some positive real constant c and some nonnegative integer N such that for all n ≤ N,</a:t>
            </a:r>
          </a:p>
          <a:p>
            <a:endParaRPr lang="en-US" sz="2800" b="1" dirty="0"/>
          </a:p>
          <a:p>
            <a:endParaRPr lang="en-US" sz="2800" b="1" dirty="0"/>
          </a:p>
        </p:txBody>
      </p:sp>
      <p:sp>
        <p:nvSpPr>
          <p:cNvPr id="7" name="TextBox 7"/>
          <p:cNvSpPr txBox="1"/>
          <p:nvPr/>
        </p:nvSpPr>
        <p:spPr>
          <a:xfrm>
            <a:off x="2590800" y="6426200"/>
            <a:ext cx="43282" cy="359073"/>
          </a:xfrm>
          <a:prstGeom prst="rect">
            <a:avLst/>
          </a:prstGeom>
          <a:noFill/>
        </p:spPr>
        <p:txBody>
          <a:bodyPr vert="horz" wrap="none" lIns="0" tIns="0" rIns="0" bIns="0" rtlCol="0">
            <a:spAutoFit/>
          </a:bodyPr>
          <a:lstStyle/>
          <a:p>
            <a:pPr>
              <a:lnSpc>
                <a:spcPts val="1380"/>
              </a:lnSpc>
            </a:pPr>
            <a:r>
              <a:rPr lang="en-CA" sz="1201" dirty="0">
                <a:solidFill>
                  <a:srgbClr val="000000"/>
                </a:solidFill>
                <a:latin typeface="Times New Roman Italic"/>
                <a:cs typeface="Times New Roman Italic"/>
              </a:rPr>
              <a:t> </a:t>
            </a:r>
          </a:p>
          <a:p>
            <a:pPr>
              <a:lnSpc>
                <a:spcPts val="1380"/>
              </a:lnSpc>
            </a:pPr>
            <a:endParaRPr lang="en-CA" sz="1201" dirty="0">
              <a:solidFill>
                <a:srgbClr val="000000"/>
              </a:solidFill>
            </a:endParaRPr>
          </a:p>
        </p:txBody>
      </p:sp>
      <p:sp>
        <p:nvSpPr>
          <p:cNvPr id="8" name="TextBox 8"/>
          <p:cNvSpPr txBox="1"/>
          <p:nvPr/>
        </p:nvSpPr>
        <p:spPr>
          <a:xfrm>
            <a:off x="762000" y="6578600"/>
            <a:ext cx="947375" cy="375103"/>
          </a:xfrm>
          <a:prstGeom prst="rect">
            <a:avLst/>
          </a:prstGeom>
          <a:noFill/>
        </p:spPr>
        <p:txBody>
          <a:bodyPr vert="horz" wrap="none" lIns="0" tIns="0" rIns="0" bIns="0" rtlCol="0">
            <a:spAutoFit/>
          </a:bodyPr>
          <a:lstStyle/>
          <a:p>
            <a:pPr>
              <a:lnSpc>
                <a:spcPts val="1420"/>
              </a:lnSpc>
            </a:pPr>
            <a:r>
              <a:rPr lang="en-CA" sz="1399" dirty="0" err="1">
                <a:solidFill>
                  <a:srgbClr val="000000"/>
                </a:solidFill>
                <a:latin typeface="Times New Roman"/>
                <a:cs typeface="Times New Roman"/>
              </a:rPr>
              <a:t>feb</a:t>
            </a:r>
            <a:r>
              <a:rPr lang="en-CA" sz="1399" dirty="0">
                <a:solidFill>
                  <a:srgbClr val="000000"/>
                </a:solidFill>
                <a:latin typeface="Times New Roman"/>
                <a:cs typeface="Times New Roman"/>
              </a:rPr>
              <a:t>  13, 2012</a:t>
            </a:r>
          </a:p>
          <a:p>
            <a:pPr>
              <a:lnSpc>
                <a:spcPts val="1420"/>
              </a:lnSpc>
            </a:pPr>
            <a:endParaRPr/>
          </a:p>
        </p:txBody>
      </p:sp>
      <p:sp>
        <p:nvSpPr>
          <p:cNvPr id="9" name="TextBox 9"/>
          <p:cNvSpPr txBox="1"/>
          <p:nvPr/>
        </p:nvSpPr>
        <p:spPr>
          <a:xfrm>
            <a:off x="3594100" y="6578600"/>
            <a:ext cx="21590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Italic"/>
                <a:cs typeface="Times New Roman Italic"/>
              </a:rPr>
              <a:t>Introduction to Algorithms</a:t>
            </a:r>
          </a:p>
          <a:p>
            <a:pPr>
              <a:lnSpc>
                <a:spcPts val="1610"/>
              </a:lnSpc>
            </a:pPr>
            <a:endParaRPr/>
          </a:p>
        </p:txBody>
      </p:sp>
      <p:sp>
        <p:nvSpPr>
          <p:cNvPr id="10" name="TextBox 10"/>
          <p:cNvSpPr txBox="1"/>
          <p:nvPr/>
        </p:nvSpPr>
        <p:spPr>
          <a:xfrm>
            <a:off x="7924800" y="6578600"/>
            <a:ext cx="673100" cy="254000"/>
          </a:xfrm>
          <a:prstGeom prst="rect">
            <a:avLst/>
          </a:prstGeom>
          <a:noFill/>
        </p:spPr>
        <p:txBody>
          <a:bodyPr vert="horz" wrap="none" lIns="0" tIns="0" rIns="0" bIns="0" rtlCol="0">
            <a:spAutoFit/>
          </a:bodyPr>
          <a:lstStyle/>
          <a:p>
            <a:pPr>
              <a:lnSpc>
                <a:spcPts val="1610"/>
              </a:lnSpc>
            </a:pPr>
            <a:r>
              <a:rPr lang="en-CA" sz="1399">
                <a:solidFill>
                  <a:srgbClr val="000000"/>
                </a:solidFill>
                <a:latin typeface="Times New Roman"/>
                <a:cs typeface="Times New Roman"/>
              </a:rPr>
              <a:t>L1.52</a:t>
            </a:r>
          </a:p>
          <a:p>
            <a:pPr>
              <a:lnSpc>
                <a:spcPts val="1610"/>
              </a:lnSpc>
            </a:pP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763</TotalTime>
  <Words>5096</Words>
  <Application>Microsoft Macintosh PowerPoint</Application>
  <PresentationFormat>Custom</PresentationFormat>
  <Paragraphs>1364</Paragraphs>
  <Slides>74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Arial Unicode MS</vt:lpstr>
      <vt:lpstr>Arial</vt:lpstr>
      <vt:lpstr>Calibri</vt:lpstr>
      <vt:lpstr>Times New Roman</vt:lpstr>
      <vt:lpstr>Times New Roman Bold</vt:lpstr>
      <vt:lpstr>Times New Roman Bold Italic</vt:lpstr>
      <vt:lpstr>Times New Roman Italic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Investintech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A2E_Engine</dc:creator>
  <cp:lastModifiedBy>Khaled Shawki</cp:lastModifiedBy>
  <cp:revision>112</cp:revision>
  <dcterms:created xsi:type="dcterms:W3CDTF">2012-02-12T15:37:19Z</dcterms:created>
  <dcterms:modified xsi:type="dcterms:W3CDTF">2021-11-25T22:19:05Z</dcterms:modified>
</cp:coreProperties>
</file>